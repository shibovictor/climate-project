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27_0.xml" ContentType="application/vnd.ms-powerpoint.comments+xml"/>
  <Override PartName="/ppt/notesSlides/notesSlide3.xml" ContentType="application/vnd.openxmlformats-officedocument.presentationml.notesSlide+xml"/>
  <Override PartName="/ppt/comments/modernComment_13D_1CFCB2A1.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29_0.xml" ContentType="application/vnd.ms-powerpoint.comments+xml"/>
  <Override PartName="/ppt/notesSlides/notesSlide7.xml" ContentType="application/vnd.openxmlformats-officedocument.presentationml.notesSlide+xml"/>
  <Override PartName="/ppt/tags/tag2.xml" ContentType="application/vnd.openxmlformats-officedocument.presentationml.tags+xml"/>
  <Override PartName="/ppt/notesSlides/notesSlide8.xml" ContentType="application/vnd.openxmlformats-officedocument.presentationml.notesSlide+xml"/>
  <Override PartName="/ppt/tags/tag3.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133_A6B72E9.xml" ContentType="application/vnd.ms-powerpoint.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56"/>
  </p:notesMasterIdLst>
  <p:handoutMasterIdLst>
    <p:handoutMasterId r:id="rId57"/>
  </p:handoutMasterIdLst>
  <p:sldIdLst>
    <p:sldId id="256" r:id="rId2"/>
    <p:sldId id="295" r:id="rId3"/>
    <p:sldId id="317" r:id="rId4"/>
    <p:sldId id="294" r:id="rId5"/>
    <p:sldId id="296" r:id="rId6"/>
    <p:sldId id="297" r:id="rId7"/>
    <p:sldId id="300" r:id="rId8"/>
    <p:sldId id="257" r:id="rId9"/>
    <p:sldId id="298" r:id="rId10"/>
    <p:sldId id="299" r:id="rId11"/>
    <p:sldId id="301" r:id="rId12"/>
    <p:sldId id="302" r:id="rId13"/>
    <p:sldId id="303" r:id="rId14"/>
    <p:sldId id="304" r:id="rId15"/>
    <p:sldId id="305" r:id="rId16"/>
    <p:sldId id="307" r:id="rId17"/>
    <p:sldId id="318" r:id="rId18"/>
    <p:sldId id="308" r:id="rId19"/>
    <p:sldId id="309" r:id="rId20"/>
    <p:sldId id="311" r:id="rId21"/>
    <p:sldId id="312" r:id="rId22"/>
    <p:sldId id="313" r:id="rId23"/>
    <p:sldId id="321" r:id="rId24"/>
    <p:sldId id="320" r:id="rId25"/>
    <p:sldId id="322" r:id="rId26"/>
    <p:sldId id="323" r:id="rId27"/>
    <p:sldId id="326" r:id="rId28"/>
    <p:sldId id="324" r:id="rId29"/>
    <p:sldId id="327" r:id="rId30"/>
    <p:sldId id="329" r:id="rId31"/>
    <p:sldId id="330" r:id="rId32"/>
    <p:sldId id="331" r:id="rId33"/>
    <p:sldId id="332" r:id="rId34"/>
    <p:sldId id="333" r:id="rId35"/>
    <p:sldId id="335" r:id="rId36"/>
    <p:sldId id="334" r:id="rId37"/>
    <p:sldId id="337" r:id="rId38"/>
    <p:sldId id="336" r:id="rId39"/>
    <p:sldId id="338" r:id="rId40"/>
    <p:sldId id="339" r:id="rId41"/>
    <p:sldId id="341" r:id="rId42"/>
    <p:sldId id="340" r:id="rId43"/>
    <p:sldId id="342" r:id="rId44"/>
    <p:sldId id="343" r:id="rId45"/>
    <p:sldId id="344" r:id="rId46"/>
    <p:sldId id="345" r:id="rId47"/>
    <p:sldId id="346" r:id="rId48"/>
    <p:sldId id="347" r:id="rId49"/>
    <p:sldId id="349" r:id="rId50"/>
    <p:sldId id="348" r:id="rId51"/>
    <p:sldId id="350" r:id="rId52"/>
    <p:sldId id="314" r:id="rId53"/>
    <p:sldId id="315" r:id="rId54"/>
    <p:sldId id="316" r:id="rId55"/>
  </p:sldIdLst>
  <p:sldSz cx="12192000" cy="6858000"/>
  <p:notesSz cx="6858000" cy="9144000"/>
  <p:embeddedFontLst>
    <p:embeddedFont>
      <p:font typeface="汉仪宋韵朗黑W" panose="02010600030101010101" charset="-122"/>
      <p:regular r:id="rId58"/>
    </p:embeddedFont>
    <p:embeddedFont>
      <p:font typeface="Book Antiqua" panose="02040602050305030304" pitchFamily="18" charset="0"/>
      <p:regular r:id="rId59"/>
      <p:bold r:id="rId60"/>
      <p:italic r:id="rId61"/>
      <p:boldItalic r:id="rId62"/>
    </p:embeddedFont>
    <p:embeddedFont>
      <p:font typeface="Cambria Math" panose="02040503050406030204" pitchFamily="18" charset="0"/>
      <p:regular r:id="rId63"/>
    </p:embeddedFont>
    <p:embeddedFont>
      <p:font typeface="Trade Gothic Next Heavy" panose="020B0903040303020004" pitchFamily="34" charset="0"/>
      <p:bold r:id="rId64"/>
      <p:boldItalic r:id="rId65"/>
    </p:embeddedFont>
    <p:embeddedFont>
      <p:font typeface="宋体" panose="02010600030101010101" pitchFamily="2" charset="-122"/>
      <p:regular r:id="rId66"/>
    </p:embeddedFont>
  </p:embeddedFontLst>
  <p:custDataLst>
    <p:tags r:id="rId6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9AC7C39-9507-BA01-0576-D39B5BDC179A}" name="Hanny Affal" initials="HA" userId="863782593eea767f" providerId="Windows Live"/>
  <p188:author id="{82F376CF-D2CC-BFEC-1405-13B638C41AC7}" name="Shibo Wang" initials="SW" userId="5e7caf6f1fbc56ac"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703077034" name="匙沸铰倬品" initials="匙"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9492"/>
    <a:srgbClr val="1F2E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404" autoAdjust="0"/>
    <p:restoredTop sz="83246" autoAdjust="0"/>
  </p:normalViewPr>
  <p:slideViewPr>
    <p:cSldViewPr snapToGrid="0">
      <p:cViewPr>
        <p:scale>
          <a:sx n="65" d="100"/>
          <a:sy n="65" d="100"/>
        </p:scale>
        <p:origin x="1330" y="125"/>
      </p:cViewPr>
      <p:guideLst/>
    </p:cSldViewPr>
  </p:slideViewPr>
  <p:notesTextViewPr>
    <p:cViewPr>
      <p:scale>
        <a:sx n="50" d="100"/>
        <a:sy n="5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6.fntdata"/><Relationship Id="rId68"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1.fntdata"/><Relationship Id="rId66" Type="http://schemas.openxmlformats.org/officeDocument/2006/relationships/font" Target="fonts/font9.fntdata"/><Relationship Id="rId5" Type="http://schemas.openxmlformats.org/officeDocument/2006/relationships/slide" Target="slides/slide4.xml"/><Relationship Id="rId61" Type="http://schemas.openxmlformats.org/officeDocument/2006/relationships/font" Target="fonts/font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64" Type="http://schemas.openxmlformats.org/officeDocument/2006/relationships/font" Target="fonts/font7.fntdata"/><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2.fntdata"/><Relationship Id="rId67"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5.fntdata"/><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3.fntdata"/><Relationship Id="rId65" Type="http://schemas.openxmlformats.org/officeDocument/2006/relationships/font" Target="fonts/font8.fntdata"/><Relationship Id="rId73"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heme" Target="theme/theme1.xml"/></Relationships>
</file>

<file path=ppt/comments/modernComment_13D_1CFCB2A1.xml><?xml version="1.0" encoding="utf-8"?>
<p188:cmLst xmlns:a="http://schemas.openxmlformats.org/drawingml/2006/main" xmlns:r="http://schemas.openxmlformats.org/officeDocument/2006/relationships" xmlns:p188="http://schemas.microsoft.com/office/powerpoint/2018/8/main">
  <p188:cm id="{55189C97-87E2-417F-821F-4B6DD9E70DB0}" authorId="{39AC7C39-9507-BA01-0576-D39B5BDC179A}" status="resolved" created="2025-07-09T09:57:16.725" complete="100000">
    <pc:sldMkLst xmlns:pc="http://schemas.microsoft.com/office/powerpoint/2013/main/command">
      <pc:docMk/>
      <pc:sldMk cId="0" sldId="295"/>
    </pc:sldMkLst>
    <p188:txBody>
      <a:bodyPr/>
      <a:lstStyle/>
      <a:p>
        <a:r>
          <a:rPr lang="en-US"/>
          <a:t>Your background is extremely short. Add more info to the section. This is important to introduce the project.</a:t>
        </a:r>
      </a:p>
    </p188:txBody>
  </p188:cm>
</p188:cmLst>
</file>

<file path=ppt/comments/modernComment_127_0.xml><?xml version="1.0" encoding="utf-8"?>
<p188:cmLst xmlns:a="http://schemas.openxmlformats.org/drawingml/2006/main" xmlns:r="http://schemas.openxmlformats.org/officeDocument/2006/relationships" xmlns:p188="http://schemas.microsoft.com/office/powerpoint/2018/8/main">
  <p188:cm id="{35A438CC-ECEC-4586-BD04-71802A290F49}" authorId="{39AC7C39-9507-BA01-0576-D39B5BDC179A}" status="resolved" created="2025-07-09T09:57:16.725" complete="100000">
    <pc:sldMkLst xmlns:pc="http://schemas.microsoft.com/office/powerpoint/2013/main/command">
      <pc:docMk/>
      <pc:sldMk cId="0" sldId="295"/>
    </pc:sldMkLst>
    <p188:txBody>
      <a:bodyPr/>
      <a:lstStyle/>
      <a:p>
        <a:r>
          <a:rPr lang="en-US"/>
          <a:t>Your background is extremely short. Add more info to the section. This is important to introduce the project.</a:t>
        </a:r>
      </a:p>
    </p188:txBody>
  </p188:cm>
</p188:cmLst>
</file>

<file path=ppt/comments/modernComment_129_0.xml><?xml version="1.0" encoding="utf-8"?>
<p188:cmLst xmlns:a="http://schemas.openxmlformats.org/drawingml/2006/main" xmlns:r="http://schemas.openxmlformats.org/officeDocument/2006/relationships" xmlns:p188="http://schemas.microsoft.com/office/powerpoint/2018/8/main">
  <p188:cm id="{9E55060C-E583-43BB-8B2E-F575D30C06B6}" authorId="{39AC7C39-9507-BA01-0576-D39B5BDC179A}" status="resolved" created="2025-07-09T07:59:06.888" complete="100000">
    <ac:deMkLst xmlns:ac="http://schemas.microsoft.com/office/drawing/2013/main/command">
      <pc:docMk xmlns:pc="http://schemas.microsoft.com/office/powerpoint/2013/main/command"/>
      <pc:sldMk xmlns:pc="http://schemas.microsoft.com/office/powerpoint/2013/main/command" cId="0" sldId="297"/>
      <ac:spMk id="14" creationId="{00000000-0000-0000-0000-000000000000}"/>
    </ac:deMkLst>
    <p188:txBody>
      <a:bodyPr/>
      <a:lstStyle/>
      <a:p>
        <a:r>
          <a:rPr lang="en-US"/>
          <a:t>For Objectives:
1. To design and evaluate the predictive performance of a hybrid CEEMDAN-SE-LSTM model for forecasting three major types of extreme weather events—droughts, floods, and heatwaves—using monthly climate indicators from eight Asian countries spanning 1950 to 2023.
2. To identify and assess the most influential meteorological variables contributing to the prediction of extreme weather events through correlation analysis, feature selection techniques, and cross-country variable importance evaluation.
3. To validate the robustness and generalizability of the CEEMDAN-SE-LSTM model by benchmarking its forecasting accuracy and stability against baseline models, including LSTM, EEMD-LSTM, and CEEMDAN-LSTM.</a:t>
        </a:r>
      </a:p>
    </p188:txBody>
    <p188:extLst>
      <p:ext xmlns:p="http://schemas.openxmlformats.org/presentationml/2006/main" uri="{57CB4572-C831-44C2-8A1C-0ADB6CCDFE69}">
        <p223:reactions xmlns:p223="http://schemas.microsoft.com/office/powerpoint/2022/03/main">
          <p223:rxn type="👍">
            <p223:instance time="2025-07-09T15:24:33.158" authorId="{82F376CF-D2CC-BFEC-1405-13B638C41AC7}"/>
          </p223:rxn>
        </p223:reactions>
      </p:ext>
    </p188:extLst>
  </p188:cm>
</p188:cmLst>
</file>

<file path=ppt/comments/modernComment_133_A6B72E9.xml><?xml version="1.0" encoding="utf-8"?>
<p188:cmLst xmlns:a="http://schemas.openxmlformats.org/drawingml/2006/main" xmlns:r="http://schemas.openxmlformats.org/officeDocument/2006/relationships" xmlns:p188="http://schemas.microsoft.com/office/powerpoint/2018/8/main">
  <p188:cm id="{B2C2D210-0E4F-42AB-8759-F98EFD028344}" authorId="{39AC7C39-9507-BA01-0576-D39B5BDC179A}" status="resolved" created="2025-07-09T09:55:24.446" complete="100000">
    <pc:sldMkLst xmlns:pc="http://schemas.microsoft.com/office/powerpoint/2013/main/command">
      <pc:docMk/>
      <pc:sldMk cId="174813929" sldId="307"/>
    </pc:sldMkLst>
    <p188:txBody>
      <a:bodyPr/>
      <a:lstStyle/>
      <a:p>
        <a:r>
          <a:rPr lang="en-US"/>
          <a:t>Good to add another slide. Screenshot your data set and place it in the slide.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2025/9/10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汉仪宋韵朗黑W" panose="00020600040101010101" charset="-122"/>
                <a:ea typeface="汉仪宋韵朗黑W" panose="00020600040101010101" charset="-122"/>
                <a:cs typeface="汉仪宋韵朗黑W" panose="0002060004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汉仪宋韵朗黑W" panose="00020600040101010101" charset="-122"/>
                <a:ea typeface="汉仪宋韵朗黑W" panose="00020600040101010101" charset="-122"/>
                <a:cs typeface="汉仪宋韵朗黑W" panose="00020600040101010101" charset="-122"/>
              </a:defRPr>
            </a:lvl1pPr>
          </a:lstStyle>
          <a:p>
            <a:fld id="{D2A48B96-639E-45A3-A0BA-2464DFDB1FAA}" type="datetimeFigureOut">
              <a:rPr lang="zh-CN" altLang="en-US" smtClean="0"/>
              <a:t>2025/9/10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汉仪宋韵朗黑W" panose="00020600040101010101" charset="-122"/>
                <a:ea typeface="汉仪宋韵朗黑W" panose="00020600040101010101" charset="-122"/>
                <a:cs typeface="汉仪宋韵朗黑W" panose="0002060004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汉仪宋韵朗黑W" panose="00020600040101010101" charset="-122"/>
                <a:ea typeface="汉仪宋韵朗黑W" panose="00020600040101010101" charset="-122"/>
                <a:cs typeface="汉仪宋韵朗黑W" panose="00020600040101010101" charset="-122"/>
              </a:defRPr>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汉仪宋韵朗黑W" panose="00020600040101010101" charset="-122"/>
        <a:ea typeface="汉仪宋韵朗黑W" panose="00020600040101010101" charset="-122"/>
        <a:cs typeface="汉仪宋韵朗黑W" panose="00020600040101010101" charset="-122"/>
      </a:defRPr>
    </a:lvl1pPr>
    <a:lvl2pPr marL="457200" algn="l" defTabSz="914400" rtl="0" eaLnBrk="1" latinLnBrk="0" hangingPunct="1">
      <a:defRPr sz="1200" kern="1200">
        <a:solidFill>
          <a:schemeClr val="tx1"/>
        </a:solidFill>
        <a:latin typeface="汉仪宋韵朗黑W" panose="00020600040101010101" charset="-122"/>
        <a:ea typeface="汉仪宋韵朗黑W" panose="00020600040101010101" charset="-122"/>
        <a:cs typeface="汉仪宋韵朗黑W" panose="00020600040101010101" charset="-122"/>
      </a:defRPr>
    </a:lvl2pPr>
    <a:lvl3pPr marL="914400" algn="l" defTabSz="914400" rtl="0" eaLnBrk="1" latinLnBrk="0" hangingPunct="1">
      <a:defRPr sz="1200" kern="1200">
        <a:solidFill>
          <a:schemeClr val="tx1"/>
        </a:solidFill>
        <a:latin typeface="汉仪宋韵朗黑W" panose="00020600040101010101" charset="-122"/>
        <a:ea typeface="汉仪宋韵朗黑W" panose="00020600040101010101" charset="-122"/>
        <a:cs typeface="汉仪宋韵朗黑W" panose="00020600040101010101" charset="-122"/>
      </a:defRPr>
    </a:lvl3pPr>
    <a:lvl4pPr marL="1371600" algn="l" defTabSz="914400" rtl="0" eaLnBrk="1" latinLnBrk="0" hangingPunct="1">
      <a:defRPr sz="1200" kern="1200">
        <a:solidFill>
          <a:schemeClr val="tx1"/>
        </a:solidFill>
        <a:latin typeface="汉仪宋韵朗黑W" panose="00020600040101010101" charset="-122"/>
        <a:ea typeface="汉仪宋韵朗黑W" panose="00020600040101010101" charset="-122"/>
        <a:cs typeface="汉仪宋韵朗黑W" panose="00020600040101010101" charset="-122"/>
      </a:defRPr>
    </a:lvl4pPr>
    <a:lvl5pPr marL="1828800" algn="l" defTabSz="914400" rtl="0" eaLnBrk="1" latinLnBrk="0" hangingPunct="1">
      <a:defRPr sz="1200" kern="1200">
        <a:solidFill>
          <a:schemeClr val="tx1"/>
        </a:solidFill>
        <a:latin typeface="汉仪宋韵朗黑W" panose="00020600040101010101" charset="-122"/>
        <a:ea typeface="汉仪宋韵朗黑W" panose="00020600040101010101" charset="-122"/>
        <a:cs typeface="汉仪宋韵朗黑W" panose="0002060004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nature.com/articles/s41591-024-03186-1"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a:t>
            </a:fld>
            <a:endParaRPr lang="zh-CN" altLang="en-US"/>
          </a:p>
        </p:txBody>
      </p:sp>
    </p:spTree>
    <p:extLst>
      <p:ext uri="{BB962C8B-B14F-4D97-AF65-F5344CB8AC3E}">
        <p14:creationId xmlns:p14="http://schemas.microsoft.com/office/powerpoint/2010/main" val="13981590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Nowadays,</a:t>
            </a:r>
            <a:r>
              <a:rPr lang="zh-CN" altLang="en-US" dirty="0"/>
              <a:t> </a:t>
            </a:r>
            <a:r>
              <a:rPr lang="en-US" altLang="zh-CN" dirty="0"/>
              <a:t>Global warming is making the weather more dangerous. Heatwaves, floods, and droughts are happening more often.</a:t>
            </a:r>
          </a:p>
          <a:p>
            <a:endParaRPr lang="en-US" altLang="zh-CN" dirty="0"/>
          </a:p>
          <a:p>
            <a:r>
              <a:rPr lang="en-US" altLang="zh-CN" sz="1200" b="0" i="0" kern="1200" dirty="0">
                <a:solidFill>
                  <a:schemeClr val="tx1"/>
                </a:solidFill>
                <a:effectLst/>
                <a:latin typeface="汉仪宋韵朗黑W" panose="00020600040101010101" charset="-122"/>
                <a:ea typeface="汉仪宋韵朗黑W" panose="00020600040101010101" charset="-122"/>
                <a:cs typeface="汉仪宋韵朗黑W" panose="00020600040101010101" charset="-122"/>
              </a:rPr>
              <a:t>So, why does this happen</a:t>
            </a:r>
            <a:r>
              <a:rPr lang="zh-CN" altLang="en-US" sz="1200" b="0" i="0" kern="1200" dirty="0">
                <a:solidFill>
                  <a:schemeClr val="tx1"/>
                </a:solidFill>
                <a:effectLst/>
                <a:latin typeface="汉仪宋韵朗黑W" panose="00020600040101010101" charset="-122"/>
                <a:ea typeface="汉仪宋韵朗黑W" panose="00020600040101010101" charset="-122"/>
                <a:cs typeface="汉仪宋韵朗黑W" panose="00020600040101010101" charset="-122"/>
              </a:rPr>
              <a:t>？ </a:t>
            </a:r>
            <a:r>
              <a:rPr lang="en-US" altLang="zh-CN" sz="1200" b="0" i="0" kern="1200" dirty="0">
                <a:solidFill>
                  <a:schemeClr val="tx1"/>
                </a:solidFill>
                <a:effectLst/>
                <a:latin typeface="汉仪宋韵朗黑W" panose="00020600040101010101" charset="-122"/>
                <a:ea typeface="汉仪宋韵朗黑W" panose="00020600040101010101" charset="-122"/>
                <a:cs typeface="汉仪宋韵朗黑W" panose="00020600040101010101" charset="-122"/>
              </a:rPr>
              <a:t>Human actions since the Industrial Revolution, have caused greenhouse gases to rapidly rise in the atmosphere.</a:t>
            </a:r>
          </a:p>
          <a:p>
            <a:r>
              <a:rPr lang="en-US" altLang="zh-CN" sz="1200" b="0" i="0" kern="1200" dirty="0">
                <a:solidFill>
                  <a:schemeClr val="tx1"/>
                </a:solidFill>
                <a:effectLst/>
                <a:latin typeface="汉仪宋韵朗黑W" panose="00020600040101010101" charset="-122"/>
                <a:ea typeface="汉仪宋韵朗黑W" panose="00020600040101010101" charset="-122"/>
                <a:cs typeface="汉仪宋韵朗黑W" panose="00020600040101010101" charset="-122"/>
              </a:rPr>
              <a:t>As carbon dioxide and other gases increase, they act as a blanket, trapping heat and warming the planet. </a:t>
            </a:r>
          </a:p>
          <a:p>
            <a:r>
              <a:rPr lang="en-US" altLang="zh-CN" sz="1200" b="0" i="0" kern="1200" dirty="0">
                <a:solidFill>
                  <a:schemeClr val="tx1"/>
                </a:solidFill>
                <a:effectLst/>
                <a:latin typeface="汉仪宋韵朗黑W" panose="00020600040101010101" charset="-122"/>
                <a:ea typeface="汉仪宋韵朗黑W" panose="00020600040101010101" charset="-122"/>
                <a:cs typeface="汉仪宋韵朗黑W" panose="00020600040101010101" charset="-122"/>
              </a:rPr>
              <a:t>In response, Earth’s air and ocean temperatures warm. </a:t>
            </a:r>
          </a:p>
          <a:p>
            <a:r>
              <a:rPr lang="en-US" altLang="zh-CN" sz="1200" b="0" i="0" kern="1200" dirty="0">
                <a:solidFill>
                  <a:schemeClr val="tx1"/>
                </a:solidFill>
                <a:effectLst/>
                <a:latin typeface="汉仪宋韵朗黑W" panose="00020600040101010101" charset="-122"/>
                <a:ea typeface="汉仪宋韵朗黑W" panose="00020600040101010101" charset="-122"/>
                <a:cs typeface="汉仪宋韵朗黑W" panose="00020600040101010101" charset="-122"/>
              </a:rPr>
              <a:t>This warming affects the water cycle, shifts weather patterns, and melts land ice </a:t>
            </a:r>
          </a:p>
          <a:p>
            <a:r>
              <a:rPr lang="en-US" altLang="zh-CN" sz="1200" b="0" i="0" kern="1200" dirty="0">
                <a:solidFill>
                  <a:schemeClr val="tx1"/>
                </a:solidFill>
                <a:effectLst/>
                <a:latin typeface="汉仪宋韵朗黑W" panose="00020600040101010101" charset="-122"/>
                <a:ea typeface="汉仪宋韵朗黑W" panose="00020600040101010101" charset="-122"/>
                <a:cs typeface="汉仪宋韵朗黑W" panose="00020600040101010101" charset="-122"/>
              </a:rPr>
              <a:t>— all impacts that can make extreme weather worse.</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汉仪宋韵朗黑W" panose="00020600040101010101" charset="-122"/>
                <a:ea typeface="汉仪宋韵朗黑W" panose="00020600040101010101" charset="-122"/>
                <a:cs typeface="汉仪宋韵朗黑W" panose="00020600040101010101" charset="-122"/>
              </a:rPr>
              <a:t>drought events, in particular, caused massive death and disease in various locations</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One study in </a:t>
            </a:r>
            <a:r>
              <a:rPr lang="en-US" altLang="zh-CN" dirty="0">
                <a:hlinkClick r:id="rId3"/>
              </a:rPr>
              <a:t>Nature Medicine</a:t>
            </a:r>
            <a:r>
              <a:rPr lang="en-US" altLang="zh-CN" dirty="0"/>
              <a:t> estimated that over 47,000 excess deaths occurred in Europe due to heat in 2023</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26457896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F85D9-F0A8-10E4-7F2A-75E36C69A53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B1585F7-4E04-00E4-DEC1-1A4534A190C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85EC6BA-ECEE-5CE3-A733-95B89781AFB0}"/>
              </a:ext>
            </a:extLst>
          </p:cNvPr>
          <p:cNvSpPr>
            <a:spLocks noGrp="1"/>
          </p:cNvSpPr>
          <p:nvPr>
            <p:ph type="body" idx="1"/>
          </p:nvPr>
        </p:nvSpPr>
        <p:spPr/>
        <p:txBody>
          <a:bodyPr/>
          <a:lstStyle/>
          <a:p>
            <a:r>
              <a:rPr lang="en-US" altLang="zh-CN" dirty="0"/>
              <a:t>Asia is more affected than other regions. Its warming rate is faster. That makes Asia more affected by extreme weather.</a:t>
            </a:r>
          </a:p>
          <a:p>
            <a:r>
              <a:rPr lang="en-US" altLang="zh-CN" dirty="0"/>
              <a:t>In 2021 alone, Asia experienced hundreds of major meteorological disasters, causing losses of approximately US$36 billion and approximately 4,000 deaths.</a:t>
            </a:r>
          </a:p>
          <a:p>
            <a:r>
              <a:rPr lang="en-US" altLang="zh-CN" dirty="0"/>
              <a:t>The economic losses caused by floods in China that year were approximately US$18.4 billion </a:t>
            </a:r>
            <a:endParaRPr lang="zh-CN" altLang="en-US" dirty="0"/>
          </a:p>
        </p:txBody>
      </p:sp>
      <p:sp>
        <p:nvSpPr>
          <p:cNvPr id="4" name="灯片编号占位符 3">
            <a:extLst>
              <a:ext uri="{FF2B5EF4-FFF2-40B4-BE49-F238E27FC236}">
                <a16:creationId xmlns:a16="http://schemas.microsoft.com/office/drawing/2014/main" id="{BDD5D829-E3C2-77C5-4423-956B18B688E2}"/>
              </a:ext>
            </a:extLst>
          </p:cNvPr>
          <p:cNvSpPr>
            <a:spLocks noGrp="1"/>
          </p:cNvSpPr>
          <p:nvPr>
            <p:ph type="sldNum" sz="quarter" idx="5"/>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19010268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汉仪宋韵朗黑W" panose="00020600040101010101" charset="-122"/>
                <a:ea typeface="汉仪宋韵朗黑W" panose="00020600040101010101" charset="-122"/>
                <a:cs typeface="汉仪宋韵朗黑W" panose="00020600040101010101" charset="-122"/>
              </a:rPr>
              <a:t>However, traditional weather forecasting methods struggle to capture complex, nonlinear and long-term climate patterns.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汉仪宋韵朗黑W" panose="00020600040101010101" charset="-122"/>
                <a:ea typeface="汉仪宋韵朗黑W" panose="00020600040101010101" charset="-122"/>
                <a:cs typeface="汉仪宋韵朗黑W" panose="00020600040101010101" charset="-122"/>
              </a:rPr>
              <a:t>They often fail to predict extreme events accurately.</a:t>
            </a:r>
            <a:br>
              <a:rPr lang="en-US" altLang="zh-CN" sz="1200" kern="1200" dirty="0">
                <a:solidFill>
                  <a:schemeClr val="tx1"/>
                </a:solidFill>
                <a:effectLst/>
                <a:latin typeface="汉仪宋韵朗黑W" panose="00020600040101010101" charset="-122"/>
                <a:ea typeface="汉仪宋韵朗黑W" panose="00020600040101010101" charset="-122"/>
                <a:cs typeface="汉仪宋韵朗黑W" panose="00020600040101010101" charset="-122"/>
              </a:rPr>
            </a:br>
            <a:r>
              <a:rPr lang="en-US" altLang="zh-CN" sz="1200" kern="1200" dirty="0">
                <a:solidFill>
                  <a:schemeClr val="tx1"/>
                </a:solidFill>
                <a:effectLst/>
                <a:latin typeface="汉仪宋韵朗黑W" panose="00020600040101010101" charset="-122"/>
                <a:ea typeface="汉仪宋韵朗黑W" panose="00020600040101010101" charset="-122"/>
                <a:cs typeface="汉仪宋韵朗黑W" panose="00020600040101010101" charset="-122"/>
              </a:rPr>
              <a:t>This is why we need better, smarter models to help us forecast these disasters early and reduce their impact.</a:t>
            </a:r>
            <a:endParaRPr lang="zh-CN" altLang="zh-CN" sz="1200" kern="1200" dirty="0">
              <a:solidFill>
                <a:schemeClr val="tx1"/>
              </a:solidFill>
              <a:effectLst/>
              <a:latin typeface="汉仪宋韵朗黑W" panose="00020600040101010101" charset="-122"/>
              <a:ea typeface="汉仪宋韵朗黑W" panose="00020600040101010101" charset="-122"/>
              <a:cs typeface="汉仪宋韵朗黑W" panose="00020600040101010101" charset="-122"/>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5052259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40531709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31943755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28127264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40068704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1249808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3403D-AAEA-CC4B-D9B0-DD490683E5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69D027D-030D-6886-3958-D4EF080A06E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2534353-CCD0-0E90-1B6C-11617B284E0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7E0C03D-B29E-E0A4-2EA6-650DA56DDF3D}"/>
              </a:ext>
            </a:extLst>
          </p:cNvPr>
          <p:cNvSpPr>
            <a:spLocks noGrp="1"/>
          </p:cNvSpPr>
          <p:nvPr>
            <p:ph type="sldNum" sz="quarter" idx="5"/>
          </p:nvPr>
        </p:nvSpPr>
        <p:spPr/>
        <p:txBody>
          <a:bodyPr/>
          <a:lstStyle/>
          <a:p>
            <a:fld id="{A6837353-30EB-4A48-80EB-173D804AEFBD}" type="slidenum">
              <a:rPr lang="zh-CN" altLang="en-US" smtClean="0"/>
              <a:t>11</a:t>
            </a:fld>
            <a:endParaRPr lang="zh-CN" altLang="en-US"/>
          </a:p>
        </p:txBody>
      </p:sp>
    </p:spTree>
    <p:extLst>
      <p:ext uri="{BB962C8B-B14F-4D97-AF65-F5344CB8AC3E}">
        <p14:creationId xmlns:p14="http://schemas.microsoft.com/office/powerpoint/2010/main" val="16400130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98E70-503C-F52E-F59F-5292DC0F3A4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7371C01-8F67-6FE5-783F-7BC8EEA7EFA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4A469B-BDF8-7A55-7A8D-7534996A09C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85175C1-DA9B-5C79-36EC-742BA86FCD38}"/>
              </a:ext>
            </a:extLst>
          </p:cNvPr>
          <p:cNvSpPr>
            <a:spLocks noGrp="1"/>
          </p:cNvSpPr>
          <p:nvPr>
            <p:ph type="sldNum" sz="quarter" idx="5"/>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23578649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DEBFB-CDBC-7246-8DBC-FAF937AFFD8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618855-F88F-BABD-28F2-BE8C1A313A5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CFBCC06-01A0-8979-B600-992BD5C66085}"/>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A80396D3-34C3-9C12-FBEC-4AAD3B0C1583}"/>
              </a:ext>
            </a:extLst>
          </p:cNvPr>
          <p:cNvSpPr>
            <a:spLocks noGrp="1"/>
          </p:cNvSpPr>
          <p:nvPr>
            <p:ph type="sldNum" sz="quarter" idx="5"/>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7794448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56F1B-2142-D7D2-C27A-349B046F4DE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BF0CC65-58EE-ADDC-78FE-A2092B052D2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FA41CD2-E05F-BA92-2AA2-53248B85B59B}"/>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E28AE9AD-9236-0A9B-4B7C-8294637360C2}"/>
              </a:ext>
            </a:extLst>
          </p:cNvPr>
          <p:cNvSpPr>
            <a:spLocks noGrp="1"/>
          </p:cNvSpPr>
          <p:nvPr>
            <p:ph type="sldNum" sz="quarter" idx="5"/>
          </p:nvPr>
        </p:nvSpPr>
        <p:spPr/>
        <p:txBody>
          <a:bodyPr/>
          <a:lstStyle/>
          <a:p>
            <a:fld id="{A6837353-30EB-4A48-80EB-173D804AEFBD}" type="slidenum">
              <a:rPr lang="zh-CN" altLang="en-US" smtClean="0"/>
              <a:t>14</a:t>
            </a:fld>
            <a:endParaRPr lang="zh-CN" altLang="en-US"/>
          </a:p>
        </p:txBody>
      </p:sp>
    </p:spTree>
    <p:extLst>
      <p:ext uri="{BB962C8B-B14F-4D97-AF65-F5344CB8AC3E}">
        <p14:creationId xmlns:p14="http://schemas.microsoft.com/office/powerpoint/2010/main" val="2788865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F5780-C481-C8AB-54A4-1E8EB3A6C73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1E700E4-D2F3-6304-D890-875D605C70F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1F0A307-86AC-BB89-D8EF-3BEB9618F688}"/>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C516658E-DB98-0CA4-5875-D80567A23DF1}"/>
              </a:ext>
            </a:extLst>
          </p:cNvPr>
          <p:cNvSpPr>
            <a:spLocks noGrp="1"/>
          </p:cNvSpPr>
          <p:nvPr>
            <p:ph type="sldNum" sz="quarter" idx="5"/>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2471047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5F30D-456C-2E19-A531-C32F551B300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5CAC09E-967A-5978-E94E-36210F5CC24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CCE4288-812C-0A8D-987E-7255684E0CB3}"/>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2EC582F7-EF0F-F36E-3C91-F8D26869877F}"/>
              </a:ext>
            </a:extLst>
          </p:cNvPr>
          <p:cNvSpPr>
            <a:spLocks noGrp="1"/>
          </p:cNvSpPr>
          <p:nvPr>
            <p:ph type="sldNum" sz="quarter" idx="5"/>
          </p:nvPr>
        </p:nvSpPr>
        <p:spPr/>
        <p:txBody>
          <a:bodyPr/>
          <a:lstStyle/>
          <a:p>
            <a:fld id="{A6837353-30EB-4A48-80EB-173D804AEFBD}" type="slidenum">
              <a:rPr lang="zh-CN" altLang="en-US" smtClean="0"/>
              <a:t>16</a:t>
            </a:fld>
            <a:endParaRPr lang="zh-CN" altLang="en-US"/>
          </a:p>
        </p:txBody>
      </p:sp>
    </p:spTree>
    <p:extLst>
      <p:ext uri="{BB962C8B-B14F-4D97-AF65-F5344CB8AC3E}">
        <p14:creationId xmlns:p14="http://schemas.microsoft.com/office/powerpoint/2010/main" val="20910802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DDDF9-C328-12FB-F802-358F5A990D0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99537E-C557-41C7-21C3-0BD690D1CD5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8D30420-5C1C-3105-D88C-32E7B546EA6F}"/>
              </a:ext>
            </a:extLst>
          </p:cNvPr>
          <p:cNvSpPr>
            <a:spLocks noGrp="1"/>
          </p:cNvSpPr>
          <p:nvPr>
            <p:ph type="body" idx="1"/>
          </p:nvPr>
        </p:nvSpPr>
        <p:spPr/>
        <p:txBody>
          <a:bodyPr/>
          <a:lstStyle/>
          <a:p>
            <a:r>
              <a:rPr lang="en-US" altLang="zh-CN" sz="1200" kern="1200" dirty="0">
                <a:solidFill>
                  <a:schemeClr val="tx1"/>
                </a:solidFill>
                <a:effectLst/>
                <a:latin typeface="汉仪宋韵朗黑W" panose="00020600040101010101" charset="-122"/>
                <a:ea typeface="汉仪宋韵朗黑W" panose="00020600040101010101" charset="-122"/>
                <a:cs typeface="汉仪宋韵朗黑W" panose="00020600040101010101" charset="-122"/>
              </a:rPr>
              <a:t>climate data in separate CSV format for each variable is collected from WBCC, </a:t>
            </a:r>
          </a:p>
          <a:p>
            <a:r>
              <a:rPr lang="en-US" altLang="zh-CN" sz="1200" kern="1200" dirty="0">
                <a:solidFill>
                  <a:schemeClr val="tx1"/>
                </a:solidFill>
                <a:effectLst/>
                <a:latin typeface="汉仪宋韵朗黑W" panose="00020600040101010101" charset="-122"/>
                <a:ea typeface="汉仪宋韵朗黑W" panose="00020600040101010101" charset="-122"/>
                <a:cs typeface="汉仪宋韵朗黑W" panose="00020600040101010101" charset="-122"/>
              </a:rPr>
              <a:t>Then merge these datasets using country and timestamp as key identifiers, </a:t>
            </a:r>
          </a:p>
          <a:p>
            <a:r>
              <a:rPr lang="en-US" altLang="zh-CN" sz="1200" kern="1200" dirty="0">
                <a:solidFill>
                  <a:schemeClr val="tx1"/>
                </a:solidFill>
                <a:effectLst/>
                <a:latin typeface="汉仪宋韵朗黑W" panose="00020600040101010101" charset="-122"/>
                <a:ea typeface="汉仪宋韵朗黑W" panose="00020600040101010101" charset="-122"/>
                <a:cs typeface="汉仪宋韵朗黑W" panose="00020600040101010101" charset="-122"/>
              </a:rPr>
              <a:t>resulting in a single time series dataset containing all variables, </a:t>
            </a:r>
          </a:p>
          <a:p>
            <a:r>
              <a:rPr lang="en-US" altLang="zh-CN" sz="1200" kern="1200" dirty="0">
                <a:solidFill>
                  <a:schemeClr val="tx1"/>
                </a:solidFill>
                <a:effectLst/>
                <a:latin typeface="汉仪宋韵朗黑W" panose="00020600040101010101" charset="-122"/>
                <a:ea typeface="汉仪宋韵朗黑W" panose="00020600040101010101" charset="-122"/>
                <a:cs typeface="汉仪宋韵朗黑W" panose="00020600040101010101" charset="-122"/>
              </a:rPr>
              <a:t>8 countries , 74 years , 12 months , 15 variables</a:t>
            </a:r>
            <a:endParaRPr lang="en-US" altLang="zh-CN" dirty="0"/>
          </a:p>
        </p:txBody>
      </p:sp>
      <p:sp>
        <p:nvSpPr>
          <p:cNvPr id="4" name="灯片编号占位符 3">
            <a:extLst>
              <a:ext uri="{FF2B5EF4-FFF2-40B4-BE49-F238E27FC236}">
                <a16:creationId xmlns:a16="http://schemas.microsoft.com/office/drawing/2014/main" id="{7EABEE1B-F10C-75BD-199D-01F9CB59D65B}"/>
              </a:ext>
            </a:extLst>
          </p:cNvPr>
          <p:cNvSpPr>
            <a:spLocks noGrp="1"/>
          </p:cNvSpPr>
          <p:nvPr>
            <p:ph type="sldNum" sz="quarter" idx="5"/>
          </p:nvPr>
        </p:nvSpPr>
        <p:spPr/>
        <p:txBody>
          <a:bodyPr/>
          <a:lstStyle/>
          <a:p>
            <a:fld id="{A6837353-30EB-4A48-80EB-173D804AEFBD}" type="slidenum">
              <a:rPr lang="zh-CN" altLang="en-US" smtClean="0"/>
              <a:t>17</a:t>
            </a:fld>
            <a:endParaRPr lang="zh-CN" altLang="en-US"/>
          </a:p>
        </p:txBody>
      </p:sp>
    </p:spTree>
    <p:extLst>
      <p:ext uri="{BB962C8B-B14F-4D97-AF65-F5344CB8AC3E}">
        <p14:creationId xmlns:p14="http://schemas.microsoft.com/office/powerpoint/2010/main" val="37332545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DF748-19A0-B8DC-7105-55453109CEA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1710641-4EF4-3F0F-5786-BB2EBFA3D2A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6152211-C335-8DED-1AF5-87148DB062B6}"/>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733370A1-EA09-1E66-129C-FD1DB4A56C9E}"/>
              </a:ext>
            </a:extLst>
          </p:cNvPr>
          <p:cNvSpPr>
            <a:spLocks noGrp="1"/>
          </p:cNvSpPr>
          <p:nvPr>
            <p:ph type="sldNum" sz="quarter" idx="5"/>
          </p:nvPr>
        </p:nvSpPr>
        <p:spPr/>
        <p:txBody>
          <a:bodyPr/>
          <a:lstStyle/>
          <a:p>
            <a:fld id="{A6837353-30EB-4A48-80EB-173D804AEFBD}" type="slidenum">
              <a:rPr lang="zh-CN" altLang="en-US" smtClean="0"/>
              <a:t>18</a:t>
            </a:fld>
            <a:endParaRPr lang="zh-CN" altLang="en-US"/>
          </a:p>
        </p:txBody>
      </p:sp>
    </p:spTree>
    <p:extLst>
      <p:ext uri="{BB962C8B-B14F-4D97-AF65-F5344CB8AC3E}">
        <p14:creationId xmlns:p14="http://schemas.microsoft.com/office/powerpoint/2010/main" val="17056785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CE966-B572-CE08-8578-0238CE7D330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D120886-1BC9-E45E-8048-6D1ADECBEB8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E5C338F-8031-73BE-F309-BABA5D19FF2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a:extLst>
              <a:ext uri="{FF2B5EF4-FFF2-40B4-BE49-F238E27FC236}">
                <a16:creationId xmlns:a16="http://schemas.microsoft.com/office/drawing/2014/main" id="{B745615B-AE32-218B-58BF-EC4B791CD633}"/>
              </a:ext>
            </a:extLst>
          </p:cNvPr>
          <p:cNvSpPr>
            <a:spLocks noGrp="1"/>
          </p:cNvSpPr>
          <p:nvPr>
            <p:ph type="sldNum" sz="quarter" idx="5"/>
          </p:nvPr>
        </p:nvSpPr>
        <p:spPr/>
        <p:txBody>
          <a:bodyPr/>
          <a:lstStyle/>
          <a:p>
            <a:fld id="{A6837353-30EB-4A48-80EB-173D804AEFBD}" type="slidenum">
              <a:rPr lang="zh-CN" altLang="en-US" smtClean="0"/>
              <a:t>19</a:t>
            </a:fld>
            <a:endParaRPr lang="zh-CN" altLang="en-US"/>
          </a:p>
        </p:txBody>
      </p:sp>
    </p:spTree>
    <p:extLst>
      <p:ext uri="{BB962C8B-B14F-4D97-AF65-F5344CB8AC3E}">
        <p14:creationId xmlns:p14="http://schemas.microsoft.com/office/powerpoint/2010/main" val="9338889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6AF5A-8FD9-00F1-3476-724B25F4128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F8A70C9-436B-06D2-E0E2-6250D1FECC0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161243-EE1D-DD67-485F-A3B5B8219D7C}"/>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4CC3A876-582A-FE2F-B9F3-59E794EB0E59}"/>
              </a:ext>
            </a:extLst>
          </p:cNvPr>
          <p:cNvSpPr>
            <a:spLocks noGrp="1"/>
          </p:cNvSpPr>
          <p:nvPr>
            <p:ph type="sldNum" sz="quarter" idx="5"/>
          </p:nvPr>
        </p:nvSpPr>
        <p:spPr/>
        <p:txBody>
          <a:bodyPr/>
          <a:lstStyle/>
          <a:p>
            <a:fld id="{A6837353-30EB-4A48-80EB-173D804AEFBD}" type="slidenum">
              <a:rPr lang="zh-CN" altLang="en-US" smtClean="0"/>
              <a:t>20</a:t>
            </a:fld>
            <a:endParaRPr lang="zh-CN" altLang="en-US"/>
          </a:p>
        </p:txBody>
      </p:sp>
    </p:spTree>
    <p:extLst>
      <p:ext uri="{BB962C8B-B14F-4D97-AF65-F5344CB8AC3E}">
        <p14:creationId xmlns:p14="http://schemas.microsoft.com/office/powerpoint/2010/main" val="25851843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386BD-608A-C566-7AFE-E4E118CD12A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98AA2E4-851C-D653-CC1E-2D367A3A522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9A62AE2-C190-2590-4203-8026BC9ACBB8}"/>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27F52850-B436-350E-AD4E-289CC761AB9D}"/>
              </a:ext>
            </a:extLst>
          </p:cNvPr>
          <p:cNvSpPr>
            <a:spLocks noGrp="1"/>
          </p:cNvSpPr>
          <p:nvPr>
            <p:ph type="sldNum" sz="quarter" idx="5"/>
          </p:nvPr>
        </p:nvSpPr>
        <p:spPr/>
        <p:txBody>
          <a:bodyPr/>
          <a:lstStyle/>
          <a:p>
            <a:fld id="{A6837353-30EB-4A48-80EB-173D804AEFBD}" type="slidenum">
              <a:rPr lang="zh-CN" altLang="en-US" smtClean="0"/>
              <a:t>21</a:t>
            </a:fld>
            <a:endParaRPr lang="zh-CN" altLang="en-US"/>
          </a:p>
        </p:txBody>
      </p:sp>
    </p:spTree>
    <p:extLst>
      <p:ext uri="{BB962C8B-B14F-4D97-AF65-F5344CB8AC3E}">
        <p14:creationId xmlns:p14="http://schemas.microsoft.com/office/powerpoint/2010/main" val="21349962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1CF5A-9DDE-67C7-0195-C0841A925BE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D41DA36-59E1-CE73-D375-90EAE8A7C5B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44F38CF-C711-6CD3-B6F8-6A4F3DEC85BE}"/>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3F81AA56-A076-0EE1-7444-40693235ED8F}"/>
              </a:ext>
            </a:extLst>
          </p:cNvPr>
          <p:cNvSpPr>
            <a:spLocks noGrp="1"/>
          </p:cNvSpPr>
          <p:nvPr>
            <p:ph type="sldNum" sz="quarter" idx="5"/>
          </p:nvPr>
        </p:nvSpPr>
        <p:spPr/>
        <p:txBody>
          <a:bodyPr/>
          <a:lstStyle/>
          <a:p>
            <a:fld id="{A6837353-30EB-4A48-80EB-173D804AEFBD}" type="slidenum">
              <a:rPr lang="zh-CN" altLang="en-US" smtClean="0"/>
              <a:t>22</a:t>
            </a:fld>
            <a:endParaRPr lang="zh-CN" altLang="en-US"/>
          </a:p>
        </p:txBody>
      </p:sp>
    </p:spTree>
    <p:extLst>
      <p:ext uri="{BB962C8B-B14F-4D97-AF65-F5344CB8AC3E}">
        <p14:creationId xmlns:p14="http://schemas.microsoft.com/office/powerpoint/2010/main" val="18079474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5EB72-81C5-E5EF-7CBB-FBF83E24252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7DC744B-BDAD-097E-F31C-D6968DCCB8F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98DCD82-9756-B39E-A8B4-FC77C233599C}"/>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3A197EF2-A4A9-256E-BBB8-F7F000A69859}"/>
              </a:ext>
            </a:extLst>
          </p:cNvPr>
          <p:cNvSpPr>
            <a:spLocks noGrp="1"/>
          </p:cNvSpPr>
          <p:nvPr>
            <p:ph type="sldNum" sz="quarter" idx="5"/>
          </p:nvPr>
        </p:nvSpPr>
        <p:spPr/>
        <p:txBody>
          <a:bodyPr/>
          <a:lstStyle/>
          <a:p>
            <a:fld id="{A6837353-30EB-4A48-80EB-173D804AEFBD}" type="slidenum">
              <a:rPr lang="zh-CN" altLang="en-US" smtClean="0"/>
              <a:t>23</a:t>
            </a:fld>
            <a:endParaRPr lang="zh-CN" altLang="en-US"/>
          </a:p>
        </p:txBody>
      </p:sp>
    </p:spTree>
    <p:extLst>
      <p:ext uri="{BB962C8B-B14F-4D97-AF65-F5344CB8AC3E}">
        <p14:creationId xmlns:p14="http://schemas.microsoft.com/office/powerpoint/2010/main" val="41824036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01AA9-AEA7-D33A-4BF3-8DF35536D65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F96BDFB-4E13-AADF-6898-95261BC8FBE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3586C48-7B3B-5D87-CA55-C80966D168FB}"/>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A6B4727A-C1E1-7412-46E7-7B04E5E2CF47}"/>
              </a:ext>
            </a:extLst>
          </p:cNvPr>
          <p:cNvSpPr>
            <a:spLocks noGrp="1"/>
          </p:cNvSpPr>
          <p:nvPr>
            <p:ph type="sldNum" sz="quarter" idx="5"/>
          </p:nvPr>
        </p:nvSpPr>
        <p:spPr/>
        <p:txBody>
          <a:bodyPr/>
          <a:lstStyle/>
          <a:p>
            <a:fld id="{A6837353-30EB-4A48-80EB-173D804AEFBD}" type="slidenum">
              <a:rPr lang="zh-CN" altLang="en-US" smtClean="0"/>
              <a:t>24</a:t>
            </a:fld>
            <a:endParaRPr lang="zh-CN" altLang="en-US"/>
          </a:p>
        </p:txBody>
      </p:sp>
    </p:spTree>
    <p:extLst>
      <p:ext uri="{BB962C8B-B14F-4D97-AF65-F5344CB8AC3E}">
        <p14:creationId xmlns:p14="http://schemas.microsoft.com/office/powerpoint/2010/main" val="28183968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D3745-65FF-6E9D-7535-13CA1FB64DD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CEC4B9F-F256-770C-C11A-BD67A54DFB3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D4A6D42-2FE9-3072-A87A-C9362698DC27}"/>
              </a:ext>
            </a:extLst>
          </p:cNvPr>
          <p:cNvSpPr>
            <a:spLocks noGrp="1"/>
          </p:cNvSpPr>
          <p:nvPr>
            <p:ph type="body" idx="1"/>
          </p:nvPr>
        </p:nvSpPr>
        <p:spPr/>
        <p:txBody>
          <a:bodyPr/>
          <a:lstStyle/>
          <a:p>
            <a:r>
              <a:rPr lang="en-GB" altLang="zh-CN" dirty="0"/>
              <a:t>After handling the missing valve and data standardization, turn to </a:t>
            </a:r>
            <a:r>
              <a:rPr lang="en-GB" altLang="zh-CN" b="1" dirty="0"/>
              <a:t>EDA </a:t>
            </a:r>
            <a:r>
              <a:rPr lang="en-GB" altLang="zh-CN" dirty="0"/>
              <a:t>part to understand </a:t>
            </a:r>
            <a:r>
              <a:rPr lang="en-GB" altLang="zh-CN" b="1" dirty="0"/>
              <a:t>data quality &amp; patterns</a:t>
            </a:r>
            <a:r>
              <a:rPr lang="en-GB" altLang="zh-CN" dirty="0"/>
              <a:t> before modelling</a:t>
            </a:r>
          </a:p>
          <a:p>
            <a:endParaRPr lang="en-GB" altLang="zh-CN" dirty="0"/>
          </a:p>
          <a:p>
            <a:r>
              <a:rPr lang="en-GB" altLang="zh-CN" dirty="0"/>
              <a:t>Tools: </a:t>
            </a:r>
            <a:r>
              <a:rPr lang="en-GB" altLang="zh-CN" b="1" dirty="0"/>
              <a:t>Tableau</a:t>
            </a:r>
            <a:r>
              <a:rPr lang="en-GB" altLang="zh-CN" dirty="0"/>
              <a:t> visualizations.</a:t>
            </a:r>
          </a:p>
          <a:p>
            <a:endParaRPr lang="en-US" altLang="zh-CN" dirty="0"/>
          </a:p>
        </p:txBody>
      </p:sp>
      <p:sp>
        <p:nvSpPr>
          <p:cNvPr id="4" name="灯片编号占位符 3">
            <a:extLst>
              <a:ext uri="{FF2B5EF4-FFF2-40B4-BE49-F238E27FC236}">
                <a16:creationId xmlns:a16="http://schemas.microsoft.com/office/drawing/2014/main" id="{C041CF31-1ECD-BC5B-440F-AEE30693B863}"/>
              </a:ext>
            </a:extLst>
          </p:cNvPr>
          <p:cNvSpPr>
            <a:spLocks noGrp="1"/>
          </p:cNvSpPr>
          <p:nvPr>
            <p:ph type="sldNum" sz="quarter" idx="5"/>
          </p:nvPr>
        </p:nvSpPr>
        <p:spPr/>
        <p:txBody>
          <a:bodyPr/>
          <a:lstStyle/>
          <a:p>
            <a:fld id="{A6837353-30EB-4A48-80EB-173D804AEFBD}" type="slidenum">
              <a:rPr lang="zh-CN" altLang="en-US" smtClean="0"/>
              <a:t>25</a:t>
            </a:fld>
            <a:endParaRPr lang="zh-CN" altLang="en-US"/>
          </a:p>
        </p:txBody>
      </p:sp>
    </p:spTree>
    <p:extLst>
      <p:ext uri="{BB962C8B-B14F-4D97-AF65-F5344CB8AC3E}">
        <p14:creationId xmlns:p14="http://schemas.microsoft.com/office/powerpoint/2010/main" val="18338690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6CE4C-35C1-62DC-4D57-0A9B7B52652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C81CB05-AAC3-A600-E403-8C5629E8D01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2C5E59B-0E9C-2761-F03A-AF5A6B68B78E}"/>
              </a:ext>
            </a:extLst>
          </p:cNvPr>
          <p:cNvSpPr>
            <a:spLocks noGrp="1"/>
          </p:cNvSpPr>
          <p:nvPr>
            <p:ph type="body" idx="1"/>
          </p:nvPr>
        </p:nvSpPr>
        <p:spPr/>
        <p:txBody>
          <a:bodyPr/>
          <a:lstStyle/>
          <a:p>
            <a:r>
              <a:rPr lang="en-GB" altLang="zh-CN" dirty="0"/>
              <a:t>After handling the missing valve and data standardization, turn to </a:t>
            </a:r>
            <a:r>
              <a:rPr lang="en-GB" altLang="zh-CN" b="1" dirty="0"/>
              <a:t>EDA </a:t>
            </a:r>
            <a:r>
              <a:rPr lang="en-GB" altLang="zh-CN" dirty="0"/>
              <a:t>part to understand </a:t>
            </a:r>
            <a:r>
              <a:rPr lang="en-GB" altLang="zh-CN" b="1" dirty="0"/>
              <a:t>data quality &amp; patterns</a:t>
            </a:r>
            <a:r>
              <a:rPr lang="en-GB" altLang="zh-CN" dirty="0"/>
              <a:t> before modelling</a:t>
            </a:r>
          </a:p>
          <a:p>
            <a:endParaRPr lang="en-GB" altLang="zh-CN" dirty="0"/>
          </a:p>
          <a:p>
            <a:r>
              <a:rPr lang="en-GB" altLang="zh-CN" dirty="0"/>
              <a:t>Tools: </a:t>
            </a:r>
            <a:r>
              <a:rPr lang="en-GB" altLang="zh-CN" b="1" dirty="0"/>
              <a:t>Tableau</a:t>
            </a:r>
            <a:r>
              <a:rPr lang="en-GB" altLang="zh-CN" dirty="0"/>
              <a:t> visualizations.</a:t>
            </a:r>
          </a:p>
          <a:p>
            <a:endParaRPr lang="en-US" altLang="zh-CN" dirty="0"/>
          </a:p>
        </p:txBody>
      </p:sp>
      <p:sp>
        <p:nvSpPr>
          <p:cNvPr id="4" name="灯片编号占位符 3">
            <a:extLst>
              <a:ext uri="{FF2B5EF4-FFF2-40B4-BE49-F238E27FC236}">
                <a16:creationId xmlns:a16="http://schemas.microsoft.com/office/drawing/2014/main" id="{A537D295-1474-EEBB-6701-B3F679CB8FC7}"/>
              </a:ext>
            </a:extLst>
          </p:cNvPr>
          <p:cNvSpPr>
            <a:spLocks noGrp="1"/>
          </p:cNvSpPr>
          <p:nvPr>
            <p:ph type="sldNum" sz="quarter" idx="5"/>
          </p:nvPr>
        </p:nvSpPr>
        <p:spPr/>
        <p:txBody>
          <a:bodyPr/>
          <a:lstStyle/>
          <a:p>
            <a:fld id="{A6837353-30EB-4A48-80EB-173D804AEFBD}" type="slidenum">
              <a:rPr lang="zh-CN" altLang="en-US" smtClean="0"/>
              <a:t>26</a:t>
            </a:fld>
            <a:endParaRPr lang="zh-CN" altLang="en-US"/>
          </a:p>
        </p:txBody>
      </p:sp>
    </p:spTree>
    <p:extLst>
      <p:ext uri="{BB962C8B-B14F-4D97-AF65-F5344CB8AC3E}">
        <p14:creationId xmlns:p14="http://schemas.microsoft.com/office/powerpoint/2010/main" val="31645562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79E54-8C0B-059A-9D79-176171CFE6F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7377C2A-8C50-7000-7285-D4C86294120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2246DAE-9DAF-DF25-33D5-EFDA19E98DBC}"/>
              </a:ext>
            </a:extLst>
          </p:cNvPr>
          <p:cNvSpPr>
            <a:spLocks noGrp="1"/>
          </p:cNvSpPr>
          <p:nvPr>
            <p:ph type="body" idx="1"/>
          </p:nvPr>
        </p:nvSpPr>
        <p:spPr/>
        <p:txBody>
          <a:bodyPr/>
          <a:lstStyle/>
          <a:p>
            <a:r>
              <a:rPr lang="en-GB" altLang="zh-CN" dirty="0"/>
              <a:t>After handling the missing valve and data standardization, turn to </a:t>
            </a:r>
            <a:r>
              <a:rPr lang="en-GB" altLang="zh-CN" b="1" dirty="0"/>
              <a:t>EDA </a:t>
            </a:r>
            <a:r>
              <a:rPr lang="en-GB" altLang="zh-CN" dirty="0"/>
              <a:t>part to understand </a:t>
            </a:r>
            <a:r>
              <a:rPr lang="en-GB" altLang="zh-CN" b="1" dirty="0"/>
              <a:t>data quality &amp; patterns</a:t>
            </a:r>
            <a:r>
              <a:rPr lang="en-GB" altLang="zh-CN" dirty="0"/>
              <a:t> before modelling</a:t>
            </a:r>
          </a:p>
          <a:p>
            <a:endParaRPr lang="en-GB" altLang="zh-CN" dirty="0"/>
          </a:p>
          <a:p>
            <a:r>
              <a:rPr lang="en-GB" altLang="zh-CN" dirty="0"/>
              <a:t>Tools: </a:t>
            </a:r>
            <a:r>
              <a:rPr lang="en-GB" altLang="zh-CN" b="1" dirty="0"/>
              <a:t>Tableau</a:t>
            </a:r>
            <a:r>
              <a:rPr lang="en-GB" altLang="zh-CN" dirty="0"/>
              <a:t> visualizations.</a:t>
            </a:r>
          </a:p>
          <a:p>
            <a:endParaRPr lang="en-US" altLang="zh-CN" dirty="0"/>
          </a:p>
        </p:txBody>
      </p:sp>
      <p:sp>
        <p:nvSpPr>
          <p:cNvPr id="4" name="灯片编号占位符 3">
            <a:extLst>
              <a:ext uri="{FF2B5EF4-FFF2-40B4-BE49-F238E27FC236}">
                <a16:creationId xmlns:a16="http://schemas.microsoft.com/office/drawing/2014/main" id="{A22EE0DD-3A7A-9B7A-6063-815A51C423F2}"/>
              </a:ext>
            </a:extLst>
          </p:cNvPr>
          <p:cNvSpPr>
            <a:spLocks noGrp="1"/>
          </p:cNvSpPr>
          <p:nvPr>
            <p:ph type="sldNum" sz="quarter" idx="5"/>
          </p:nvPr>
        </p:nvSpPr>
        <p:spPr/>
        <p:txBody>
          <a:bodyPr/>
          <a:lstStyle/>
          <a:p>
            <a:fld id="{A6837353-30EB-4A48-80EB-173D804AEFBD}" type="slidenum">
              <a:rPr lang="zh-CN" altLang="en-US" smtClean="0"/>
              <a:t>27</a:t>
            </a:fld>
            <a:endParaRPr lang="zh-CN" altLang="en-US"/>
          </a:p>
        </p:txBody>
      </p:sp>
    </p:spTree>
    <p:extLst>
      <p:ext uri="{BB962C8B-B14F-4D97-AF65-F5344CB8AC3E}">
        <p14:creationId xmlns:p14="http://schemas.microsoft.com/office/powerpoint/2010/main" val="21998400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F8B87-F643-C928-524C-60FD3241E7F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29956C1-127D-CA66-9207-B1D4540B762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7FA311F-BE6D-0308-1E9F-8A49A4FE4F28}"/>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4EE3E0D8-D02C-3224-3A7D-DF85E2079730}"/>
              </a:ext>
            </a:extLst>
          </p:cNvPr>
          <p:cNvSpPr>
            <a:spLocks noGrp="1"/>
          </p:cNvSpPr>
          <p:nvPr>
            <p:ph type="sldNum" sz="quarter" idx="5"/>
          </p:nvPr>
        </p:nvSpPr>
        <p:spPr/>
        <p:txBody>
          <a:bodyPr/>
          <a:lstStyle/>
          <a:p>
            <a:fld id="{A6837353-30EB-4A48-80EB-173D804AEFBD}" type="slidenum">
              <a:rPr lang="zh-CN" altLang="en-US" smtClean="0"/>
              <a:t>28</a:t>
            </a:fld>
            <a:endParaRPr lang="zh-CN" altLang="en-US"/>
          </a:p>
        </p:txBody>
      </p:sp>
    </p:spTree>
    <p:extLst>
      <p:ext uri="{BB962C8B-B14F-4D97-AF65-F5344CB8AC3E}">
        <p14:creationId xmlns:p14="http://schemas.microsoft.com/office/powerpoint/2010/main" val="42373846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5AD89-08C0-19D3-DA13-45276053989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A8BC84-C7AB-413A-AD1D-2262EBDE936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292E874-B05F-6040-4D28-61C96F24EABA}"/>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24A977DC-02F0-72D3-9535-292420779288}"/>
              </a:ext>
            </a:extLst>
          </p:cNvPr>
          <p:cNvSpPr>
            <a:spLocks noGrp="1"/>
          </p:cNvSpPr>
          <p:nvPr>
            <p:ph type="sldNum" sz="quarter" idx="5"/>
          </p:nvPr>
        </p:nvSpPr>
        <p:spPr/>
        <p:txBody>
          <a:bodyPr/>
          <a:lstStyle/>
          <a:p>
            <a:fld id="{A6837353-30EB-4A48-80EB-173D804AEFBD}" type="slidenum">
              <a:rPr lang="zh-CN" altLang="en-US" smtClean="0"/>
              <a:t>29</a:t>
            </a:fld>
            <a:endParaRPr lang="zh-CN" altLang="en-US"/>
          </a:p>
        </p:txBody>
      </p:sp>
    </p:spTree>
    <p:extLst>
      <p:ext uri="{BB962C8B-B14F-4D97-AF65-F5344CB8AC3E}">
        <p14:creationId xmlns:p14="http://schemas.microsoft.com/office/powerpoint/2010/main" val="42290198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4E4A8-2D4F-8241-779F-AA9F37BB5AE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59D419F-3474-9FED-AE2E-17B6ACC2020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5C8347E-987F-FCA5-5721-6560757E2222}"/>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F7C5EE7C-43D7-4AFA-4A2A-D42BBA341046}"/>
              </a:ext>
            </a:extLst>
          </p:cNvPr>
          <p:cNvSpPr>
            <a:spLocks noGrp="1"/>
          </p:cNvSpPr>
          <p:nvPr>
            <p:ph type="sldNum" sz="quarter" idx="5"/>
          </p:nvPr>
        </p:nvSpPr>
        <p:spPr/>
        <p:txBody>
          <a:bodyPr/>
          <a:lstStyle/>
          <a:p>
            <a:fld id="{A6837353-30EB-4A48-80EB-173D804AEFBD}" type="slidenum">
              <a:rPr lang="zh-CN" altLang="en-US" smtClean="0"/>
              <a:t>30</a:t>
            </a:fld>
            <a:endParaRPr lang="zh-CN" altLang="en-US"/>
          </a:p>
        </p:txBody>
      </p:sp>
    </p:spTree>
    <p:extLst>
      <p:ext uri="{BB962C8B-B14F-4D97-AF65-F5344CB8AC3E}">
        <p14:creationId xmlns:p14="http://schemas.microsoft.com/office/powerpoint/2010/main" val="33359074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C36EB-D5B1-A477-5180-C898E410C11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E044706-EBB9-309C-2A33-BA9B99F99D5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193DD1B-5901-FA0C-131D-84350210CFD7}"/>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80FEB3B4-4610-98BE-55EC-72FB79085C44}"/>
              </a:ext>
            </a:extLst>
          </p:cNvPr>
          <p:cNvSpPr>
            <a:spLocks noGrp="1"/>
          </p:cNvSpPr>
          <p:nvPr>
            <p:ph type="sldNum" sz="quarter" idx="5"/>
          </p:nvPr>
        </p:nvSpPr>
        <p:spPr/>
        <p:txBody>
          <a:bodyPr/>
          <a:lstStyle/>
          <a:p>
            <a:fld id="{A6837353-30EB-4A48-80EB-173D804AEFBD}" type="slidenum">
              <a:rPr lang="zh-CN" altLang="en-US" smtClean="0"/>
              <a:t>31</a:t>
            </a:fld>
            <a:endParaRPr lang="zh-CN" altLang="en-US"/>
          </a:p>
        </p:txBody>
      </p:sp>
    </p:spTree>
    <p:extLst>
      <p:ext uri="{BB962C8B-B14F-4D97-AF65-F5344CB8AC3E}">
        <p14:creationId xmlns:p14="http://schemas.microsoft.com/office/powerpoint/2010/main" val="39349758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0B9A5-6028-3A65-1414-8B1A0DF16FF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5B6D00F-10EF-5BFD-EA43-7F534FED77B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33D5712-EC32-8C83-DAFD-AF5B9757EE72}"/>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8D30A64E-1BE2-AEDB-0AC9-92620735CDEE}"/>
              </a:ext>
            </a:extLst>
          </p:cNvPr>
          <p:cNvSpPr>
            <a:spLocks noGrp="1"/>
          </p:cNvSpPr>
          <p:nvPr>
            <p:ph type="sldNum" sz="quarter" idx="5"/>
          </p:nvPr>
        </p:nvSpPr>
        <p:spPr/>
        <p:txBody>
          <a:bodyPr/>
          <a:lstStyle/>
          <a:p>
            <a:fld id="{A6837353-30EB-4A48-80EB-173D804AEFBD}" type="slidenum">
              <a:rPr lang="zh-CN" altLang="en-US" smtClean="0"/>
              <a:t>32</a:t>
            </a:fld>
            <a:endParaRPr lang="zh-CN" altLang="en-US"/>
          </a:p>
        </p:txBody>
      </p:sp>
    </p:spTree>
    <p:extLst>
      <p:ext uri="{BB962C8B-B14F-4D97-AF65-F5344CB8AC3E}">
        <p14:creationId xmlns:p14="http://schemas.microsoft.com/office/powerpoint/2010/main" val="23071020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9A27E-253E-165A-539C-1DE50C203B0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99827A5-4FF6-4A9A-F25B-7EAAF7EE848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8C15264-474F-D8D6-E4F0-171E7FCA29DA}"/>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B91C97B3-8195-88EE-2CD1-289F73700781}"/>
              </a:ext>
            </a:extLst>
          </p:cNvPr>
          <p:cNvSpPr>
            <a:spLocks noGrp="1"/>
          </p:cNvSpPr>
          <p:nvPr>
            <p:ph type="sldNum" sz="quarter" idx="5"/>
          </p:nvPr>
        </p:nvSpPr>
        <p:spPr/>
        <p:txBody>
          <a:bodyPr/>
          <a:lstStyle/>
          <a:p>
            <a:fld id="{A6837353-30EB-4A48-80EB-173D804AEFBD}" type="slidenum">
              <a:rPr lang="zh-CN" altLang="en-US" smtClean="0"/>
              <a:t>33</a:t>
            </a:fld>
            <a:endParaRPr lang="zh-CN" altLang="en-US"/>
          </a:p>
        </p:txBody>
      </p:sp>
    </p:spTree>
    <p:extLst>
      <p:ext uri="{BB962C8B-B14F-4D97-AF65-F5344CB8AC3E}">
        <p14:creationId xmlns:p14="http://schemas.microsoft.com/office/powerpoint/2010/main" val="34110612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9B1AD-74D8-7139-52F6-8F8C0792E2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49C7B38-AD46-F1C3-7E9F-F76BA24E96E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EE84901-DEFA-0136-B607-8A0AC8C64DE0}"/>
              </a:ext>
            </a:extLst>
          </p:cNvPr>
          <p:cNvSpPr>
            <a:spLocks noGrp="1"/>
          </p:cNvSpPr>
          <p:nvPr>
            <p:ph type="body" idx="1"/>
          </p:nvPr>
        </p:nvSpPr>
        <p:spPr/>
        <p:txBody>
          <a:bodyPr/>
          <a:lstStyle/>
          <a:p>
            <a:r>
              <a:rPr lang="en-US" altLang="zh-CN" b="1" dirty="0"/>
              <a:t>Step 1: Feature Reception</a:t>
            </a:r>
            <a:r>
              <a:rPr lang="en-US" altLang="zh-CN" dirty="0"/>
              <a:t> The LSTM layer receives feature output from the CNN pooling layer. After dimensionality adjustment through the Reshape layer, the feature dimension becomes (-1, 32), where 32 corresponds to the number of CNN convolution kernels.</a:t>
            </a:r>
          </a:p>
          <a:p>
            <a:r>
              <a:rPr lang="en-US" altLang="zh-CN" b="1" dirty="0"/>
              <a:t>Step 2: LSTM Configuration</a:t>
            </a:r>
            <a:r>
              <a:rPr lang="en-US" altLang="zh-CN" dirty="0"/>
              <a:t> A single-layer LSTM architecture with 128 hidden units is employed. The SELU activation function is used for its self-normalizing property, enabling stable gradient propagation and effective capture of nonlinear meteorological patterns.</a:t>
            </a:r>
          </a:p>
          <a:p>
            <a:r>
              <a:rPr lang="en-US" altLang="zh-CN" b="1" dirty="0"/>
              <a:t>Step 3: Sequence Processing</a:t>
            </a:r>
            <a:r>
              <a:rPr lang="en-US" altLang="zh-CN" dirty="0"/>
              <a:t> Setting </a:t>
            </a:r>
            <a:r>
              <a:rPr lang="en-US" altLang="zh-CN" dirty="0" err="1"/>
              <a:t>return_sequences</a:t>
            </a:r>
            <a:r>
              <a:rPr lang="en-US" altLang="zh-CN" dirty="0"/>
              <a:t>=False ensures the LSTM returns only the final time step output, compressing temporal dependencies into the final hidden state. This configuration suits single-step prediction tasks with output dimension (</a:t>
            </a:r>
            <a:r>
              <a:rPr lang="en-US" altLang="zh-CN" dirty="0" err="1"/>
              <a:t>batch_size</a:t>
            </a:r>
            <a:r>
              <a:rPr lang="en-US" altLang="zh-CN" dirty="0"/>
              <a:t>, 128).</a:t>
            </a:r>
          </a:p>
          <a:p>
            <a:r>
              <a:rPr lang="en-US" altLang="zh-CN" b="1" dirty="0"/>
              <a:t>Step 4: Output Mapping</a:t>
            </a:r>
            <a:r>
              <a:rPr lang="en-US" altLang="zh-CN" dirty="0"/>
              <a:t> The LSTM output is mapped through a fully connected Dense layer to dimension 1, corresponding to a single IMF component prediction. All IMF predictions are then aggregated to reconstruct the complete target variable.</a:t>
            </a:r>
          </a:p>
          <a:p>
            <a:endParaRPr lang="en-US" altLang="zh-CN" dirty="0"/>
          </a:p>
        </p:txBody>
      </p:sp>
      <p:sp>
        <p:nvSpPr>
          <p:cNvPr id="4" name="灯片编号占位符 3">
            <a:extLst>
              <a:ext uri="{FF2B5EF4-FFF2-40B4-BE49-F238E27FC236}">
                <a16:creationId xmlns:a16="http://schemas.microsoft.com/office/drawing/2014/main" id="{B5E4B3A9-4E3D-4575-4A79-0CACDC68995E}"/>
              </a:ext>
            </a:extLst>
          </p:cNvPr>
          <p:cNvSpPr>
            <a:spLocks noGrp="1"/>
          </p:cNvSpPr>
          <p:nvPr>
            <p:ph type="sldNum" sz="quarter" idx="5"/>
          </p:nvPr>
        </p:nvSpPr>
        <p:spPr/>
        <p:txBody>
          <a:bodyPr/>
          <a:lstStyle/>
          <a:p>
            <a:fld id="{A6837353-30EB-4A48-80EB-173D804AEFBD}" type="slidenum">
              <a:rPr lang="zh-CN" altLang="en-US" smtClean="0"/>
              <a:t>34</a:t>
            </a:fld>
            <a:endParaRPr lang="zh-CN" altLang="en-US"/>
          </a:p>
        </p:txBody>
      </p:sp>
    </p:spTree>
    <p:extLst>
      <p:ext uri="{BB962C8B-B14F-4D97-AF65-F5344CB8AC3E}">
        <p14:creationId xmlns:p14="http://schemas.microsoft.com/office/powerpoint/2010/main" val="22066194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696A8-2817-687C-CDA0-FF39423558B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8866C8A-0738-F1B2-479F-AA1EE313751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01369D5-360E-6A24-E0F9-214026869E72}"/>
              </a:ext>
            </a:extLst>
          </p:cNvPr>
          <p:cNvSpPr>
            <a:spLocks noGrp="1"/>
          </p:cNvSpPr>
          <p:nvPr>
            <p:ph type="body" idx="1"/>
          </p:nvPr>
        </p:nvSpPr>
        <p:spPr/>
        <p:txBody>
          <a:bodyPr/>
          <a:lstStyle/>
          <a:p>
            <a:r>
              <a:rPr lang="en-US" altLang="zh-CN" b="1" dirty="0"/>
              <a:t>Step 1: Direct Feature Reception</a:t>
            </a:r>
            <a:r>
              <a:rPr lang="en-US" altLang="zh-CN" dirty="0"/>
              <a:t> Unlike the CNN-LSTM approach, the LSTM layer directly receives original multidimensional meteorological features structured as 3D tensor [</a:t>
            </a:r>
            <a:r>
              <a:rPr lang="en-US" altLang="zh-CN" dirty="0" err="1"/>
              <a:t>batch_size</a:t>
            </a:r>
            <a:r>
              <a:rPr lang="en-US" altLang="zh-CN" dirty="0"/>
              <a:t>, </a:t>
            </a:r>
            <a:r>
              <a:rPr lang="en-US" altLang="zh-CN" dirty="0" err="1"/>
              <a:t>time_steps</a:t>
            </a:r>
            <a:r>
              <a:rPr lang="en-US" altLang="zh-CN" dirty="0"/>
              <a:t>, features]. No CNN pooling layer or Reshape operations are required, with time steps set to 5 for optimal feature capture.</a:t>
            </a:r>
          </a:p>
          <a:p>
            <a:r>
              <a:rPr lang="en-US" altLang="zh-CN" b="1" dirty="0"/>
              <a:t>Step 2: Standard LSTM Configuration</a:t>
            </a:r>
            <a:r>
              <a:rPr lang="en-US" altLang="zh-CN" dirty="0"/>
              <a:t> A single-layer LSTM architecture with 128 hidden units is employed. Instead of SELU activation, standard tanh activation is used for cell state transformation with sigmoid functions controlling gate mechanisms. This simpler configuration offers higher computational efficiency.</a:t>
            </a:r>
          </a:p>
          <a:p>
            <a:r>
              <a:rPr lang="en-US" altLang="zh-CN" b="1" dirty="0"/>
              <a:t>Step 3: Sequence Processing</a:t>
            </a:r>
            <a:r>
              <a:rPr lang="en-US" altLang="zh-CN" dirty="0"/>
              <a:t> Setting </a:t>
            </a:r>
            <a:r>
              <a:rPr lang="en-US" altLang="zh-CN" dirty="0" err="1"/>
              <a:t>return_sequences</a:t>
            </a:r>
            <a:r>
              <a:rPr lang="en-US" altLang="zh-CN" dirty="0"/>
              <a:t>=False ensures the LSTM returns only the final time step output, compressing temporal dependencies into the final hidden state. This configuration remains identical to the CNN-LSTM approach, suitable for single-step prediction tasks.</a:t>
            </a:r>
          </a:p>
          <a:p>
            <a:r>
              <a:rPr lang="en-US" altLang="zh-CN" b="1" dirty="0"/>
              <a:t>Step 4: Multi-Component Output Mapping</a:t>
            </a:r>
            <a:r>
              <a:rPr lang="en-US" altLang="zh-CN" dirty="0"/>
              <a:t> Rather than processing CNN-extracted features, individual LSTM models are constructed for each IMF component with parallel training. Each model outputs dimension 1 predictions, and all IMF predictions are aggregated to reconstruct the complete target variable through divide-and-conquer strategy.</a:t>
            </a:r>
          </a:p>
        </p:txBody>
      </p:sp>
      <p:sp>
        <p:nvSpPr>
          <p:cNvPr id="4" name="灯片编号占位符 3">
            <a:extLst>
              <a:ext uri="{FF2B5EF4-FFF2-40B4-BE49-F238E27FC236}">
                <a16:creationId xmlns:a16="http://schemas.microsoft.com/office/drawing/2014/main" id="{28B4A9CB-D8BF-4E39-79AC-E74B7B1B3F08}"/>
              </a:ext>
            </a:extLst>
          </p:cNvPr>
          <p:cNvSpPr>
            <a:spLocks noGrp="1"/>
          </p:cNvSpPr>
          <p:nvPr>
            <p:ph type="sldNum" sz="quarter" idx="5"/>
          </p:nvPr>
        </p:nvSpPr>
        <p:spPr/>
        <p:txBody>
          <a:bodyPr/>
          <a:lstStyle/>
          <a:p>
            <a:fld id="{A6837353-30EB-4A48-80EB-173D804AEFBD}" type="slidenum">
              <a:rPr lang="zh-CN" altLang="en-US" smtClean="0"/>
              <a:t>35</a:t>
            </a:fld>
            <a:endParaRPr lang="zh-CN" altLang="en-US"/>
          </a:p>
        </p:txBody>
      </p:sp>
    </p:spTree>
    <p:extLst>
      <p:ext uri="{BB962C8B-B14F-4D97-AF65-F5344CB8AC3E}">
        <p14:creationId xmlns:p14="http://schemas.microsoft.com/office/powerpoint/2010/main" val="18020058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A0FA9-5BB8-BA4E-921C-51A240B4ED3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CB025CA-4053-9732-8F07-A0527DABB95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01B723A-3236-9820-7321-3E26A3709FED}"/>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6D2FB009-D434-5804-D635-926309883C75}"/>
              </a:ext>
            </a:extLst>
          </p:cNvPr>
          <p:cNvSpPr>
            <a:spLocks noGrp="1"/>
          </p:cNvSpPr>
          <p:nvPr>
            <p:ph type="sldNum" sz="quarter" idx="5"/>
          </p:nvPr>
        </p:nvSpPr>
        <p:spPr/>
        <p:txBody>
          <a:bodyPr/>
          <a:lstStyle/>
          <a:p>
            <a:fld id="{A6837353-30EB-4A48-80EB-173D804AEFBD}" type="slidenum">
              <a:rPr lang="zh-CN" altLang="en-US" smtClean="0"/>
              <a:t>36</a:t>
            </a:fld>
            <a:endParaRPr lang="zh-CN" altLang="en-US"/>
          </a:p>
        </p:txBody>
      </p:sp>
    </p:spTree>
    <p:extLst>
      <p:ext uri="{BB962C8B-B14F-4D97-AF65-F5344CB8AC3E}">
        <p14:creationId xmlns:p14="http://schemas.microsoft.com/office/powerpoint/2010/main" val="21158165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DBA3A-7092-0E78-AD61-ACFCB5FCD8C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CBE8383-AFC8-14BA-F3D7-E311C89624C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9A8ADEA-8255-4745-350D-4C908F3A4F5C}"/>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A09213D0-A848-B81A-A1DC-9496998E8A18}"/>
              </a:ext>
            </a:extLst>
          </p:cNvPr>
          <p:cNvSpPr>
            <a:spLocks noGrp="1"/>
          </p:cNvSpPr>
          <p:nvPr>
            <p:ph type="sldNum" sz="quarter" idx="5"/>
          </p:nvPr>
        </p:nvSpPr>
        <p:spPr/>
        <p:txBody>
          <a:bodyPr/>
          <a:lstStyle/>
          <a:p>
            <a:fld id="{A6837353-30EB-4A48-80EB-173D804AEFBD}" type="slidenum">
              <a:rPr lang="zh-CN" altLang="en-US" smtClean="0"/>
              <a:t>37</a:t>
            </a:fld>
            <a:endParaRPr lang="zh-CN" altLang="en-US"/>
          </a:p>
        </p:txBody>
      </p:sp>
    </p:spTree>
    <p:extLst>
      <p:ext uri="{BB962C8B-B14F-4D97-AF65-F5344CB8AC3E}">
        <p14:creationId xmlns:p14="http://schemas.microsoft.com/office/powerpoint/2010/main" val="26478561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AAC77-8961-A18A-689B-BAE74EA8B6C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B7968B9-A585-70AF-C199-69A330EA293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EA1A217-1ED3-5E56-25C7-5CE2769B148E}"/>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DAAE7C5E-98FE-A967-412F-4591EDB4672C}"/>
              </a:ext>
            </a:extLst>
          </p:cNvPr>
          <p:cNvSpPr>
            <a:spLocks noGrp="1"/>
          </p:cNvSpPr>
          <p:nvPr>
            <p:ph type="sldNum" sz="quarter" idx="5"/>
          </p:nvPr>
        </p:nvSpPr>
        <p:spPr/>
        <p:txBody>
          <a:bodyPr/>
          <a:lstStyle/>
          <a:p>
            <a:fld id="{A6837353-30EB-4A48-80EB-173D804AEFBD}" type="slidenum">
              <a:rPr lang="zh-CN" altLang="en-US" smtClean="0"/>
              <a:t>38</a:t>
            </a:fld>
            <a:endParaRPr lang="zh-CN" altLang="en-US"/>
          </a:p>
        </p:txBody>
      </p:sp>
    </p:spTree>
    <p:extLst>
      <p:ext uri="{BB962C8B-B14F-4D97-AF65-F5344CB8AC3E}">
        <p14:creationId xmlns:p14="http://schemas.microsoft.com/office/powerpoint/2010/main" val="17877889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573B2-BC71-4C26-2AE2-EA3B6A6CC4F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3894E3B-4565-18A3-5AA3-B52E1D16A90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7842B2E-53C7-5315-65D9-CDE8B8640AD3}"/>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2DBFB96B-9593-FD84-0B4E-123FEC26502B}"/>
              </a:ext>
            </a:extLst>
          </p:cNvPr>
          <p:cNvSpPr>
            <a:spLocks noGrp="1"/>
          </p:cNvSpPr>
          <p:nvPr>
            <p:ph type="sldNum" sz="quarter" idx="5"/>
          </p:nvPr>
        </p:nvSpPr>
        <p:spPr/>
        <p:txBody>
          <a:bodyPr/>
          <a:lstStyle/>
          <a:p>
            <a:fld id="{A6837353-30EB-4A48-80EB-173D804AEFBD}" type="slidenum">
              <a:rPr lang="zh-CN" altLang="en-US" smtClean="0"/>
              <a:t>39</a:t>
            </a:fld>
            <a:endParaRPr lang="zh-CN" altLang="en-US"/>
          </a:p>
        </p:txBody>
      </p:sp>
    </p:spTree>
    <p:extLst>
      <p:ext uri="{BB962C8B-B14F-4D97-AF65-F5344CB8AC3E}">
        <p14:creationId xmlns:p14="http://schemas.microsoft.com/office/powerpoint/2010/main" val="20062820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0AA1E-3696-D79E-8D73-3C33C4A0119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7A945EA-2D7B-9D36-9C26-BD668843662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B7B37C6-9E0E-B9EB-D134-F6233A0336F6}"/>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26BA5F7C-29A6-700E-E0A0-944FEA82B7B1}"/>
              </a:ext>
            </a:extLst>
          </p:cNvPr>
          <p:cNvSpPr>
            <a:spLocks noGrp="1"/>
          </p:cNvSpPr>
          <p:nvPr>
            <p:ph type="sldNum" sz="quarter" idx="5"/>
          </p:nvPr>
        </p:nvSpPr>
        <p:spPr/>
        <p:txBody>
          <a:bodyPr/>
          <a:lstStyle/>
          <a:p>
            <a:fld id="{A6837353-30EB-4A48-80EB-173D804AEFBD}" type="slidenum">
              <a:rPr lang="zh-CN" altLang="en-US" smtClean="0"/>
              <a:t>40</a:t>
            </a:fld>
            <a:endParaRPr lang="zh-CN" altLang="en-US"/>
          </a:p>
        </p:txBody>
      </p:sp>
    </p:spTree>
    <p:extLst>
      <p:ext uri="{BB962C8B-B14F-4D97-AF65-F5344CB8AC3E}">
        <p14:creationId xmlns:p14="http://schemas.microsoft.com/office/powerpoint/2010/main" val="30188401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DA7F5-FE3B-A1A3-D7B8-5E14EB037FB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54BF71A-52E1-1CD1-1D16-D15255324DD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8989459-C53B-A51D-799C-127635869E16}"/>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0494F794-B4E9-D8CC-6758-6BBB8107E430}"/>
              </a:ext>
            </a:extLst>
          </p:cNvPr>
          <p:cNvSpPr>
            <a:spLocks noGrp="1"/>
          </p:cNvSpPr>
          <p:nvPr>
            <p:ph type="sldNum" sz="quarter" idx="5"/>
          </p:nvPr>
        </p:nvSpPr>
        <p:spPr/>
        <p:txBody>
          <a:bodyPr/>
          <a:lstStyle/>
          <a:p>
            <a:fld id="{A6837353-30EB-4A48-80EB-173D804AEFBD}" type="slidenum">
              <a:rPr lang="zh-CN" altLang="en-US" smtClean="0"/>
              <a:t>41</a:t>
            </a:fld>
            <a:endParaRPr lang="zh-CN" altLang="en-US"/>
          </a:p>
        </p:txBody>
      </p:sp>
    </p:spTree>
    <p:extLst>
      <p:ext uri="{BB962C8B-B14F-4D97-AF65-F5344CB8AC3E}">
        <p14:creationId xmlns:p14="http://schemas.microsoft.com/office/powerpoint/2010/main" val="6917181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F88BE-F570-6F32-0DF1-2F938EF4A15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6997F5B-C747-1BA8-136C-4E46E365B69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4AD72E0-3FE4-5F48-DABA-D71E0F1CD8F7}"/>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2AD1508B-D499-8798-82EB-1D8994296EB7}"/>
              </a:ext>
            </a:extLst>
          </p:cNvPr>
          <p:cNvSpPr>
            <a:spLocks noGrp="1"/>
          </p:cNvSpPr>
          <p:nvPr>
            <p:ph type="sldNum" sz="quarter" idx="5"/>
          </p:nvPr>
        </p:nvSpPr>
        <p:spPr/>
        <p:txBody>
          <a:bodyPr/>
          <a:lstStyle/>
          <a:p>
            <a:fld id="{A6837353-30EB-4A48-80EB-173D804AEFBD}" type="slidenum">
              <a:rPr lang="zh-CN" altLang="en-US" smtClean="0"/>
              <a:t>42</a:t>
            </a:fld>
            <a:endParaRPr lang="zh-CN" altLang="en-US"/>
          </a:p>
        </p:txBody>
      </p:sp>
    </p:spTree>
    <p:extLst>
      <p:ext uri="{BB962C8B-B14F-4D97-AF65-F5344CB8AC3E}">
        <p14:creationId xmlns:p14="http://schemas.microsoft.com/office/powerpoint/2010/main" val="8135389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7F588-5FDF-1C1E-235C-FE4DA786915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63300E0-3E68-D244-B0B8-FE1A27B2D8A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6E441EE-A9C2-9E42-1C44-F9001B0978E0}"/>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305E4E87-DC7D-A9A6-BD91-97FD779678D0}"/>
              </a:ext>
            </a:extLst>
          </p:cNvPr>
          <p:cNvSpPr>
            <a:spLocks noGrp="1"/>
          </p:cNvSpPr>
          <p:nvPr>
            <p:ph type="sldNum" sz="quarter" idx="5"/>
          </p:nvPr>
        </p:nvSpPr>
        <p:spPr/>
        <p:txBody>
          <a:bodyPr/>
          <a:lstStyle/>
          <a:p>
            <a:fld id="{A6837353-30EB-4A48-80EB-173D804AEFBD}" type="slidenum">
              <a:rPr lang="zh-CN" altLang="en-US" smtClean="0"/>
              <a:t>43</a:t>
            </a:fld>
            <a:endParaRPr lang="zh-CN" altLang="en-US"/>
          </a:p>
        </p:txBody>
      </p:sp>
    </p:spTree>
    <p:extLst>
      <p:ext uri="{BB962C8B-B14F-4D97-AF65-F5344CB8AC3E}">
        <p14:creationId xmlns:p14="http://schemas.microsoft.com/office/powerpoint/2010/main" val="25486317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5B59E-10FD-7BAD-0BE9-1F9BCE0ECA6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F44E06-3248-442B-F303-8274F5A0FAF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C060105-2FBE-4D3B-768C-5DF8105ED6BE}"/>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7047BB99-2012-CBDC-4A0E-D1780270795A}"/>
              </a:ext>
            </a:extLst>
          </p:cNvPr>
          <p:cNvSpPr>
            <a:spLocks noGrp="1"/>
          </p:cNvSpPr>
          <p:nvPr>
            <p:ph type="sldNum" sz="quarter" idx="5"/>
          </p:nvPr>
        </p:nvSpPr>
        <p:spPr/>
        <p:txBody>
          <a:bodyPr/>
          <a:lstStyle/>
          <a:p>
            <a:fld id="{A6837353-30EB-4A48-80EB-173D804AEFBD}" type="slidenum">
              <a:rPr lang="zh-CN" altLang="en-US" smtClean="0"/>
              <a:t>44</a:t>
            </a:fld>
            <a:endParaRPr lang="zh-CN" altLang="en-US"/>
          </a:p>
        </p:txBody>
      </p:sp>
    </p:spTree>
    <p:extLst>
      <p:ext uri="{BB962C8B-B14F-4D97-AF65-F5344CB8AC3E}">
        <p14:creationId xmlns:p14="http://schemas.microsoft.com/office/powerpoint/2010/main" val="286058643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23A1D-6E31-9D6E-608C-369C159E45E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82D1DB4-9832-8F7E-44BC-E8AE1C60709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EEE67BF-07F9-A859-A7A6-B6258F0368B3}"/>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E02CEABB-783A-6760-C77C-5813B808EFDF}"/>
              </a:ext>
            </a:extLst>
          </p:cNvPr>
          <p:cNvSpPr>
            <a:spLocks noGrp="1"/>
          </p:cNvSpPr>
          <p:nvPr>
            <p:ph type="sldNum" sz="quarter" idx="5"/>
          </p:nvPr>
        </p:nvSpPr>
        <p:spPr/>
        <p:txBody>
          <a:bodyPr/>
          <a:lstStyle/>
          <a:p>
            <a:fld id="{A6837353-30EB-4A48-80EB-173D804AEFBD}" type="slidenum">
              <a:rPr lang="zh-CN" altLang="en-US" smtClean="0"/>
              <a:t>45</a:t>
            </a:fld>
            <a:endParaRPr lang="zh-CN" altLang="en-US"/>
          </a:p>
        </p:txBody>
      </p:sp>
    </p:spTree>
    <p:extLst>
      <p:ext uri="{BB962C8B-B14F-4D97-AF65-F5344CB8AC3E}">
        <p14:creationId xmlns:p14="http://schemas.microsoft.com/office/powerpoint/2010/main" val="3570381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66D33-4FE5-4E59-6BA9-0F10A7612F3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B98C35B-45F5-8BD9-5A74-A534C9F2E4F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ADE01A1-6DAC-43BF-9A3E-ECE5B51AAA04}"/>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FA5DE89C-D557-29A3-3AAB-AB3568B79871}"/>
              </a:ext>
            </a:extLst>
          </p:cNvPr>
          <p:cNvSpPr>
            <a:spLocks noGrp="1"/>
          </p:cNvSpPr>
          <p:nvPr>
            <p:ph type="sldNum" sz="quarter" idx="5"/>
          </p:nvPr>
        </p:nvSpPr>
        <p:spPr/>
        <p:txBody>
          <a:bodyPr/>
          <a:lstStyle/>
          <a:p>
            <a:fld id="{A6837353-30EB-4A48-80EB-173D804AEFBD}" type="slidenum">
              <a:rPr lang="zh-CN" altLang="en-US" smtClean="0"/>
              <a:t>46</a:t>
            </a:fld>
            <a:endParaRPr lang="zh-CN" altLang="en-US"/>
          </a:p>
        </p:txBody>
      </p:sp>
    </p:spTree>
    <p:extLst>
      <p:ext uri="{BB962C8B-B14F-4D97-AF65-F5344CB8AC3E}">
        <p14:creationId xmlns:p14="http://schemas.microsoft.com/office/powerpoint/2010/main" val="376164947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AFA41-0932-94C0-5D83-D45BEB87741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A1E7909-04AD-9E6C-06D5-5D759DFE088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62778A2-019F-790A-32C0-3BA0D102049A}"/>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C20F9B34-333F-DD0C-DF71-2728E8C25965}"/>
              </a:ext>
            </a:extLst>
          </p:cNvPr>
          <p:cNvSpPr>
            <a:spLocks noGrp="1"/>
          </p:cNvSpPr>
          <p:nvPr>
            <p:ph type="sldNum" sz="quarter" idx="5"/>
          </p:nvPr>
        </p:nvSpPr>
        <p:spPr/>
        <p:txBody>
          <a:bodyPr/>
          <a:lstStyle/>
          <a:p>
            <a:fld id="{A6837353-30EB-4A48-80EB-173D804AEFBD}" type="slidenum">
              <a:rPr lang="zh-CN" altLang="en-US" smtClean="0"/>
              <a:t>47</a:t>
            </a:fld>
            <a:endParaRPr lang="zh-CN" altLang="en-US"/>
          </a:p>
        </p:txBody>
      </p:sp>
    </p:spTree>
    <p:extLst>
      <p:ext uri="{BB962C8B-B14F-4D97-AF65-F5344CB8AC3E}">
        <p14:creationId xmlns:p14="http://schemas.microsoft.com/office/powerpoint/2010/main" val="322379955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03A05-AEC2-C2A7-AA0B-C2A43730173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CF22906-9244-1112-D5CC-F7C6D47EA23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DAB96D5-C4E5-9B2D-E2AF-5E85E06176BC}"/>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CE7EE482-C621-AF64-65B4-95A4C7767BD7}"/>
              </a:ext>
            </a:extLst>
          </p:cNvPr>
          <p:cNvSpPr>
            <a:spLocks noGrp="1"/>
          </p:cNvSpPr>
          <p:nvPr>
            <p:ph type="sldNum" sz="quarter" idx="5"/>
          </p:nvPr>
        </p:nvSpPr>
        <p:spPr/>
        <p:txBody>
          <a:bodyPr/>
          <a:lstStyle/>
          <a:p>
            <a:fld id="{A6837353-30EB-4A48-80EB-173D804AEFBD}" type="slidenum">
              <a:rPr lang="zh-CN" altLang="en-US" smtClean="0"/>
              <a:t>48</a:t>
            </a:fld>
            <a:endParaRPr lang="zh-CN" altLang="en-US"/>
          </a:p>
        </p:txBody>
      </p:sp>
    </p:spTree>
    <p:extLst>
      <p:ext uri="{BB962C8B-B14F-4D97-AF65-F5344CB8AC3E}">
        <p14:creationId xmlns:p14="http://schemas.microsoft.com/office/powerpoint/2010/main" val="283673965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5E106-30A8-C2D5-8F23-2E28E4D16BA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0883C86-4312-BE6F-A925-5FAC020B07B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CB0E797-1F0B-232A-A6AC-C14C7878AC70}"/>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76604E16-D1F5-C1E8-5FC5-0EB7BC3CD930}"/>
              </a:ext>
            </a:extLst>
          </p:cNvPr>
          <p:cNvSpPr>
            <a:spLocks noGrp="1"/>
          </p:cNvSpPr>
          <p:nvPr>
            <p:ph type="sldNum" sz="quarter" idx="5"/>
          </p:nvPr>
        </p:nvSpPr>
        <p:spPr/>
        <p:txBody>
          <a:bodyPr/>
          <a:lstStyle/>
          <a:p>
            <a:fld id="{A6837353-30EB-4A48-80EB-173D804AEFBD}" type="slidenum">
              <a:rPr lang="zh-CN" altLang="en-US" smtClean="0"/>
              <a:t>49</a:t>
            </a:fld>
            <a:endParaRPr lang="zh-CN" altLang="en-US"/>
          </a:p>
        </p:txBody>
      </p:sp>
    </p:spTree>
    <p:extLst>
      <p:ext uri="{BB962C8B-B14F-4D97-AF65-F5344CB8AC3E}">
        <p14:creationId xmlns:p14="http://schemas.microsoft.com/office/powerpoint/2010/main" val="14253935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F7146-155F-0CCA-A349-B61F948475C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11165DE-3276-7B7F-E955-268AC63C05B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14D6BA-3A5B-D6D8-14DA-6D241F03D21D}"/>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BC800107-684B-01D5-9FAD-6052279E8551}"/>
              </a:ext>
            </a:extLst>
          </p:cNvPr>
          <p:cNvSpPr>
            <a:spLocks noGrp="1"/>
          </p:cNvSpPr>
          <p:nvPr>
            <p:ph type="sldNum" sz="quarter" idx="5"/>
          </p:nvPr>
        </p:nvSpPr>
        <p:spPr/>
        <p:txBody>
          <a:bodyPr/>
          <a:lstStyle/>
          <a:p>
            <a:fld id="{A6837353-30EB-4A48-80EB-173D804AEFBD}" type="slidenum">
              <a:rPr lang="zh-CN" altLang="en-US" smtClean="0"/>
              <a:t>50</a:t>
            </a:fld>
            <a:endParaRPr lang="zh-CN" altLang="en-US"/>
          </a:p>
        </p:txBody>
      </p:sp>
    </p:spTree>
    <p:extLst>
      <p:ext uri="{BB962C8B-B14F-4D97-AF65-F5344CB8AC3E}">
        <p14:creationId xmlns:p14="http://schemas.microsoft.com/office/powerpoint/2010/main" val="102951763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39FAE-7E57-E021-68B3-6F1072D49C4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0DEA894-8AF5-0698-DD1B-26EED366F21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A89957D-9842-0F18-E9F8-5506CB32A15A}"/>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0DA0C794-620C-F2D6-C668-0ED238650385}"/>
              </a:ext>
            </a:extLst>
          </p:cNvPr>
          <p:cNvSpPr>
            <a:spLocks noGrp="1"/>
          </p:cNvSpPr>
          <p:nvPr>
            <p:ph type="sldNum" sz="quarter" idx="5"/>
          </p:nvPr>
        </p:nvSpPr>
        <p:spPr/>
        <p:txBody>
          <a:bodyPr/>
          <a:lstStyle/>
          <a:p>
            <a:fld id="{A6837353-30EB-4A48-80EB-173D804AEFBD}" type="slidenum">
              <a:rPr lang="zh-CN" altLang="en-US" smtClean="0"/>
              <a:t>51</a:t>
            </a:fld>
            <a:endParaRPr lang="zh-CN" altLang="en-US"/>
          </a:p>
        </p:txBody>
      </p:sp>
    </p:spTree>
    <p:extLst>
      <p:ext uri="{BB962C8B-B14F-4D97-AF65-F5344CB8AC3E}">
        <p14:creationId xmlns:p14="http://schemas.microsoft.com/office/powerpoint/2010/main" val="16302264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E0B07-74F5-EADE-84E9-5968585DB2B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2A80732-1B0F-275A-5AF1-A9AF15BB370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E2CE777-DA6A-1BC4-33EF-37DBEE0EE239}"/>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F9A6A0AA-3B86-6AC3-3148-B4FA2BD1C69C}"/>
              </a:ext>
            </a:extLst>
          </p:cNvPr>
          <p:cNvSpPr>
            <a:spLocks noGrp="1"/>
          </p:cNvSpPr>
          <p:nvPr>
            <p:ph type="sldNum" sz="quarter" idx="5"/>
          </p:nvPr>
        </p:nvSpPr>
        <p:spPr/>
        <p:txBody>
          <a:bodyPr/>
          <a:lstStyle/>
          <a:p>
            <a:fld id="{A6837353-30EB-4A48-80EB-173D804AEFBD}" type="slidenum">
              <a:rPr lang="zh-CN" altLang="en-US" smtClean="0"/>
              <a:t>52</a:t>
            </a:fld>
            <a:endParaRPr lang="zh-CN" altLang="en-US"/>
          </a:p>
        </p:txBody>
      </p:sp>
    </p:spTree>
    <p:extLst>
      <p:ext uri="{BB962C8B-B14F-4D97-AF65-F5344CB8AC3E}">
        <p14:creationId xmlns:p14="http://schemas.microsoft.com/office/powerpoint/2010/main" val="186047196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C3BB7-ED4D-C6A6-E119-87A2C111F88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EFA408F-0855-FA35-2820-8093007FE23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5C316A6-1C69-5D73-30A3-7C92F867982C}"/>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F49A0385-26E7-1C6F-E7DF-27367B04A076}"/>
              </a:ext>
            </a:extLst>
          </p:cNvPr>
          <p:cNvSpPr>
            <a:spLocks noGrp="1"/>
          </p:cNvSpPr>
          <p:nvPr>
            <p:ph type="sldNum" sz="quarter" idx="5"/>
          </p:nvPr>
        </p:nvSpPr>
        <p:spPr/>
        <p:txBody>
          <a:bodyPr/>
          <a:lstStyle/>
          <a:p>
            <a:fld id="{A6837353-30EB-4A48-80EB-173D804AEFBD}" type="slidenum">
              <a:rPr lang="zh-CN" altLang="en-US" smtClean="0"/>
              <a:t>53</a:t>
            </a:fld>
            <a:endParaRPr lang="zh-CN" altLang="en-US"/>
          </a:p>
        </p:txBody>
      </p:sp>
    </p:spTree>
    <p:extLst>
      <p:ext uri="{BB962C8B-B14F-4D97-AF65-F5344CB8AC3E}">
        <p14:creationId xmlns:p14="http://schemas.microsoft.com/office/powerpoint/2010/main" val="259129738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54</a:t>
            </a:fld>
            <a:endParaRPr lang="zh-CN" altLang="en-US"/>
          </a:p>
        </p:txBody>
      </p:sp>
    </p:spTree>
    <p:extLst>
      <p:ext uri="{BB962C8B-B14F-4D97-AF65-F5344CB8AC3E}">
        <p14:creationId xmlns:p14="http://schemas.microsoft.com/office/powerpoint/2010/main" val="24202481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userDrawn="1"/>
        </p:nvSpPr>
        <p:spPr>
          <a:xfrm>
            <a:off x="-5080" y="-2540"/>
            <a:ext cx="12202160" cy="6862445"/>
          </a:xfrm>
          <a:prstGeom prst="rect">
            <a:avLst/>
          </a:prstGeom>
          <a:blipFill>
            <a:blip r:embed="rId2"/>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宋韵朗黑W" panose="00020600040101010101" charset="-122"/>
              <a:ea typeface="汉仪宋韵朗黑W" panose="00020600040101010101" charset="-122"/>
              <a:cs typeface="汉仪宋韵朗黑W" panose="00020600040101010101"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2025/9/10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2025/9/10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2025/9/10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2025/9/10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2025/9/10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2025/9/10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2025/9/10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2025/9/10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2025/9/10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2025/9/10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汉仪宋韵朗黑W" panose="00020600040101010101" charset="-122"/>
                <a:ea typeface="汉仪宋韵朗黑W" panose="00020600040101010101" charset="-122"/>
                <a:cs typeface="汉仪宋韵朗黑W" panose="00020600040101010101" charset="-122"/>
              </a:defRPr>
            </a:lvl1pPr>
          </a:lstStyle>
          <a:p>
            <a:fld id="{D997B5FA-0921-464F-AAE1-844C04324D75}" type="datetimeFigureOut">
              <a:rPr lang="zh-CN" altLang="en-US" smtClean="0"/>
              <a:t>2025/9/10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汉仪宋韵朗黑W" panose="00020600040101010101" charset="-122"/>
                <a:ea typeface="汉仪宋韵朗黑W" panose="00020600040101010101" charset="-122"/>
                <a:cs typeface="汉仪宋韵朗黑W" panose="00020600040101010101"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汉仪宋韵朗黑W" panose="00020600040101010101" charset="-122"/>
                <a:ea typeface="汉仪宋韵朗黑W" panose="00020600040101010101" charset="-122"/>
                <a:cs typeface="汉仪宋韵朗黑W" panose="00020600040101010101" charset="-122"/>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汉仪宋韵朗黑W" panose="00020600040101010101" charset="-122"/>
          <a:ea typeface="汉仪宋韵朗黑W" panose="00020600040101010101" charset="-122"/>
          <a:cs typeface="汉仪宋韵朗黑W" panose="00020600040101010101"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汉仪宋韵朗黑W" panose="00020600040101010101" charset="-122"/>
          <a:ea typeface="汉仪宋韵朗黑W" panose="00020600040101010101" charset="-122"/>
          <a:cs typeface="汉仪宋韵朗黑W" panose="00020600040101010101"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汉仪宋韵朗黑W" panose="00020600040101010101" charset="-122"/>
          <a:ea typeface="汉仪宋韵朗黑W" panose="00020600040101010101" charset="-122"/>
          <a:cs typeface="汉仪宋韵朗黑W" panose="00020600040101010101"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汉仪宋韵朗黑W" panose="00020600040101010101" charset="-122"/>
          <a:ea typeface="汉仪宋韵朗黑W" panose="00020600040101010101" charset="-122"/>
          <a:cs typeface="汉仪宋韵朗黑W" panose="00020600040101010101"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汉仪宋韵朗黑W" panose="00020600040101010101" charset="-122"/>
          <a:ea typeface="汉仪宋韵朗黑W" panose="00020600040101010101" charset="-122"/>
          <a:cs typeface="汉仪宋韵朗黑W" panose="00020600040101010101"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汉仪宋韵朗黑W" panose="00020600040101010101" charset="-122"/>
          <a:ea typeface="汉仪宋韵朗黑W" panose="00020600040101010101" charset="-122"/>
          <a:cs typeface="汉仪宋韵朗黑W" panose="0002060004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microsoft.com/office/2018/10/relationships/comments" Target="../comments/modernComment_127_0.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hyperlink" Target="https://www.nature.com/articles/s41591-024-03186-1" TargetMode="External"/><Relationship Id="rId4" Type="http://schemas.openxmlformats.org/officeDocument/2006/relationships/hyperlink" Target="https://www.ipcc.ch/report/ar6/wg1/" TargetMode="External"/></Relationships>
</file>

<file path=ppt/slides/_rels/slide3.xml.rels><?xml version="1.0" encoding="UTF-8" standalone="yes"?>
<Relationships xmlns="http://schemas.openxmlformats.org/package/2006/relationships"><Relationship Id="rId3" Type="http://schemas.microsoft.com/office/2018/10/relationships/comments" Target="../comments/modernComment_13D_1CFCB2A1.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29_0.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microsoft.com/office/2018/10/relationships/comments" Target="../comments/modernComment_133_A6B72E9.xm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3.jpeg"/></Relationships>
</file>

<file path=ppt/slides/_rels/slide2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3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image" Target="../media/image45.png"/></Relationships>
</file>

<file path=ppt/slides/_rel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4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hyperlink" Target="https://doi.org/10.1098/rspa.1998.0193" TargetMode="External"/><Relationship Id="rId2" Type="http://schemas.openxmlformats.org/officeDocument/2006/relationships/notesSlide" Target="../notesSlides/notesSlide52.xml"/><Relationship Id="rId1" Type="http://schemas.openxmlformats.org/officeDocument/2006/relationships/slideLayout" Target="../slideLayouts/slideLayout1.xml"/><Relationship Id="rId5" Type="http://schemas.openxmlformats.org/officeDocument/2006/relationships/hyperlink" Target="https://doi.org/10.1142/S1793536909000047" TargetMode="External"/><Relationship Id="rId4" Type="http://schemas.openxmlformats.org/officeDocument/2006/relationships/hyperlink" Target="https://doi.org/10.1109/ICASSP.2011.5947265" TargetMode="External"/></Relationships>
</file>

<file path=ppt/slides/_rels/slide5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31604" y="2401949"/>
            <a:ext cx="10079990" cy="1753235"/>
          </a:xfrm>
          <a:prstGeom prst="rect">
            <a:avLst/>
          </a:prstGeom>
          <a:noFill/>
        </p:spPr>
        <p:txBody>
          <a:bodyPr wrap="square" rtlCol="0">
            <a:spAutoFit/>
          </a:bodyPr>
          <a:lstStyle/>
          <a:p>
            <a:pPr algn="l"/>
            <a:r>
              <a:rPr lang="en-US" altLang="zh-CN" sz="3600" b="1" dirty="0">
                <a:solidFill>
                  <a:srgbClr val="1F2E3F"/>
                </a:solidFill>
                <a:latin typeface="汉仪宋韵朗黑W" panose="00020600040101010101" charset="-122"/>
                <a:ea typeface="汉仪宋韵朗黑W" panose="00020600040101010101" charset="-122"/>
                <a:cs typeface="汉仪宋韵朗黑W" panose="00020600040101010101" charset="-122"/>
              </a:rPr>
              <a:t>Prediction of Extreme Weather Events: Machine Learning Models Trained on Multivariate Meteorological Data</a:t>
            </a:r>
          </a:p>
        </p:txBody>
      </p:sp>
      <p:sp>
        <p:nvSpPr>
          <p:cNvPr id="6" name="文本框 5"/>
          <p:cNvSpPr txBox="1"/>
          <p:nvPr/>
        </p:nvSpPr>
        <p:spPr>
          <a:xfrm>
            <a:off x="1848167" y="4449798"/>
            <a:ext cx="2908300" cy="429895"/>
          </a:xfrm>
          <a:prstGeom prst="rect">
            <a:avLst/>
          </a:prstGeom>
          <a:noFill/>
        </p:spPr>
        <p:txBody>
          <a:bodyPr wrap="square" rtlCol="0" anchor="t">
            <a:spAutoFit/>
          </a:bodyPr>
          <a:lstStyle/>
          <a:p>
            <a:pPr algn="ctr"/>
            <a:r>
              <a:rPr lang="en-US" altLang="zh-CN" sz="2200" b="1" dirty="0">
                <a:solidFill>
                  <a:srgbClr val="1F2E3F"/>
                </a:solidFill>
                <a:effectLst/>
                <a:latin typeface="Trade Gothic Next Heavy" panose="020F0502020204030204" pitchFamily="34" charset="0"/>
                <a:ea typeface="汉仪宋韵朗黑W" panose="00020600040101010101" charset="-122"/>
                <a:cs typeface="汉仪宋韵朗黑W" panose="00020600040101010101" charset="-122"/>
              </a:rPr>
              <a:t>Name</a:t>
            </a:r>
            <a:r>
              <a:rPr lang="zh-CN" altLang="en-US" sz="2200" b="1" dirty="0">
                <a:solidFill>
                  <a:srgbClr val="1F2E3F"/>
                </a:solidFill>
                <a:effectLst/>
                <a:latin typeface="Trade Gothic Next Heavy" panose="020F0502020204030204" pitchFamily="34" charset="0"/>
                <a:ea typeface="汉仪宋韵朗黑W" panose="00020600040101010101" charset="-122"/>
                <a:cs typeface="汉仪宋韵朗黑W" panose="00020600040101010101" charset="-122"/>
              </a:rPr>
              <a:t>：</a:t>
            </a:r>
            <a:r>
              <a:rPr lang="en-US" altLang="zh-CN" sz="2200" b="1" dirty="0">
                <a:solidFill>
                  <a:srgbClr val="1F2E3F"/>
                </a:solidFill>
                <a:effectLst/>
                <a:latin typeface="Trade Gothic Next Heavy" panose="020F0502020204030204" pitchFamily="34" charset="0"/>
                <a:ea typeface="汉仪宋韵朗黑W" panose="00020600040101010101" charset="-122"/>
                <a:cs typeface="汉仪宋韵朗黑W" panose="00020600040101010101" charset="-122"/>
              </a:rPr>
              <a:t>Wang Shibo</a:t>
            </a:r>
          </a:p>
        </p:txBody>
      </p:sp>
      <p:sp>
        <p:nvSpPr>
          <p:cNvPr id="8" name="文本框 7"/>
          <p:cNvSpPr txBox="1"/>
          <p:nvPr/>
        </p:nvSpPr>
        <p:spPr>
          <a:xfrm>
            <a:off x="1793575" y="4897395"/>
            <a:ext cx="3831590" cy="429895"/>
          </a:xfrm>
          <a:prstGeom prst="rect">
            <a:avLst/>
          </a:prstGeom>
          <a:noFill/>
        </p:spPr>
        <p:txBody>
          <a:bodyPr wrap="square" rtlCol="0" anchor="t">
            <a:spAutoFit/>
          </a:bodyPr>
          <a:lstStyle/>
          <a:p>
            <a:pPr algn="ctr"/>
            <a:r>
              <a:rPr lang="en-US" altLang="zh-CN" sz="2200" b="1" dirty="0">
                <a:solidFill>
                  <a:srgbClr val="1F2E3F"/>
                </a:solidFill>
                <a:effectLst/>
                <a:latin typeface="Trade Gothic Next Heavy" panose="020F0502020204030204" pitchFamily="34" charset="0"/>
                <a:ea typeface="汉仪宋韵朗黑W" panose="00020600040101010101" charset="-122"/>
                <a:cs typeface="汉仪宋韵朗黑W" panose="00020600040101010101" charset="-122"/>
              </a:rPr>
              <a:t>Matric Number: 23111363</a:t>
            </a:r>
          </a:p>
        </p:txBody>
      </p:sp>
      <p:sp>
        <p:nvSpPr>
          <p:cNvPr id="12" name="半闭框 11"/>
          <p:cNvSpPr/>
          <p:nvPr/>
        </p:nvSpPr>
        <p:spPr>
          <a:xfrm>
            <a:off x="266065" y="285115"/>
            <a:ext cx="914400" cy="914400"/>
          </a:xfrm>
          <a:prstGeom prst="halfFrame">
            <a:avLst/>
          </a:prstGeom>
          <a:solidFill>
            <a:srgbClr val="1F2E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汉仪宋韵朗黑W" panose="00020600040101010101" charset="-122"/>
              <a:ea typeface="汉仪宋韵朗黑W" panose="00020600040101010101" charset="-122"/>
              <a:cs typeface="汉仪宋韵朗黑W" panose="00020600040101010101" charset="-122"/>
            </a:endParaRPr>
          </a:p>
        </p:txBody>
      </p:sp>
      <p:sp>
        <p:nvSpPr>
          <p:cNvPr id="13" name="半闭框 12"/>
          <p:cNvSpPr/>
          <p:nvPr/>
        </p:nvSpPr>
        <p:spPr>
          <a:xfrm rot="5400000" flipH="1">
            <a:off x="11028680" y="5547360"/>
            <a:ext cx="914400" cy="914400"/>
          </a:xfrm>
          <a:prstGeom prst="halfFrame">
            <a:avLst/>
          </a:prstGeom>
          <a:solidFill>
            <a:srgbClr val="1F2E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汉仪宋韵朗黑W" panose="00020600040101010101" charset="-122"/>
              <a:ea typeface="汉仪宋韵朗黑W" panose="00020600040101010101" charset="-122"/>
              <a:cs typeface="汉仪宋韵朗黑W" panose="00020600040101010101" charset="-122"/>
            </a:endParaRPr>
          </a:p>
        </p:txBody>
      </p:sp>
      <p:sp>
        <p:nvSpPr>
          <p:cNvPr id="14" name="矩形 13"/>
          <p:cNvSpPr/>
          <p:nvPr/>
        </p:nvSpPr>
        <p:spPr>
          <a:xfrm flipH="1">
            <a:off x="2482215" y="285115"/>
            <a:ext cx="9712960" cy="231140"/>
          </a:xfrm>
          <a:prstGeom prst="rect">
            <a:avLst/>
          </a:prstGeom>
          <a:solidFill>
            <a:srgbClr val="1F2E3F"/>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宋韵朗黑W" panose="00020600040101010101" charset="-122"/>
              <a:ea typeface="汉仪宋韵朗黑W" panose="00020600040101010101" charset="-122"/>
              <a:cs typeface="汉仪宋韵朗黑W" panose="00020600040101010101" charset="-122"/>
            </a:endParaRPr>
          </a:p>
        </p:txBody>
      </p:sp>
      <p:sp>
        <p:nvSpPr>
          <p:cNvPr id="15" name="矩形 14"/>
          <p:cNvSpPr/>
          <p:nvPr/>
        </p:nvSpPr>
        <p:spPr>
          <a:xfrm>
            <a:off x="4196715" y="580390"/>
            <a:ext cx="5976044" cy="85090"/>
          </a:xfrm>
          <a:prstGeom prst="rect">
            <a:avLst/>
          </a:prstGeom>
          <a:gradFill>
            <a:gsLst>
              <a:gs pos="52000">
                <a:srgbClr val="1F2E3F"/>
              </a:gs>
              <a:gs pos="100000">
                <a:schemeClr val="accent1">
                  <a:lumMod val="45000"/>
                  <a:lumOff val="55000"/>
                </a:schemeClr>
              </a:gs>
              <a:gs pos="100000">
                <a:schemeClr val="accent5">
                  <a:lumMod val="50000"/>
                </a:schemeClr>
              </a:gs>
              <a:gs pos="100000">
                <a:schemeClr val="accent1">
                  <a:lumMod val="30000"/>
                  <a:lumOff val="7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宋韵朗黑W" panose="00020600040101010101" charset="-122"/>
              <a:ea typeface="汉仪宋韵朗黑W" panose="00020600040101010101" charset="-122"/>
              <a:cs typeface="汉仪宋韵朗黑W" panose="00020600040101010101" charset="-122"/>
            </a:endParaRPr>
          </a:p>
        </p:txBody>
      </p:sp>
      <p:sp>
        <p:nvSpPr>
          <p:cNvPr id="18" name="矩形 17"/>
          <p:cNvSpPr/>
          <p:nvPr/>
        </p:nvSpPr>
        <p:spPr>
          <a:xfrm flipH="1">
            <a:off x="-4445" y="6113780"/>
            <a:ext cx="9895205" cy="231140"/>
          </a:xfrm>
          <a:prstGeom prst="rect">
            <a:avLst/>
          </a:prstGeom>
          <a:solidFill>
            <a:srgbClr val="1F2E3F"/>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宋韵朗黑W" panose="00020600040101010101" charset="-122"/>
              <a:ea typeface="汉仪宋韵朗黑W" panose="00020600040101010101" charset="-122"/>
              <a:cs typeface="汉仪宋韵朗黑W" panose="00020600040101010101" charset="-122"/>
            </a:endParaRPr>
          </a:p>
        </p:txBody>
      </p:sp>
      <p:sp>
        <p:nvSpPr>
          <p:cNvPr id="19" name="矩形 18"/>
          <p:cNvSpPr/>
          <p:nvPr/>
        </p:nvSpPr>
        <p:spPr>
          <a:xfrm>
            <a:off x="-4445" y="6409055"/>
            <a:ext cx="5976044" cy="85090"/>
          </a:xfrm>
          <a:prstGeom prst="rect">
            <a:avLst/>
          </a:prstGeom>
          <a:gradFill>
            <a:gsLst>
              <a:gs pos="52000">
                <a:srgbClr val="1F2E3F"/>
              </a:gs>
              <a:gs pos="100000">
                <a:schemeClr val="accent1">
                  <a:lumMod val="45000"/>
                  <a:lumOff val="55000"/>
                </a:schemeClr>
              </a:gs>
              <a:gs pos="100000">
                <a:schemeClr val="accent5">
                  <a:lumMod val="50000"/>
                </a:schemeClr>
              </a:gs>
              <a:gs pos="100000">
                <a:schemeClr val="accent1">
                  <a:lumMod val="30000"/>
                  <a:lumOff val="7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宋韵朗黑W" panose="00020600040101010101" charset="-122"/>
              <a:ea typeface="汉仪宋韵朗黑W" panose="00020600040101010101" charset="-122"/>
              <a:cs typeface="汉仪宋韵朗黑W" panose="00020600040101010101" charset="-122"/>
            </a:endParaRPr>
          </a:p>
        </p:txBody>
      </p:sp>
      <p:pic>
        <p:nvPicPr>
          <p:cNvPr id="10" name="图片 9" descr="1-92"/>
          <p:cNvPicPr>
            <a:picLocks noChangeAspect="1"/>
          </p:cNvPicPr>
          <p:nvPr/>
        </p:nvPicPr>
        <p:blipFill>
          <a:blip r:embed="rId3"/>
          <a:stretch>
            <a:fillRect/>
          </a:stretch>
        </p:blipFill>
        <p:spPr>
          <a:xfrm>
            <a:off x="4559317" y="811212"/>
            <a:ext cx="2131695" cy="1572260"/>
          </a:xfrm>
          <a:prstGeom prst="rect">
            <a:avLst/>
          </a:prstGeom>
        </p:spPr>
      </p:pic>
      <p:pic>
        <p:nvPicPr>
          <p:cNvPr id="2" name="图片 1"/>
          <p:cNvPicPr>
            <a:picLocks noChangeAspect="1"/>
          </p:cNvPicPr>
          <p:nvPr/>
        </p:nvPicPr>
        <p:blipFill>
          <a:blip r:embed="rId4">
            <a:clrChange>
              <a:clrFrom>
                <a:srgbClr val="C0C8DC">
                  <a:alpha val="100000"/>
                </a:srgbClr>
              </a:clrFrom>
              <a:clrTo>
                <a:srgbClr val="C0C8DC">
                  <a:alpha val="100000"/>
                  <a:alpha val="0"/>
                </a:srgbClr>
              </a:clrTo>
            </a:clrChange>
          </a:blip>
          <a:stretch>
            <a:fillRect/>
          </a:stretch>
        </p:blipFill>
        <p:spPr>
          <a:xfrm>
            <a:off x="9003769" y="865505"/>
            <a:ext cx="2667000" cy="1097280"/>
          </a:xfrm>
          <a:prstGeom prst="rect">
            <a:avLst/>
          </a:prstGeom>
        </p:spPr>
      </p:pic>
      <p:sp>
        <p:nvSpPr>
          <p:cNvPr id="5" name="文本框 4">
            <a:extLst>
              <a:ext uri="{FF2B5EF4-FFF2-40B4-BE49-F238E27FC236}">
                <a16:creationId xmlns:a16="http://schemas.microsoft.com/office/drawing/2014/main" id="{CFA78BF5-4475-1998-8819-0A2A697AD350}"/>
              </a:ext>
            </a:extLst>
          </p:cNvPr>
          <p:cNvSpPr txBox="1"/>
          <p:nvPr/>
        </p:nvSpPr>
        <p:spPr>
          <a:xfrm>
            <a:off x="1913355" y="5364301"/>
            <a:ext cx="6114196" cy="430887"/>
          </a:xfrm>
          <a:prstGeom prst="rect">
            <a:avLst/>
          </a:prstGeom>
          <a:noFill/>
        </p:spPr>
        <p:txBody>
          <a:bodyPr wrap="square">
            <a:spAutoFit/>
          </a:bodyPr>
          <a:lstStyle/>
          <a:p>
            <a:r>
              <a:rPr lang="en-US" altLang="zh-CN" sz="2200" b="1" dirty="0">
                <a:solidFill>
                  <a:srgbClr val="1F2E3F"/>
                </a:solidFill>
                <a:latin typeface="Trade Gothic Next Heavy" panose="020F0502020204030204" pitchFamily="34" charset="0"/>
                <a:ea typeface="汉仪宋韵朗黑W" panose="00020600040101010101" charset="-122"/>
              </a:rPr>
              <a:t>Supervisor</a:t>
            </a:r>
            <a:r>
              <a:rPr lang="en-US" altLang="zh-CN" sz="1800" kern="0" dirty="0">
                <a:effectLst/>
                <a:latin typeface="Trade Gothic Next Heavy" panose="020F0502020204030204" pitchFamily="34" charset="0"/>
                <a:ea typeface="等线" panose="02010600030101010101" pitchFamily="2" charset="-122"/>
                <a:cs typeface="Times New Roman" panose="02020603050405020304" pitchFamily="18" charset="0"/>
              </a:rPr>
              <a:t> : </a:t>
            </a:r>
            <a:r>
              <a:rPr lang="en-US" altLang="zh-CN" sz="2200" b="1" dirty="0">
                <a:solidFill>
                  <a:srgbClr val="1F2E3F"/>
                </a:solidFill>
                <a:latin typeface="Trade Gothic Next Heavy" panose="020F0502020204030204" pitchFamily="34" charset="0"/>
                <a:ea typeface="汉仪宋韵朗黑W" panose="00020600040101010101" charset="-122"/>
              </a:rPr>
              <a:t>HANNYZZURA BINTI PAL AFFAL</a:t>
            </a:r>
            <a:endParaRPr lang="zh-CN" altLang="en-US" sz="2200" b="1" dirty="0">
              <a:solidFill>
                <a:srgbClr val="1F2E3F"/>
              </a:solidFill>
              <a:latin typeface="Trade Gothic Next Heavy" panose="020F0502020204030204" pitchFamily="34" charset="0"/>
              <a:ea typeface="汉仪宋韵朗黑W" panose="0002060004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grpSp>
        <p:nvGrpSpPr>
          <p:cNvPr id="12" name="组合 11"/>
          <p:cNvGrpSpPr/>
          <p:nvPr/>
        </p:nvGrpSpPr>
        <p:grpSpPr>
          <a:xfrm>
            <a:off x="277495" y="483235"/>
            <a:ext cx="7112355" cy="622935"/>
            <a:chOff x="423" y="400"/>
            <a:chExt cx="3748" cy="981"/>
          </a:xfrm>
        </p:grpSpPr>
        <p:sp>
          <p:nvSpPr>
            <p:cNvPr id="8" name="文本框 7"/>
            <p:cNvSpPr txBox="1"/>
            <p:nvPr/>
          </p:nvSpPr>
          <p:spPr>
            <a:xfrm>
              <a:off x="423" y="400"/>
              <a:ext cx="811" cy="979"/>
            </a:xfrm>
            <a:prstGeom prst="rect">
              <a:avLst/>
            </a:prstGeom>
            <a:noFill/>
          </p:spPr>
          <p:txBody>
            <a:bodyPr wrap="square" rtlCol="0">
              <a:noAutofit/>
            </a:bodyPr>
            <a:lstStyle/>
            <a:p>
              <a:r>
                <a:rPr lang="zh-CN" altLang="en-US" sz="3200" b="1">
                  <a:solidFill>
                    <a:srgbClr val="1F2E3F"/>
                  </a:solidFill>
                  <a:latin typeface="汉仪宋韵朗黑W" panose="00020600040101010101" charset="-122"/>
                  <a:ea typeface="汉仪宋韵朗黑W" panose="00020600040101010101" charset="-122"/>
                  <a:cs typeface="Arial" panose="020B0604020202020204" pitchFamily="34" charset="0"/>
                </a:rPr>
                <a:t>►</a:t>
              </a:r>
            </a:p>
          </p:txBody>
        </p:sp>
        <p:sp>
          <p:nvSpPr>
            <p:cNvPr id="11" name="矩形 10"/>
            <p:cNvSpPr/>
            <p:nvPr/>
          </p:nvSpPr>
          <p:spPr>
            <a:xfrm>
              <a:off x="620" y="1261"/>
              <a:ext cx="3551" cy="120"/>
            </a:xfrm>
            <a:prstGeom prst="rect">
              <a:avLst/>
            </a:prstGeom>
            <a:solidFill>
              <a:srgbClr val="1F2E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宋韵朗黑W" panose="00020600040101010101" charset="-122"/>
                <a:ea typeface="汉仪宋韵朗黑W" panose="00020600040101010101" charset="-122"/>
                <a:cs typeface="汉仪宋韵朗黑W" panose="00020600040101010101" charset="-122"/>
              </a:endParaRPr>
            </a:p>
          </p:txBody>
        </p:sp>
      </p:grpSp>
      <p:sp>
        <p:nvSpPr>
          <p:cNvPr id="14" name="文本框 13"/>
          <p:cNvSpPr txBox="1"/>
          <p:nvPr/>
        </p:nvSpPr>
        <p:spPr>
          <a:xfrm>
            <a:off x="738505" y="274955"/>
            <a:ext cx="7829550" cy="829945"/>
          </a:xfrm>
          <a:prstGeom prst="rect">
            <a:avLst/>
          </a:prstGeom>
          <a:noFill/>
        </p:spPr>
        <p:txBody>
          <a:bodyPr wrap="square" rtlCol="0" anchor="t">
            <a:spAutoFit/>
          </a:bodyPr>
          <a:lstStyle/>
          <a:p>
            <a:r>
              <a:rPr lang="en-US" altLang="zh-CN" sz="4800" b="1" dirty="0"/>
              <a:t>Introduction- Background</a:t>
            </a:r>
          </a:p>
        </p:txBody>
      </p:sp>
      <p:sp>
        <p:nvSpPr>
          <p:cNvPr id="3" name="文本框 2"/>
          <p:cNvSpPr txBox="1"/>
          <p:nvPr/>
        </p:nvSpPr>
        <p:spPr>
          <a:xfrm>
            <a:off x="277495" y="1313180"/>
            <a:ext cx="7112355" cy="3675380"/>
          </a:xfrm>
          <a:prstGeom prst="rect">
            <a:avLst/>
          </a:prstGeom>
          <a:noFill/>
        </p:spPr>
        <p:txBody>
          <a:bodyPr wrap="square" rtlCol="0" anchor="t">
            <a:noAutofit/>
          </a:bodyPr>
          <a:lstStyle/>
          <a:p>
            <a:r>
              <a:rPr lang="zh-CN" altLang="en-US" sz="2000" b="1" dirty="0">
                <a:solidFill>
                  <a:srgbClr val="1F2E3F"/>
                </a:solidFill>
                <a:latin typeface="汉仪宋韵朗黑W" panose="00020600040101010101" charset="-122"/>
                <a:ea typeface="汉仪宋韵朗黑W" panose="00020600040101010101" charset="-122"/>
                <a:cs typeface="Arial" panose="020B0604020202020204" pitchFamily="34" charset="0"/>
                <a:sym typeface="+mn-ea"/>
              </a:rPr>
              <a:t>►</a:t>
            </a:r>
            <a:r>
              <a:rPr lang="en-US" altLang="zh-CN" sz="2000" b="1" dirty="0">
                <a:latin typeface="Calibri (正文)" charset="0"/>
              </a:rPr>
              <a:t>Global warming and human activities worsen weather conditions</a:t>
            </a:r>
          </a:p>
          <a:p>
            <a:endParaRPr lang="en-US" altLang="zh-CN" sz="2000" b="1" dirty="0">
              <a:latin typeface="Calibri (正文)" charset="0"/>
            </a:endParaRPr>
          </a:p>
          <a:p>
            <a:pPr marL="342900" indent="-342900">
              <a:buFont typeface="Arial" panose="020B0604020202020204" pitchFamily="34" charset="0"/>
              <a:buChar char="•"/>
            </a:pPr>
            <a:r>
              <a:rPr lang="en-US" altLang="zh-CN" sz="2000" dirty="0"/>
              <a:t>Extreme weather like drought and floods, is increasing due to global warming.</a:t>
            </a:r>
          </a:p>
          <a:p>
            <a:pPr marL="342900" indent="-342900">
              <a:buFont typeface="Arial" panose="020B0604020202020204" pitchFamily="34" charset="0"/>
              <a:buChar char="•"/>
            </a:pPr>
            <a:endParaRPr lang="en-US" altLang="zh-CN" sz="2000" dirty="0"/>
          </a:p>
          <a:p>
            <a:pPr marL="342900" indent="-342900">
              <a:buFont typeface="Arial" panose="020B0604020202020204" pitchFamily="34" charset="0"/>
              <a:buChar char="•"/>
            </a:pPr>
            <a:r>
              <a:rPr lang="en-US" altLang="zh-CN" sz="2000" dirty="0"/>
              <a:t>According to the </a:t>
            </a:r>
            <a:r>
              <a:rPr lang="en-US" altLang="zh-CN" sz="2000" dirty="0">
                <a:hlinkClick r:id="rId4"/>
              </a:rPr>
              <a:t>Intergovernmental Panel on Climate Change (IPCC)’s Sixth Assessment Report</a:t>
            </a:r>
            <a:r>
              <a:rPr lang="en-US" altLang="zh-CN" sz="2000" dirty="0"/>
              <a:t> released in 2021, the human-caused rise in greenhouse gases has increased the frequency and intensity of extreme weather events. </a:t>
            </a:r>
          </a:p>
          <a:p>
            <a:pPr marL="342900" indent="-342900">
              <a:buFont typeface="Arial" panose="020B0604020202020204" pitchFamily="34" charset="0"/>
              <a:buChar char="•"/>
            </a:pPr>
            <a:endParaRPr lang="en-US" altLang="zh-CN" sz="2000" dirty="0"/>
          </a:p>
          <a:p>
            <a:pPr marL="342900" indent="-342900">
              <a:buFont typeface="Arial" panose="020B0604020202020204" pitchFamily="34" charset="0"/>
              <a:buChar char="•"/>
            </a:pPr>
            <a:r>
              <a:rPr lang="en-US" altLang="zh-CN" dirty="0"/>
              <a:t>One study in </a:t>
            </a:r>
            <a:r>
              <a:rPr lang="en-US" altLang="zh-CN" dirty="0">
                <a:hlinkClick r:id="rId5"/>
              </a:rPr>
              <a:t>Nature Medicine</a:t>
            </a:r>
            <a:r>
              <a:rPr lang="en-US" altLang="zh-CN" dirty="0"/>
              <a:t> estimated that over 47,000 excess deaths occurred in Europe due to drought in 2023</a:t>
            </a:r>
          </a:p>
          <a:p>
            <a:pPr marL="285750" indent="-285750">
              <a:lnSpc>
                <a:spcPct val="150000"/>
              </a:lnSpc>
              <a:buFont typeface="Arial" panose="020B0604020202020204" pitchFamily="34" charset="0"/>
              <a:buChar char="•"/>
            </a:pPr>
            <a:endParaRPr lang="en-US" altLang="zh-CN" sz="2000" dirty="0">
              <a:latin typeface="Calibri (正文)" charset="0"/>
              <a:cs typeface="Calibri (正文)" charset="0"/>
            </a:endParaRPr>
          </a:p>
        </p:txBody>
      </p:sp>
      <p:pic>
        <p:nvPicPr>
          <p:cNvPr id="19" name="图片 18" descr="图示, 日程表&#10;&#10;AI 生成的内容可能不正确。">
            <a:extLst>
              <a:ext uri="{FF2B5EF4-FFF2-40B4-BE49-F238E27FC236}">
                <a16:creationId xmlns:a16="http://schemas.microsoft.com/office/drawing/2014/main" id="{5FFF37FB-91F7-2A9C-DF35-12479336B4A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77025" y="0"/>
            <a:ext cx="4714975" cy="6858000"/>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EB3D9-0AE8-F724-83CB-97F966DC2490}"/>
            </a:ext>
          </a:extLst>
        </p:cNvPr>
        <p:cNvGrpSpPr/>
        <p:nvPr/>
      </p:nvGrpSpPr>
      <p:grpSpPr>
        <a:xfrm>
          <a:off x="0" y="0"/>
          <a:ext cx="0" cy="0"/>
          <a:chOff x="0" y="0"/>
          <a:chExt cx="0" cy="0"/>
        </a:xfrm>
      </p:grpSpPr>
      <p:grpSp>
        <p:nvGrpSpPr>
          <p:cNvPr id="12" name="组合 11">
            <a:extLst>
              <a:ext uri="{FF2B5EF4-FFF2-40B4-BE49-F238E27FC236}">
                <a16:creationId xmlns:a16="http://schemas.microsoft.com/office/drawing/2014/main" id="{497F01D7-A5C5-936F-EAF0-0604BEE70E5A}"/>
              </a:ext>
            </a:extLst>
          </p:cNvPr>
          <p:cNvGrpSpPr/>
          <p:nvPr/>
        </p:nvGrpSpPr>
        <p:grpSpPr>
          <a:xfrm>
            <a:off x="277495" y="483235"/>
            <a:ext cx="7112355" cy="622935"/>
            <a:chOff x="423" y="400"/>
            <a:chExt cx="3748" cy="981"/>
          </a:xfrm>
        </p:grpSpPr>
        <p:sp>
          <p:nvSpPr>
            <p:cNvPr id="8" name="文本框 7">
              <a:extLst>
                <a:ext uri="{FF2B5EF4-FFF2-40B4-BE49-F238E27FC236}">
                  <a16:creationId xmlns:a16="http://schemas.microsoft.com/office/drawing/2014/main" id="{85D3C91A-F018-09F9-0232-E529F284500D}"/>
                </a:ext>
              </a:extLst>
            </p:cNvPr>
            <p:cNvSpPr txBox="1"/>
            <p:nvPr/>
          </p:nvSpPr>
          <p:spPr>
            <a:xfrm>
              <a:off x="423" y="400"/>
              <a:ext cx="811" cy="979"/>
            </a:xfrm>
            <a:prstGeom prst="rect">
              <a:avLst/>
            </a:prstGeom>
            <a:noFill/>
          </p:spPr>
          <p:txBody>
            <a:bodyPr wrap="square" rtlCol="0">
              <a:noAutofit/>
            </a:bodyPr>
            <a:lstStyle/>
            <a:p>
              <a:r>
                <a:rPr lang="zh-CN" altLang="en-US" sz="3200" b="1">
                  <a:solidFill>
                    <a:srgbClr val="1F2E3F"/>
                  </a:solidFill>
                  <a:latin typeface="汉仪宋韵朗黑W" panose="00020600040101010101" charset="-122"/>
                  <a:ea typeface="汉仪宋韵朗黑W" panose="00020600040101010101" charset="-122"/>
                  <a:cs typeface="Arial" panose="020B0604020202020204" pitchFamily="34" charset="0"/>
                </a:rPr>
                <a:t>►</a:t>
              </a:r>
            </a:p>
          </p:txBody>
        </p:sp>
        <p:sp>
          <p:nvSpPr>
            <p:cNvPr id="11" name="矩形 10">
              <a:extLst>
                <a:ext uri="{FF2B5EF4-FFF2-40B4-BE49-F238E27FC236}">
                  <a16:creationId xmlns:a16="http://schemas.microsoft.com/office/drawing/2014/main" id="{2C00CC4D-830D-7AC6-67DE-3CB7BA2D0C79}"/>
                </a:ext>
              </a:extLst>
            </p:cNvPr>
            <p:cNvSpPr/>
            <p:nvPr/>
          </p:nvSpPr>
          <p:spPr>
            <a:xfrm>
              <a:off x="620" y="1261"/>
              <a:ext cx="3551" cy="120"/>
            </a:xfrm>
            <a:prstGeom prst="rect">
              <a:avLst/>
            </a:prstGeom>
            <a:solidFill>
              <a:srgbClr val="1F2E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宋韵朗黑W" panose="00020600040101010101" charset="-122"/>
                <a:ea typeface="汉仪宋韵朗黑W" panose="00020600040101010101" charset="-122"/>
                <a:cs typeface="汉仪宋韵朗黑W" panose="00020600040101010101" charset="-122"/>
              </a:endParaRPr>
            </a:p>
          </p:txBody>
        </p:sp>
      </p:grpSp>
      <p:sp>
        <p:nvSpPr>
          <p:cNvPr id="14" name="文本框 13">
            <a:extLst>
              <a:ext uri="{FF2B5EF4-FFF2-40B4-BE49-F238E27FC236}">
                <a16:creationId xmlns:a16="http://schemas.microsoft.com/office/drawing/2014/main" id="{AD88C818-A490-AEA1-969C-E3B6446CE0F0}"/>
              </a:ext>
            </a:extLst>
          </p:cNvPr>
          <p:cNvSpPr txBox="1"/>
          <p:nvPr/>
        </p:nvSpPr>
        <p:spPr>
          <a:xfrm>
            <a:off x="738505" y="274955"/>
            <a:ext cx="7829550" cy="829945"/>
          </a:xfrm>
          <a:prstGeom prst="rect">
            <a:avLst/>
          </a:prstGeom>
          <a:noFill/>
        </p:spPr>
        <p:txBody>
          <a:bodyPr wrap="square" rtlCol="0" anchor="t">
            <a:spAutoFit/>
          </a:bodyPr>
          <a:lstStyle/>
          <a:p>
            <a:r>
              <a:rPr lang="en-US" altLang="zh-CN" sz="4800" b="1" dirty="0"/>
              <a:t>Introduction- Background</a:t>
            </a:r>
          </a:p>
        </p:txBody>
      </p:sp>
      <p:sp>
        <p:nvSpPr>
          <p:cNvPr id="3" name="文本框 2">
            <a:extLst>
              <a:ext uri="{FF2B5EF4-FFF2-40B4-BE49-F238E27FC236}">
                <a16:creationId xmlns:a16="http://schemas.microsoft.com/office/drawing/2014/main" id="{F5263426-740B-CFCE-F81C-5127BCF3E8D9}"/>
              </a:ext>
            </a:extLst>
          </p:cNvPr>
          <p:cNvSpPr txBox="1"/>
          <p:nvPr/>
        </p:nvSpPr>
        <p:spPr>
          <a:xfrm>
            <a:off x="543770" y="1768577"/>
            <a:ext cx="4109510" cy="3675380"/>
          </a:xfrm>
          <a:prstGeom prst="rect">
            <a:avLst/>
          </a:prstGeom>
          <a:noFill/>
        </p:spPr>
        <p:txBody>
          <a:bodyPr wrap="square" rtlCol="0" anchor="t">
            <a:noAutofit/>
          </a:bodyPr>
          <a:lstStyle/>
          <a:p>
            <a:r>
              <a:rPr lang="zh-CN" altLang="en-US" sz="2000" b="1" dirty="0">
                <a:solidFill>
                  <a:srgbClr val="1F2E3F"/>
                </a:solidFill>
                <a:latin typeface="汉仪宋韵朗黑W" panose="00020600040101010101" charset="-122"/>
                <a:ea typeface="汉仪宋韵朗黑W" panose="00020600040101010101" charset="-122"/>
                <a:cs typeface="Arial" panose="020B0604020202020204" pitchFamily="34" charset="0"/>
                <a:sym typeface="+mn-ea"/>
              </a:rPr>
              <a:t>►</a:t>
            </a:r>
            <a:r>
              <a:rPr lang="en-US" altLang="zh-CN" sz="2000" b="1" dirty="0">
                <a:latin typeface="Calibri (正文)" charset="0"/>
              </a:rPr>
              <a:t>Asia Faces Greater Risks from Climate Disasters</a:t>
            </a:r>
          </a:p>
          <a:p>
            <a:endParaRPr lang="en-US" altLang="zh-CN" sz="2000" b="1" dirty="0">
              <a:latin typeface="Calibri (正文)" charset="0"/>
            </a:endParaRPr>
          </a:p>
          <a:p>
            <a:pPr marL="342900" indent="-342900">
              <a:buFont typeface="Arial" panose="020B0604020202020204" pitchFamily="34" charset="0"/>
              <a:buChar char="•"/>
            </a:pPr>
            <a:r>
              <a:rPr lang="en-US" altLang="zh-CN" sz="2000" dirty="0">
                <a:latin typeface="Calibri (正文)" charset="0"/>
              </a:rPr>
              <a:t>Asia’s warming rate is higher than the global average, </a:t>
            </a:r>
            <a:r>
              <a:rPr lang="en-US" altLang="zh-CN" dirty="0"/>
              <a:t>nearly twice as fast as the global average (WMO).</a:t>
            </a:r>
            <a:endParaRPr lang="en-US" altLang="zh-CN" sz="2000" dirty="0">
              <a:latin typeface="Calibri (正文)" charset="0"/>
            </a:endParaRPr>
          </a:p>
          <a:p>
            <a:pPr marL="342900" indent="-342900">
              <a:buFont typeface="Arial" panose="020B0604020202020204" pitchFamily="34" charset="0"/>
              <a:buChar char="•"/>
            </a:pPr>
            <a:endParaRPr lang="en-US" altLang="zh-CN" sz="2000" dirty="0">
              <a:latin typeface="Calibri (正文)" charset="0"/>
            </a:endParaRPr>
          </a:p>
          <a:p>
            <a:pPr marL="342900" indent="-342900">
              <a:buFont typeface="Arial" panose="020B0604020202020204" pitchFamily="34" charset="0"/>
              <a:buChar char="•"/>
            </a:pPr>
            <a:r>
              <a:rPr lang="en-US" altLang="zh-CN" sz="2000" dirty="0">
                <a:latin typeface="Calibri (正文)" charset="0"/>
              </a:rPr>
              <a:t>In 2021, Asia had 4000 deaths and US$36B in losses from weather disasters.</a:t>
            </a:r>
          </a:p>
          <a:p>
            <a:pPr marL="342900" indent="-342900">
              <a:buFont typeface="Arial" panose="020B0604020202020204" pitchFamily="34" charset="0"/>
              <a:buChar char="•"/>
            </a:pPr>
            <a:endParaRPr lang="en-US" altLang="zh-CN" sz="2000" dirty="0">
              <a:latin typeface="Calibri (正文)" charset="0"/>
            </a:endParaRPr>
          </a:p>
          <a:p>
            <a:pPr marL="342900" indent="-342900">
              <a:buFont typeface="Arial" panose="020B0604020202020204" pitchFamily="34" charset="0"/>
              <a:buChar char="•"/>
            </a:pPr>
            <a:r>
              <a:rPr lang="en-US" altLang="zh-CN" sz="2000" dirty="0">
                <a:latin typeface="Calibri (正文)" charset="0"/>
              </a:rPr>
              <a:t>Floods were the most damaging, especially in China and Malaysia.</a:t>
            </a:r>
            <a:endParaRPr lang="en-US" altLang="zh-CN" sz="2000" dirty="0">
              <a:latin typeface="Calibri (正文)" charset="0"/>
              <a:cs typeface="Calibri (正文)" charset="0"/>
            </a:endParaRPr>
          </a:p>
        </p:txBody>
      </p:sp>
      <p:pic>
        <p:nvPicPr>
          <p:cNvPr id="5" name="图片 4" descr="图表&#10;&#10;AI 生成的内容可能不正确。">
            <a:extLst>
              <a:ext uri="{FF2B5EF4-FFF2-40B4-BE49-F238E27FC236}">
                <a16:creationId xmlns:a16="http://schemas.microsoft.com/office/drawing/2014/main" id="{BD2566EB-C816-2459-3470-ED44F5855F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60840" y="1530985"/>
            <a:ext cx="7094835" cy="4336156"/>
          </a:xfrm>
          <a:prstGeom prst="rect">
            <a:avLst/>
          </a:prstGeom>
        </p:spPr>
      </p:pic>
    </p:spTree>
    <p:extLst>
      <p:ext uri="{BB962C8B-B14F-4D97-AF65-F5344CB8AC3E}">
        <p14:creationId xmlns:p14="http://schemas.microsoft.com/office/powerpoint/2010/main" val="486322849"/>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398770" y="1354455"/>
            <a:ext cx="6596380" cy="5082204"/>
          </a:xfrm>
          <a:prstGeom prst="rect">
            <a:avLst/>
          </a:prstGeom>
          <a:noFill/>
        </p:spPr>
        <p:txBody>
          <a:bodyPr wrap="square" rtlCol="0">
            <a:noAutofit/>
          </a:bodyPr>
          <a:lstStyle/>
          <a:p>
            <a:pPr algn="l">
              <a:lnSpc>
                <a:spcPct val="150000"/>
              </a:lnSpc>
            </a:pPr>
            <a:r>
              <a:rPr lang="zh-CN" altLang="en-US" b="1" dirty="0">
                <a:solidFill>
                  <a:srgbClr val="1F2E3F"/>
                </a:solidFill>
                <a:latin typeface="汉仪宋韵朗黑W" panose="00020600040101010101" charset="-122"/>
                <a:ea typeface="汉仪宋韵朗黑W" panose="00020600040101010101" charset="-122"/>
                <a:cs typeface="Arial" panose="020B0604020202020204" pitchFamily="34" charset="0"/>
              </a:rPr>
              <a:t>►</a:t>
            </a:r>
            <a:r>
              <a:rPr lang="en-US" altLang="zh-CN" sz="2400" b="1" dirty="0"/>
              <a:t>Limitations of Traditional Forecasting Methods</a:t>
            </a:r>
            <a:r>
              <a:rPr lang="zh-CN" altLang="en-US" sz="2400" b="1" dirty="0"/>
              <a:t>：</a:t>
            </a:r>
            <a:r>
              <a:rPr lang="en-US" altLang="zh-CN" sz="2400" dirty="0"/>
              <a:t>Traditional extreme weather forecasting methods often struggle to model the nonlinear and temporal complexities of climate systems. Many rely on linear assumptions, such as statistical models, which limit their ability to handle long-term dependencies and multivariate interactions. These models are also sensitive to outliers and may generalize poorly. </a:t>
            </a:r>
            <a:endParaRPr lang="en-US" altLang="zh-CN" sz="2400" dirty="0">
              <a:solidFill>
                <a:srgbClr val="1F2E3F"/>
              </a:solidFill>
              <a:latin typeface="汉仪宋韵朗黑W" panose="00020600040101010101" charset="-122"/>
              <a:ea typeface="汉仪宋韵朗黑W" panose="00020600040101010101" charset="-122"/>
              <a:cs typeface="Arial" panose="020B0604020202020204" pitchFamily="34" charset="0"/>
            </a:endParaRPr>
          </a:p>
        </p:txBody>
      </p:sp>
      <p:grpSp>
        <p:nvGrpSpPr>
          <p:cNvPr id="12" name="组合 11"/>
          <p:cNvGrpSpPr/>
          <p:nvPr/>
        </p:nvGrpSpPr>
        <p:grpSpPr>
          <a:xfrm>
            <a:off x="277495" y="483235"/>
            <a:ext cx="7112355" cy="622935"/>
            <a:chOff x="423" y="400"/>
            <a:chExt cx="3748" cy="981"/>
          </a:xfrm>
        </p:grpSpPr>
        <p:sp>
          <p:nvSpPr>
            <p:cNvPr id="8" name="文本框 7"/>
            <p:cNvSpPr txBox="1"/>
            <p:nvPr/>
          </p:nvSpPr>
          <p:spPr>
            <a:xfrm>
              <a:off x="423" y="400"/>
              <a:ext cx="811" cy="979"/>
            </a:xfrm>
            <a:prstGeom prst="rect">
              <a:avLst/>
            </a:prstGeom>
            <a:noFill/>
          </p:spPr>
          <p:txBody>
            <a:bodyPr wrap="square" rtlCol="0">
              <a:noAutofit/>
            </a:bodyPr>
            <a:lstStyle/>
            <a:p>
              <a:r>
                <a:rPr lang="zh-CN" altLang="en-US" sz="3200" b="1">
                  <a:solidFill>
                    <a:srgbClr val="1F2E3F"/>
                  </a:solidFill>
                  <a:latin typeface="汉仪宋韵朗黑W" panose="00020600040101010101" charset="-122"/>
                  <a:ea typeface="汉仪宋韵朗黑W" panose="00020600040101010101" charset="-122"/>
                  <a:cs typeface="Arial" panose="020B0604020202020204" pitchFamily="34" charset="0"/>
                </a:rPr>
                <a:t>►</a:t>
              </a:r>
            </a:p>
          </p:txBody>
        </p:sp>
        <p:sp>
          <p:nvSpPr>
            <p:cNvPr id="11" name="矩形 10"/>
            <p:cNvSpPr/>
            <p:nvPr/>
          </p:nvSpPr>
          <p:spPr>
            <a:xfrm>
              <a:off x="620" y="1261"/>
              <a:ext cx="3551" cy="120"/>
            </a:xfrm>
            <a:prstGeom prst="rect">
              <a:avLst/>
            </a:prstGeom>
            <a:solidFill>
              <a:srgbClr val="1F2E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宋韵朗黑W" panose="00020600040101010101" charset="-122"/>
                <a:ea typeface="汉仪宋韵朗黑W" panose="00020600040101010101" charset="-122"/>
                <a:cs typeface="汉仪宋韵朗黑W" panose="00020600040101010101" charset="-122"/>
              </a:endParaRPr>
            </a:p>
          </p:txBody>
        </p:sp>
      </p:grpSp>
      <p:sp>
        <p:nvSpPr>
          <p:cNvPr id="14" name="文本框 13"/>
          <p:cNvSpPr txBox="1"/>
          <p:nvPr/>
        </p:nvSpPr>
        <p:spPr>
          <a:xfrm>
            <a:off x="738505" y="274955"/>
            <a:ext cx="7829550" cy="829945"/>
          </a:xfrm>
          <a:prstGeom prst="rect">
            <a:avLst/>
          </a:prstGeom>
          <a:noFill/>
        </p:spPr>
        <p:txBody>
          <a:bodyPr wrap="square" rtlCol="0" anchor="t">
            <a:spAutoFit/>
          </a:bodyPr>
          <a:lstStyle/>
          <a:p>
            <a:r>
              <a:rPr lang="en-US" altLang="zh-CN" sz="4800" b="1"/>
              <a:t>Introduction- Background</a:t>
            </a:r>
          </a:p>
        </p:txBody>
      </p:sp>
      <p:pic>
        <p:nvPicPr>
          <p:cNvPr id="16" name="https://docer-ks3.wpscdn.cn/picture/4490959969/8a8df5c996ba0eed4ffadd1debc770a4.jpg" descr="气象学抽象概念矢量插图。"/>
          <p:cNvPicPr>
            <a:picLocks noChangeAspect="1"/>
          </p:cNvPicPr>
          <p:nvPr/>
        </p:nvPicPr>
        <p:blipFill>
          <a:blip r:embed="rId3"/>
          <a:stretch>
            <a:fillRect/>
          </a:stretch>
        </p:blipFill>
        <p:spPr>
          <a:xfrm>
            <a:off x="-213995" y="637540"/>
            <a:ext cx="5727700" cy="64471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92742" y="1651635"/>
            <a:ext cx="10185769" cy="4971415"/>
          </a:xfrm>
          <a:prstGeom prst="rect">
            <a:avLst/>
          </a:prstGeom>
          <a:noFill/>
        </p:spPr>
        <p:txBody>
          <a:bodyPr wrap="square" rtlCol="0">
            <a:noAutofit/>
          </a:bodyPr>
          <a:lstStyle/>
          <a:p>
            <a:pPr>
              <a:lnSpc>
                <a:spcPct val="150000"/>
              </a:lnSpc>
            </a:pPr>
            <a:r>
              <a:rPr lang="en-US" altLang="zh-CN" dirty="0"/>
              <a:t>1. Prediction Gap in Asia</a:t>
            </a:r>
            <a:br>
              <a:rPr lang="en-US" altLang="zh-CN" dirty="0"/>
            </a:br>
            <a:r>
              <a:rPr lang="en-US" altLang="zh-CN" dirty="0"/>
              <a:t>- Urgent need for more accurate forecasting in Asia due to frequent and severe extreme weather events.</a:t>
            </a:r>
            <a:br>
              <a:rPr lang="en-US" altLang="zh-CN" dirty="0"/>
            </a:br>
            <a:r>
              <a:rPr lang="en-US" altLang="zh-CN" dirty="0"/>
              <a:t>2. Limitations of Traditional Methods</a:t>
            </a:r>
            <a:br>
              <a:rPr lang="en-US" altLang="zh-CN" dirty="0"/>
            </a:br>
            <a:r>
              <a:rPr lang="en-US" altLang="zh-CN" dirty="0"/>
              <a:t>- Conventional meteorological models struggle with nonlinear, high-dimensional climate patterns.</a:t>
            </a:r>
            <a:br>
              <a:rPr lang="en-US" altLang="zh-CN" dirty="0"/>
            </a:br>
            <a:r>
              <a:rPr lang="en-US" altLang="zh-CN" dirty="0"/>
              <a:t>- Inadequate handling of missing data, spatial-temporal variability, and complex interdependencies.</a:t>
            </a:r>
            <a:br>
              <a:rPr lang="en-US" altLang="zh-CN" dirty="0"/>
            </a:br>
            <a:r>
              <a:rPr lang="en-US" altLang="zh-CN" dirty="0"/>
              <a:t>3. Persistent Complexity Despite More Data</a:t>
            </a:r>
            <a:br>
              <a:rPr lang="en-US" altLang="zh-CN" dirty="0"/>
            </a:br>
            <a:r>
              <a:rPr lang="en-US" altLang="zh-CN" dirty="0"/>
              <a:t>- Even with increased climate datasets and advanced computing, the intrinsic complexity of climate systems limits accurate prediction.</a:t>
            </a:r>
            <a:br>
              <a:rPr lang="en-US" altLang="zh-CN" dirty="0"/>
            </a:br>
            <a:r>
              <a:rPr lang="en-US" altLang="zh-CN" dirty="0"/>
              <a:t>4. Machine Learning as a Strategic Solution</a:t>
            </a:r>
            <a:br>
              <a:rPr lang="en-US" altLang="zh-CN" dirty="0"/>
            </a:br>
            <a:r>
              <a:rPr lang="en-US" altLang="zh-CN" dirty="0"/>
              <a:t>- Integration of machine learning (ML) with multi-source climate data shows promise for improving forecast accuracy and early warning systems.</a:t>
            </a:r>
          </a:p>
          <a:p>
            <a:pPr algn="l">
              <a:lnSpc>
                <a:spcPct val="150000"/>
              </a:lnSpc>
            </a:pPr>
            <a:endParaRPr lang="en-US" altLang="zh-CN" sz="2400" dirty="0"/>
          </a:p>
        </p:txBody>
      </p:sp>
      <p:grpSp>
        <p:nvGrpSpPr>
          <p:cNvPr id="12" name="组合 11"/>
          <p:cNvGrpSpPr/>
          <p:nvPr/>
        </p:nvGrpSpPr>
        <p:grpSpPr>
          <a:xfrm>
            <a:off x="277495" y="483235"/>
            <a:ext cx="7966293" cy="622935"/>
            <a:chOff x="423" y="400"/>
            <a:chExt cx="4198" cy="981"/>
          </a:xfrm>
        </p:grpSpPr>
        <p:sp>
          <p:nvSpPr>
            <p:cNvPr id="8" name="文本框 7"/>
            <p:cNvSpPr txBox="1"/>
            <p:nvPr/>
          </p:nvSpPr>
          <p:spPr>
            <a:xfrm>
              <a:off x="423" y="400"/>
              <a:ext cx="811" cy="979"/>
            </a:xfrm>
            <a:prstGeom prst="rect">
              <a:avLst/>
            </a:prstGeom>
            <a:noFill/>
          </p:spPr>
          <p:txBody>
            <a:bodyPr wrap="square" rtlCol="0">
              <a:noAutofit/>
            </a:bodyPr>
            <a:lstStyle/>
            <a:p>
              <a:r>
                <a:rPr lang="zh-CN" altLang="en-US" sz="3200" b="1">
                  <a:solidFill>
                    <a:srgbClr val="1F2E3F"/>
                  </a:solidFill>
                  <a:latin typeface="汉仪宋韵朗黑W" panose="00020600040101010101" charset="-122"/>
                  <a:ea typeface="汉仪宋韵朗黑W" panose="00020600040101010101" charset="-122"/>
                  <a:cs typeface="Arial" panose="020B0604020202020204" pitchFamily="34" charset="0"/>
                </a:rPr>
                <a:t>►</a:t>
              </a:r>
            </a:p>
          </p:txBody>
        </p:sp>
        <p:sp>
          <p:nvSpPr>
            <p:cNvPr id="11" name="矩形 10"/>
            <p:cNvSpPr/>
            <p:nvPr/>
          </p:nvSpPr>
          <p:spPr>
            <a:xfrm>
              <a:off x="620" y="1261"/>
              <a:ext cx="4001" cy="120"/>
            </a:xfrm>
            <a:prstGeom prst="rect">
              <a:avLst/>
            </a:prstGeom>
            <a:solidFill>
              <a:srgbClr val="1F2E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宋韵朗黑W" panose="00020600040101010101" charset="-122"/>
                <a:ea typeface="汉仪宋韵朗黑W" panose="00020600040101010101" charset="-122"/>
                <a:cs typeface="汉仪宋韵朗黑W" panose="00020600040101010101" charset="-122"/>
              </a:endParaRPr>
            </a:p>
          </p:txBody>
        </p:sp>
      </p:grpSp>
      <p:sp>
        <p:nvSpPr>
          <p:cNvPr id="14" name="文本框 13"/>
          <p:cNvSpPr txBox="1"/>
          <p:nvPr/>
        </p:nvSpPr>
        <p:spPr>
          <a:xfrm>
            <a:off x="651510" y="276225"/>
            <a:ext cx="7829550" cy="829945"/>
          </a:xfrm>
          <a:prstGeom prst="rect">
            <a:avLst/>
          </a:prstGeom>
          <a:noFill/>
        </p:spPr>
        <p:txBody>
          <a:bodyPr wrap="square" rtlCol="0" anchor="t">
            <a:spAutoFit/>
          </a:bodyPr>
          <a:lstStyle/>
          <a:p>
            <a:r>
              <a:rPr lang="en-US" altLang="zh-CN" sz="4800" b="1" dirty="0"/>
              <a:t>Research Problem Statement</a:t>
            </a:r>
          </a:p>
        </p:txBody>
      </p:sp>
      <p:pic>
        <p:nvPicPr>
          <p:cNvPr id="6" name="图片 5"/>
          <p:cNvPicPr>
            <a:picLocks noChangeAspect="1"/>
          </p:cNvPicPr>
          <p:nvPr/>
        </p:nvPicPr>
        <p:blipFill>
          <a:blip r:embed="rId3">
            <a:grayscl/>
          </a:blip>
          <a:stretch>
            <a:fillRect/>
          </a:stretch>
        </p:blipFill>
        <p:spPr>
          <a:xfrm>
            <a:off x="9674377" y="0"/>
            <a:ext cx="2517623" cy="1889475"/>
          </a:xfrm>
          <a:prstGeom prst="bevel">
            <a:avLst/>
          </a:prstGeom>
          <a:ln w="12700" cmpd="sng">
            <a:solidFill>
              <a:schemeClr val="bg1">
                <a:lumMod val="75000"/>
              </a:schemeClr>
            </a:solidFill>
            <a:prstDash val="sysDot"/>
          </a:ln>
          <a:effectLst>
            <a:reflection blurRad="6350" stA="50000" endA="300" endPos="38500" dist="50800" dir="5400000" sy="-100000" algn="bl" rotWithShape="0"/>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234126" y="257034"/>
            <a:ext cx="6541165" cy="621665"/>
            <a:chOff x="423" y="400"/>
            <a:chExt cx="3447" cy="979"/>
          </a:xfrm>
        </p:grpSpPr>
        <p:sp>
          <p:nvSpPr>
            <p:cNvPr id="8" name="文本框 7"/>
            <p:cNvSpPr txBox="1"/>
            <p:nvPr/>
          </p:nvSpPr>
          <p:spPr>
            <a:xfrm>
              <a:off x="423" y="400"/>
              <a:ext cx="811" cy="979"/>
            </a:xfrm>
            <a:prstGeom prst="rect">
              <a:avLst/>
            </a:prstGeom>
            <a:noFill/>
          </p:spPr>
          <p:txBody>
            <a:bodyPr wrap="square" rtlCol="0">
              <a:noAutofit/>
            </a:bodyPr>
            <a:lstStyle/>
            <a:p>
              <a:r>
                <a:rPr lang="zh-CN" altLang="en-US" sz="3200" b="1">
                  <a:solidFill>
                    <a:srgbClr val="1F2E3F"/>
                  </a:solidFill>
                  <a:latin typeface="汉仪宋韵朗黑W" panose="00020600040101010101" charset="-122"/>
                  <a:ea typeface="汉仪宋韵朗黑W" panose="00020600040101010101" charset="-122"/>
                  <a:cs typeface="Arial" panose="020B0604020202020204" pitchFamily="34" charset="0"/>
                </a:rPr>
                <a:t>►</a:t>
              </a:r>
            </a:p>
          </p:txBody>
        </p:sp>
        <p:sp>
          <p:nvSpPr>
            <p:cNvPr id="11" name="矩形 10"/>
            <p:cNvSpPr/>
            <p:nvPr/>
          </p:nvSpPr>
          <p:spPr>
            <a:xfrm flipV="1">
              <a:off x="620" y="1170"/>
              <a:ext cx="3250" cy="120"/>
            </a:xfrm>
            <a:prstGeom prst="rect">
              <a:avLst/>
            </a:prstGeom>
            <a:solidFill>
              <a:srgbClr val="1F2E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宋韵朗黑W" panose="00020600040101010101" charset="-122"/>
                <a:ea typeface="汉仪宋韵朗黑W" panose="00020600040101010101" charset="-122"/>
                <a:cs typeface="汉仪宋韵朗黑W" panose="00020600040101010101" charset="-122"/>
              </a:endParaRPr>
            </a:p>
          </p:txBody>
        </p:sp>
      </p:grpSp>
      <p:sp>
        <p:nvSpPr>
          <p:cNvPr id="14" name="文本框 13"/>
          <p:cNvSpPr txBox="1"/>
          <p:nvPr/>
        </p:nvSpPr>
        <p:spPr>
          <a:xfrm>
            <a:off x="607962" y="13372"/>
            <a:ext cx="6450638" cy="829945"/>
          </a:xfrm>
          <a:prstGeom prst="rect">
            <a:avLst/>
          </a:prstGeom>
          <a:noFill/>
        </p:spPr>
        <p:txBody>
          <a:bodyPr wrap="square" rtlCol="0" anchor="t">
            <a:spAutoFit/>
          </a:bodyPr>
          <a:lstStyle/>
          <a:p>
            <a:r>
              <a:rPr lang="en-US" altLang="zh-CN" sz="4800" b="1" dirty="0"/>
              <a:t>Question and </a:t>
            </a:r>
            <a:r>
              <a:rPr lang="en-US" altLang="zh-CN" sz="4800" b="1" dirty="0">
                <a:sym typeface="+mn-ea"/>
              </a:rPr>
              <a:t>Objective</a:t>
            </a:r>
            <a:endParaRPr lang="en-US" altLang="zh-CN" sz="4800" b="1" dirty="0"/>
          </a:p>
        </p:txBody>
      </p:sp>
      <p:pic>
        <p:nvPicPr>
          <p:cNvPr id="4" name="https://docer-ks3.wpscdn.cn/picture/199055173/738240c22608d5cbf575b85feea3fc8a_612.jpg" descr="解决方案和问题路标。矢量股票插图。"/>
          <p:cNvPicPr>
            <a:picLocks noChangeAspect="1"/>
          </p:cNvPicPr>
          <p:nvPr/>
        </p:nvPicPr>
        <p:blipFill>
          <a:blip r:embed="rId4"/>
          <a:stretch>
            <a:fillRect/>
          </a:stretch>
        </p:blipFill>
        <p:spPr>
          <a:xfrm>
            <a:off x="3673507" y="1139823"/>
            <a:ext cx="4513411" cy="6021707"/>
          </a:xfrm>
          <a:prstGeom prst="rect">
            <a:avLst/>
          </a:prstGeom>
        </p:spPr>
      </p:pic>
      <p:grpSp>
        <p:nvGrpSpPr>
          <p:cNvPr id="51" name="组合 50"/>
          <p:cNvGrpSpPr/>
          <p:nvPr/>
        </p:nvGrpSpPr>
        <p:grpSpPr>
          <a:xfrm>
            <a:off x="7149126" y="13372"/>
            <a:ext cx="4790110" cy="6854078"/>
            <a:chOff x="4798423" y="2069802"/>
            <a:chExt cx="2515043" cy="2515042"/>
          </a:xfrm>
        </p:grpSpPr>
        <p:sp>
          <p:nvSpPr>
            <p:cNvPr id="54" name="任意多边形: 形状 16"/>
            <p:cNvSpPr/>
            <p:nvPr/>
          </p:nvSpPr>
          <p:spPr>
            <a:xfrm>
              <a:off x="4798423" y="2069802"/>
              <a:ext cx="2515043" cy="2515042"/>
            </a:xfrm>
            <a:custGeom>
              <a:avLst/>
              <a:gdLst>
                <a:gd name="connsiteX0" fmla="*/ 2515043 w 2515043"/>
                <a:gd name="connsiteY0" fmla="*/ 2515043 h 2515042"/>
                <a:gd name="connsiteX1" fmla="*/ 0 w 2515043"/>
                <a:gd name="connsiteY1" fmla="*/ 2515043 h 2515042"/>
                <a:gd name="connsiteX2" fmla="*/ 0 w 2515043"/>
                <a:gd name="connsiteY2" fmla="*/ 0 h 2515042"/>
                <a:gd name="connsiteX3" fmla="*/ 2515043 w 2515043"/>
                <a:gd name="connsiteY3" fmla="*/ 0 h 2515042"/>
                <a:gd name="connsiteX4" fmla="*/ 2515043 w 2515043"/>
                <a:gd name="connsiteY4" fmla="*/ 2515043 h 2515042"/>
                <a:gd name="connsiteX5" fmla="*/ 31866 w 2515043"/>
                <a:gd name="connsiteY5" fmla="*/ 2483177 h 2515042"/>
                <a:gd name="connsiteX6" fmla="*/ 2483091 w 2515043"/>
                <a:gd name="connsiteY6" fmla="*/ 2483177 h 2515042"/>
                <a:gd name="connsiteX7" fmla="*/ 2483091 w 2515043"/>
                <a:gd name="connsiteY7" fmla="*/ 31866 h 2515042"/>
                <a:gd name="connsiteX8" fmla="*/ 31866 w 2515043"/>
                <a:gd name="connsiteY8" fmla="*/ 31866 h 2515042"/>
                <a:gd name="connsiteX9" fmla="*/ 31866 w 2515043"/>
                <a:gd name="connsiteY9" fmla="*/ 2483177 h 2515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15043" h="2515042">
                  <a:moveTo>
                    <a:pt x="2515043" y="2515043"/>
                  </a:moveTo>
                  <a:lnTo>
                    <a:pt x="0" y="2515043"/>
                  </a:lnTo>
                  <a:lnTo>
                    <a:pt x="0" y="0"/>
                  </a:lnTo>
                  <a:lnTo>
                    <a:pt x="2515043" y="0"/>
                  </a:lnTo>
                  <a:lnTo>
                    <a:pt x="2515043" y="2515043"/>
                  </a:lnTo>
                  <a:close/>
                  <a:moveTo>
                    <a:pt x="31866" y="2483177"/>
                  </a:moveTo>
                  <a:lnTo>
                    <a:pt x="2483091" y="2483177"/>
                  </a:lnTo>
                  <a:lnTo>
                    <a:pt x="2483091" y="31866"/>
                  </a:lnTo>
                  <a:lnTo>
                    <a:pt x="31866" y="31866"/>
                  </a:lnTo>
                  <a:lnTo>
                    <a:pt x="31866" y="2483177"/>
                  </a:lnTo>
                  <a:close/>
                </a:path>
              </a:pathLst>
            </a:custGeom>
            <a:solidFill>
              <a:srgbClr val="000000"/>
            </a:solidFill>
            <a:ln w="8638" cap="flat">
              <a:noFill/>
              <a:prstDash val="solid"/>
              <a:miter/>
            </a:ln>
          </p:spPr>
          <p:txBody>
            <a:bodyPr rtlCol="0" anchor="ctr"/>
            <a:lstStyle/>
            <a:p>
              <a:endParaRPr lang="zh-CN" altLang="en-US"/>
            </a:p>
          </p:txBody>
        </p:sp>
        <p:sp>
          <p:nvSpPr>
            <p:cNvPr id="55" name="任意多边形: 形状 17"/>
            <p:cNvSpPr/>
            <p:nvPr/>
          </p:nvSpPr>
          <p:spPr>
            <a:xfrm>
              <a:off x="4876268" y="2147647"/>
              <a:ext cx="2359438" cy="2359351"/>
            </a:xfrm>
            <a:custGeom>
              <a:avLst/>
              <a:gdLst>
                <a:gd name="connsiteX0" fmla="*/ 2359352 w 2359438"/>
                <a:gd name="connsiteY0" fmla="*/ 2359352 h 2359351"/>
                <a:gd name="connsiteX1" fmla="*/ 0 w 2359438"/>
                <a:gd name="connsiteY1" fmla="*/ 2359352 h 2359351"/>
                <a:gd name="connsiteX2" fmla="*/ 0 w 2359438"/>
                <a:gd name="connsiteY2" fmla="*/ 0 h 2359351"/>
                <a:gd name="connsiteX3" fmla="*/ 2359439 w 2359438"/>
                <a:gd name="connsiteY3" fmla="*/ 0 h 2359351"/>
                <a:gd name="connsiteX4" fmla="*/ 2359439 w 2359438"/>
                <a:gd name="connsiteY4" fmla="*/ 2359352 h 2359351"/>
                <a:gd name="connsiteX5" fmla="*/ 7793 w 2359438"/>
                <a:gd name="connsiteY5" fmla="*/ 2351558 h 2359351"/>
                <a:gd name="connsiteX6" fmla="*/ 2351646 w 2359438"/>
                <a:gd name="connsiteY6" fmla="*/ 2351558 h 2359351"/>
                <a:gd name="connsiteX7" fmla="*/ 2351646 w 2359438"/>
                <a:gd name="connsiteY7" fmla="*/ 7793 h 2359351"/>
                <a:gd name="connsiteX8" fmla="*/ 7793 w 2359438"/>
                <a:gd name="connsiteY8" fmla="*/ 7793 h 2359351"/>
                <a:gd name="connsiteX9" fmla="*/ 7793 w 2359438"/>
                <a:gd name="connsiteY9" fmla="*/ 2351558 h 235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59438" h="2359351">
                  <a:moveTo>
                    <a:pt x="2359352" y="2359352"/>
                  </a:moveTo>
                  <a:lnTo>
                    <a:pt x="0" y="2359352"/>
                  </a:lnTo>
                  <a:lnTo>
                    <a:pt x="0" y="0"/>
                  </a:lnTo>
                  <a:lnTo>
                    <a:pt x="2359439" y="0"/>
                  </a:lnTo>
                  <a:lnTo>
                    <a:pt x="2359439" y="2359352"/>
                  </a:lnTo>
                  <a:close/>
                  <a:moveTo>
                    <a:pt x="7793" y="2351558"/>
                  </a:moveTo>
                  <a:lnTo>
                    <a:pt x="2351646" y="2351558"/>
                  </a:lnTo>
                  <a:lnTo>
                    <a:pt x="2351646" y="7793"/>
                  </a:lnTo>
                  <a:lnTo>
                    <a:pt x="7793" y="7793"/>
                  </a:lnTo>
                  <a:lnTo>
                    <a:pt x="7793" y="2351558"/>
                  </a:lnTo>
                  <a:close/>
                </a:path>
              </a:pathLst>
            </a:custGeom>
            <a:solidFill>
              <a:srgbClr val="000000"/>
            </a:solidFill>
            <a:ln w="8638" cap="flat">
              <a:noFill/>
              <a:prstDash val="solid"/>
              <a:miter/>
            </a:ln>
          </p:spPr>
          <p:txBody>
            <a:bodyPr rtlCol="0" anchor="ctr"/>
            <a:lstStyle/>
            <a:p>
              <a:endParaRPr lang="zh-CN" altLang="en-US"/>
            </a:p>
          </p:txBody>
        </p:sp>
      </p:grpSp>
      <p:sp>
        <p:nvSpPr>
          <p:cNvPr id="62" name="文本框 61"/>
          <p:cNvSpPr txBox="1"/>
          <p:nvPr/>
        </p:nvSpPr>
        <p:spPr>
          <a:xfrm>
            <a:off x="234126" y="1139823"/>
            <a:ext cx="4790110" cy="5438845"/>
          </a:xfrm>
          <a:prstGeom prst="rect">
            <a:avLst/>
          </a:prstGeom>
          <a:noFill/>
        </p:spPr>
        <p:txBody>
          <a:bodyPr wrap="square" rtlCol="0">
            <a:noAutofit/>
          </a:bodyPr>
          <a:lstStyle/>
          <a:p>
            <a:pPr>
              <a:lnSpc>
                <a:spcPct val="150000"/>
              </a:lnSpc>
              <a:spcAft>
                <a:spcPts val="600"/>
              </a:spcAft>
            </a:pPr>
            <a:r>
              <a:rPr lang="en-US" altLang="zh-CN" dirty="0">
                <a:solidFill>
                  <a:schemeClr val="tx1"/>
                </a:solidFill>
                <a:effectLst>
                  <a:outerShdw blurRad="38100" dist="19050" dir="2700000" algn="tl" rotWithShape="0">
                    <a:schemeClr val="dk1">
                      <a:alpha val="40000"/>
                    </a:schemeClr>
                  </a:outerShdw>
                </a:effectLst>
              </a:rPr>
              <a:t>1.</a:t>
            </a:r>
            <a:r>
              <a:rPr lang="en-US" altLang="zh-CN" dirty="0">
                <a:solidFill>
                  <a:schemeClr val="tx1"/>
                </a:solidFill>
              </a:rPr>
              <a:t>How to utilize historical multivariate climate data to predict the occurrence of droughts</a:t>
            </a:r>
            <a:r>
              <a:rPr lang="en-US" altLang="zh-CN" dirty="0"/>
              <a:t> and</a:t>
            </a:r>
            <a:r>
              <a:rPr lang="en-US" altLang="zh-CN" dirty="0">
                <a:solidFill>
                  <a:schemeClr val="tx1"/>
                </a:solidFill>
              </a:rPr>
              <a:t> floods in Asian countries?</a:t>
            </a:r>
          </a:p>
          <a:p>
            <a:pPr>
              <a:lnSpc>
                <a:spcPct val="150000"/>
              </a:lnSpc>
              <a:spcAft>
                <a:spcPts val="600"/>
              </a:spcAft>
            </a:pPr>
            <a:r>
              <a:rPr lang="en-US" altLang="zh-CN" dirty="0">
                <a:solidFill>
                  <a:schemeClr val="tx1"/>
                </a:solidFill>
                <a:effectLst>
                  <a:outerShdw blurRad="38100" dist="19050" dir="2700000" algn="tl" rotWithShape="0">
                    <a:schemeClr val="dk1">
                      <a:alpha val="40000"/>
                    </a:schemeClr>
                  </a:outerShdw>
                </a:effectLst>
              </a:rPr>
              <a:t>2.</a:t>
            </a:r>
            <a:r>
              <a:rPr lang="en-US" altLang="zh-CN" dirty="0">
                <a:solidFill>
                  <a:schemeClr val="tx1"/>
                </a:solidFill>
              </a:rPr>
              <a:t>For each type of extreme weather problem, what are the most influential meteorological characteristics (e.g., </a:t>
            </a:r>
            <a:r>
              <a:rPr lang="en-US" altLang="zh-CN" dirty="0" err="1">
                <a:solidFill>
                  <a:schemeClr val="tx1"/>
                </a:solidFill>
              </a:rPr>
              <a:t>cdd</a:t>
            </a:r>
            <a:r>
              <a:rPr lang="en-US" altLang="zh-CN" dirty="0">
                <a:solidFill>
                  <a:schemeClr val="tx1"/>
                </a:solidFill>
              </a:rPr>
              <a:t>, pr, rx1day, </a:t>
            </a:r>
            <a:r>
              <a:rPr lang="en-US" altLang="zh-CN" dirty="0" err="1">
                <a:solidFill>
                  <a:schemeClr val="tx1"/>
                </a:solidFill>
              </a:rPr>
              <a:t>tasmax</a:t>
            </a:r>
            <a:r>
              <a:rPr lang="en-US" altLang="zh-CN" dirty="0">
                <a:solidFill>
                  <a:schemeClr val="tx1"/>
                </a:solidFill>
              </a:rPr>
              <a:t>, hours)?</a:t>
            </a:r>
          </a:p>
          <a:p>
            <a:pPr>
              <a:lnSpc>
                <a:spcPct val="150000"/>
              </a:lnSpc>
              <a:spcAft>
                <a:spcPts val="600"/>
              </a:spcAft>
            </a:pPr>
            <a:r>
              <a:rPr lang="en-US" altLang="zh-CN" dirty="0">
                <a:solidFill>
                  <a:schemeClr val="tx1"/>
                </a:solidFill>
                <a:effectLst>
                  <a:outerShdw blurRad="38100" dist="19050" dir="2700000" algn="tl" rotWithShape="0">
                    <a:schemeClr val="dk1">
                      <a:alpha val="40000"/>
                    </a:schemeClr>
                  </a:outerShdw>
                </a:effectLst>
              </a:rPr>
              <a:t>3.</a:t>
            </a:r>
            <a:r>
              <a:rPr lang="en-US" altLang="zh-CN" dirty="0">
                <a:solidFill>
                  <a:schemeClr val="tx1"/>
                </a:solidFill>
              </a:rPr>
              <a:t> What are the advantages of the CEEMDAN-LSTM and CEEMDAN-CNN-LSTM model over the traditional LSTM model in predicting weather data with multi-time scale characteristics such as seasonality and periodicity?</a:t>
            </a:r>
          </a:p>
        </p:txBody>
      </p:sp>
      <p:sp>
        <p:nvSpPr>
          <p:cNvPr id="64" name="文本框 63"/>
          <p:cNvSpPr txBox="1"/>
          <p:nvPr/>
        </p:nvSpPr>
        <p:spPr>
          <a:xfrm>
            <a:off x="7354962" y="761345"/>
            <a:ext cx="4493747" cy="5817324"/>
          </a:xfrm>
          <a:prstGeom prst="rect">
            <a:avLst/>
          </a:prstGeom>
          <a:noFill/>
        </p:spPr>
        <p:txBody>
          <a:bodyPr wrap="square" rtlCol="0">
            <a:noAutofit/>
          </a:bodyPr>
          <a:lstStyle/>
          <a:p>
            <a:r>
              <a:rPr lang="en-US" altLang="zh-CN" dirty="0"/>
              <a:t>1.To design and evaluate the predictive performance of a hybrid CEEMDAN-LSTM and CEEMDAN-CNN-LSTM model for forecasting two  major types of extreme weather events—droughts and floods—using monthly climate indicators from eight Asian countries spanning 1950 to 2023.</a:t>
            </a:r>
          </a:p>
          <a:p>
            <a:endParaRPr lang="en-US" altLang="zh-CN" dirty="0"/>
          </a:p>
          <a:p>
            <a:r>
              <a:rPr lang="en-US" altLang="zh-CN" dirty="0"/>
              <a:t>2.To identify and assess the most influential meteorological variables contributing to the prediction of extreme weather events through correlation analysis, feature selection techniques.</a:t>
            </a:r>
          </a:p>
          <a:p>
            <a:endParaRPr lang="en-US" altLang="zh-CN" dirty="0"/>
          </a:p>
          <a:p>
            <a:r>
              <a:rPr lang="en-US" altLang="zh-CN" dirty="0"/>
              <a:t>3.To validate the robustness and generalizability of the CEEMDAN-LSTM and CEEMDAN-CNN-LSTM model by benchmarking its forecasting accuracy and stability against LSTM models.</a:t>
            </a:r>
          </a:p>
        </p:txBody>
      </p:sp>
    </p:spTree>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4063E-6068-6BAC-EEDC-B20EDA0E6207}"/>
            </a:ext>
          </a:extLst>
        </p:cNvPr>
        <p:cNvGrpSpPr/>
        <p:nvPr/>
      </p:nvGrpSpPr>
      <p:grpSpPr>
        <a:xfrm>
          <a:off x="0" y="0"/>
          <a:ext cx="0" cy="0"/>
          <a:chOff x="0" y="0"/>
          <a:chExt cx="0" cy="0"/>
        </a:xfrm>
      </p:grpSpPr>
      <p:grpSp>
        <p:nvGrpSpPr>
          <p:cNvPr id="12" name="组合 11">
            <a:extLst>
              <a:ext uri="{FF2B5EF4-FFF2-40B4-BE49-F238E27FC236}">
                <a16:creationId xmlns:a16="http://schemas.microsoft.com/office/drawing/2014/main" id="{D8788C78-0560-ADFD-9AC4-E56029A29E26}"/>
              </a:ext>
            </a:extLst>
          </p:cNvPr>
          <p:cNvGrpSpPr/>
          <p:nvPr/>
        </p:nvGrpSpPr>
        <p:grpSpPr>
          <a:xfrm>
            <a:off x="277495" y="483235"/>
            <a:ext cx="6541165" cy="621665"/>
            <a:chOff x="423" y="400"/>
            <a:chExt cx="3447" cy="979"/>
          </a:xfrm>
        </p:grpSpPr>
        <p:sp>
          <p:nvSpPr>
            <p:cNvPr id="8" name="文本框 7">
              <a:extLst>
                <a:ext uri="{FF2B5EF4-FFF2-40B4-BE49-F238E27FC236}">
                  <a16:creationId xmlns:a16="http://schemas.microsoft.com/office/drawing/2014/main" id="{56A117D4-80C9-FE0F-9EB7-0AA3A57BA62A}"/>
                </a:ext>
              </a:extLst>
            </p:cNvPr>
            <p:cNvSpPr txBox="1"/>
            <p:nvPr/>
          </p:nvSpPr>
          <p:spPr>
            <a:xfrm>
              <a:off x="423" y="400"/>
              <a:ext cx="811" cy="979"/>
            </a:xfrm>
            <a:prstGeom prst="rect">
              <a:avLst/>
            </a:prstGeom>
            <a:noFill/>
          </p:spPr>
          <p:txBody>
            <a:bodyPr wrap="square" rtlCol="0">
              <a:noAutofit/>
            </a:bodyPr>
            <a:lstStyle/>
            <a:p>
              <a:r>
                <a:rPr lang="zh-CN" altLang="en-US" sz="3200" b="1">
                  <a:solidFill>
                    <a:srgbClr val="1F2E3F"/>
                  </a:solidFill>
                  <a:latin typeface="汉仪宋韵朗黑W" panose="00020600040101010101" charset="-122"/>
                  <a:ea typeface="汉仪宋韵朗黑W" panose="00020600040101010101" charset="-122"/>
                  <a:cs typeface="Arial" panose="020B0604020202020204" pitchFamily="34" charset="0"/>
                </a:rPr>
                <a:t>►</a:t>
              </a:r>
            </a:p>
          </p:txBody>
        </p:sp>
        <p:sp>
          <p:nvSpPr>
            <p:cNvPr id="11" name="矩形 10">
              <a:extLst>
                <a:ext uri="{FF2B5EF4-FFF2-40B4-BE49-F238E27FC236}">
                  <a16:creationId xmlns:a16="http://schemas.microsoft.com/office/drawing/2014/main" id="{9FAE39A6-6768-023B-0B80-2B6F266D6A51}"/>
                </a:ext>
              </a:extLst>
            </p:cNvPr>
            <p:cNvSpPr/>
            <p:nvPr/>
          </p:nvSpPr>
          <p:spPr>
            <a:xfrm flipV="1">
              <a:off x="620" y="1170"/>
              <a:ext cx="3250" cy="120"/>
            </a:xfrm>
            <a:prstGeom prst="rect">
              <a:avLst/>
            </a:prstGeom>
            <a:solidFill>
              <a:srgbClr val="1F2E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宋韵朗黑W" panose="00020600040101010101" charset="-122"/>
                <a:ea typeface="汉仪宋韵朗黑W" panose="00020600040101010101" charset="-122"/>
                <a:cs typeface="汉仪宋韵朗黑W" panose="00020600040101010101" charset="-122"/>
              </a:endParaRPr>
            </a:p>
          </p:txBody>
        </p:sp>
      </p:grpSp>
      <p:sp>
        <p:nvSpPr>
          <p:cNvPr id="14" name="文本框 13">
            <a:extLst>
              <a:ext uri="{FF2B5EF4-FFF2-40B4-BE49-F238E27FC236}">
                <a16:creationId xmlns:a16="http://schemas.microsoft.com/office/drawing/2014/main" id="{B115A1B0-C415-07F7-0E13-887A54D0509D}"/>
              </a:ext>
            </a:extLst>
          </p:cNvPr>
          <p:cNvSpPr txBox="1"/>
          <p:nvPr/>
        </p:nvSpPr>
        <p:spPr>
          <a:xfrm>
            <a:off x="719570" y="234011"/>
            <a:ext cx="10644505" cy="829945"/>
          </a:xfrm>
          <a:prstGeom prst="rect">
            <a:avLst/>
          </a:prstGeom>
          <a:noFill/>
        </p:spPr>
        <p:txBody>
          <a:bodyPr wrap="square" rtlCol="0" anchor="t">
            <a:spAutoFit/>
          </a:bodyPr>
          <a:lstStyle/>
          <a:p>
            <a:r>
              <a:rPr lang="en-US" altLang="zh-CN" sz="4800" b="1" dirty="0"/>
              <a:t>Scope and </a:t>
            </a:r>
            <a:r>
              <a:rPr lang="en-US" altLang="zh-CN" sz="4800" b="1" dirty="0">
                <a:sym typeface="+mn-ea"/>
              </a:rPr>
              <a:t>Contribution</a:t>
            </a:r>
            <a:endParaRPr lang="en-US" altLang="zh-CN" sz="4800" b="1" dirty="0"/>
          </a:p>
        </p:txBody>
      </p:sp>
      <p:sp>
        <p:nvSpPr>
          <p:cNvPr id="3" name="文本框 2">
            <a:extLst>
              <a:ext uri="{FF2B5EF4-FFF2-40B4-BE49-F238E27FC236}">
                <a16:creationId xmlns:a16="http://schemas.microsoft.com/office/drawing/2014/main" id="{9E382054-6C1F-EE73-EAAC-BD3052874E9D}"/>
              </a:ext>
            </a:extLst>
          </p:cNvPr>
          <p:cNvSpPr txBox="1"/>
          <p:nvPr/>
        </p:nvSpPr>
        <p:spPr>
          <a:xfrm>
            <a:off x="651330" y="1104900"/>
            <a:ext cx="9762926" cy="5584606"/>
          </a:xfrm>
          <a:prstGeom prst="rect">
            <a:avLst/>
          </a:prstGeom>
          <a:noFill/>
        </p:spPr>
        <p:txBody>
          <a:bodyPr wrap="square">
            <a:spAutoFit/>
          </a:bodyPr>
          <a:lstStyle/>
          <a:p>
            <a:pPr>
              <a:lnSpc>
                <a:spcPct val="150000"/>
              </a:lnSpc>
              <a:buNone/>
            </a:pPr>
            <a:r>
              <a:rPr lang="zh-CN" altLang="en-US" sz="2000" dirty="0"/>
              <a:t> </a:t>
            </a:r>
            <a:r>
              <a:rPr lang="en-GB" altLang="zh-CN" sz="2000" b="1" dirty="0"/>
              <a:t>Scope of Study</a:t>
            </a:r>
            <a:endParaRPr lang="en-GB" altLang="zh-CN" sz="2000" dirty="0"/>
          </a:p>
          <a:p>
            <a:pPr>
              <a:lnSpc>
                <a:spcPct val="150000"/>
              </a:lnSpc>
              <a:buFont typeface="Arial" panose="020B0604020202020204" pitchFamily="34" charset="0"/>
              <a:buChar char="•"/>
            </a:pPr>
            <a:r>
              <a:rPr lang="en-GB" altLang="zh-CN" sz="2000" b="1" dirty="0"/>
              <a:t>Time</a:t>
            </a:r>
            <a:r>
              <a:rPr lang="en-GB" altLang="zh-CN" sz="2000" dirty="0"/>
              <a:t>: 1950–2023 for training, 2024+ for prediction</a:t>
            </a:r>
          </a:p>
          <a:p>
            <a:pPr>
              <a:lnSpc>
                <a:spcPct val="150000"/>
              </a:lnSpc>
              <a:buFont typeface="Arial" panose="020B0604020202020204" pitchFamily="34" charset="0"/>
              <a:buChar char="•"/>
            </a:pPr>
            <a:r>
              <a:rPr lang="en-GB" altLang="zh-CN" sz="2000" b="1" dirty="0"/>
              <a:t>Location</a:t>
            </a:r>
            <a:r>
              <a:rPr lang="en-GB" altLang="zh-CN" sz="2000" dirty="0"/>
              <a:t>: 8 Asian countries (e.g., China, Malaysia, India...)</a:t>
            </a:r>
          </a:p>
          <a:p>
            <a:pPr>
              <a:lnSpc>
                <a:spcPct val="150000"/>
              </a:lnSpc>
              <a:buFont typeface="Arial" panose="020B0604020202020204" pitchFamily="34" charset="0"/>
              <a:buChar char="•"/>
            </a:pPr>
            <a:r>
              <a:rPr lang="en-GB" altLang="zh-CN" sz="2000" b="1" dirty="0"/>
              <a:t>Data</a:t>
            </a:r>
            <a:r>
              <a:rPr lang="en-GB" altLang="zh-CN" sz="2000" dirty="0"/>
              <a:t>: 15 climate variables (e.g., pr, </a:t>
            </a:r>
            <a:r>
              <a:rPr lang="en-GB" altLang="zh-CN" sz="2000" dirty="0" err="1"/>
              <a:t>cdd</a:t>
            </a:r>
            <a:r>
              <a:rPr lang="en-GB" altLang="zh-CN" sz="2000" dirty="0"/>
              <a:t>, rx1day, </a:t>
            </a:r>
            <a:r>
              <a:rPr lang="en-GB" altLang="zh-CN" sz="2000" dirty="0" err="1"/>
              <a:t>tasmax</a:t>
            </a:r>
            <a:r>
              <a:rPr lang="en-GB" altLang="zh-CN" sz="2000" dirty="0"/>
              <a:t>)</a:t>
            </a:r>
          </a:p>
          <a:p>
            <a:pPr>
              <a:lnSpc>
                <a:spcPct val="150000"/>
              </a:lnSpc>
              <a:buFont typeface="Arial" panose="020B0604020202020204" pitchFamily="34" charset="0"/>
              <a:buChar char="•"/>
            </a:pPr>
            <a:r>
              <a:rPr lang="en-GB" altLang="zh-CN" sz="2000" b="1" dirty="0"/>
              <a:t>Source</a:t>
            </a:r>
            <a:r>
              <a:rPr lang="en-GB" altLang="zh-CN" sz="2000" dirty="0"/>
              <a:t>: World Bank Climate Portal</a:t>
            </a:r>
          </a:p>
          <a:p>
            <a:pPr>
              <a:lnSpc>
                <a:spcPct val="150000"/>
              </a:lnSpc>
              <a:buFont typeface="Arial" panose="020B0604020202020204" pitchFamily="34" charset="0"/>
              <a:buChar char="•"/>
            </a:pPr>
            <a:r>
              <a:rPr lang="en-GB" altLang="zh-CN" sz="2000" b="1" dirty="0"/>
              <a:t>Techniques</a:t>
            </a:r>
            <a:r>
              <a:rPr lang="en-GB" altLang="zh-CN" sz="2000" dirty="0"/>
              <a:t>: CEEMDAN + CNN+ LSTM</a:t>
            </a:r>
          </a:p>
          <a:p>
            <a:pPr>
              <a:lnSpc>
                <a:spcPct val="150000"/>
              </a:lnSpc>
              <a:buFont typeface="Arial" panose="020B0604020202020204" pitchFamily="34" charset="0"/>
              <a:buChar char="•"/>
            </a:pPr>
            <a:endParaRPr lang="en-GB" altLang="zh-CN" sz="2000" dirty="0"/>
          </a:p>
          <a:p>
            <a:pPr>
              <a:lnSpc>
                <a:spcPct val="150000"/>
              </a:lnSpc>
              <a:buNone/>
            </a:pPr>
            <a:r>
              <a:rPr lang="zh-CN" altLang="en-US" sz="2000" dirty="0"/>
              <a:t> </a:t>
            </a:r>
            <a:r>
              <a:rPr lang="en-GB" altLang="zh-CN" sz="2000" b="1" dirty="0"/>
              <a:t>Key Contributions</a:t>
            </a:r>
            <a:endParaRPr lang="en-GB" altLang="zh-CN" sz="2000" dirty="0"/>
          </a:p>
          <a:p>
            <a:pPr>
              <a:lnSpc>
                <a:spcPct val="150000"/>
              </a:lnSpc>
              <a:buFont typeface="+mj-lt"/>
              <a:buAutoNum type="arabicPeriod"/>
            </a:pPr>
            <a:r>
              <a:rPr lang="en-GB" altLang="zh-CN" sz="2000" b="1" dirty="0"/>
              <a:t>New Method</a:t>
            </a:r>
            <a:r>
              <a:rPr lang="en-GB" altLang="zh-CN" sz="2000" dirty="0"/>
              <a:t>:  Hybrid CEEMDAN-LSTM and CEEMDAN-CNN-LSTM  model for non-stationary, multi-scale data</a:t>
            </a:r>
          </a:p>
          <a:p>
            <a:pPr>
              <a:lnSpc>
                <a:spcPct val="150000"/>
              </a:lnSpc>
              <a:buFont typeface="+mj-lt"/>
              <a:buAutoNum type="arabicPeriod"/>
            </a:pPr>
            <a:r>
              <a:rPr lang="en-GB" altLang="zh-CN" sz="2000" b="1" dirty="0"/>
              <a:t>Research Value</a:t>
            </a:r>
            <a:r>
              <a:rPr lang="en-GB" altLang="zh-CN" sz="2000" dirty="0"/>
              <a:t>: Covers multiple events (droughts, floods) and regions</a:t>
            </a:r>
          </a:p>
          <a:p>
            <a:pPr>
              <a:lnSpc>
                <a:spcPct val="150000"/>
              </a:lnSpc>
              <a:buFont typeface="+mj-lt"/>
              <a:buAutoNum type="arabicPeriod"/>
            </a:pPr>
            <a:r>
              <a:rPr lang="en-GB" altLang="zh-CN" sz="2000" b="1" dirty="0"/>
              <a:t>SDG 13</a:t>
            </a:r>
            <a:r>
              <a:rPr lang="en-GB" altLang="zh-CN" sz="2000" dirty="0"/>
              <a:t>: Supports early warning, reduces loss, aids policy decisions</a:t>
            </a:r>
          </a:p>
        </p:txBody>
      </p:sp>
      <p:pic>
        <p:nvPicPr>
          <p:cNvPr id="1026" name="Picture 2" descr="SDG 13 – Climate Action – Sustainability@UKM">
            <a:extLst>
              <a:ext uri="{FF2B5EF4-FFF2-40B4-BE49-F238E27FC236}">
                <a16:creationId xmlns:a16="http://schemas.microsoft.com/office/drawing/2014/main" id="{C14A17A6-6D4B-CA68-73AB-273441715E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6435" y="1977493"/>
            <a:ext cx="4404360" cy="18795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1118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半闭框 11"/>
          <p:cNvSpPr/>
          <p:nvPr/>
        </p:nvSpPr>
        <p:spPr>
          <a:xfrm>
            <a:off x="266065" y="285115"/>
            <a:ext cx="914400" cy="914400"/>
          </a:xfrm>
          <a:prstGeom prst="halfFrame">
            <a:avLst/>
          </a:prstGeom>
          <a:solidFill>
            <a:srgbClr val="1F2E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汉仪宋韵朗黑W" panose="00020600040101010101" charset="-122"/>
              <a:ea typeface="汉仪宋韵朗黑W" panose="00020600040101010101" charset="-122"/>
              <a:cs typeface="汉仪宋韵朗黑W" panose="00020600040101010101" charset="-122"/>
            </a:endParaRPr>
          </a:p>
        </p:txBody>
      </p:sp>
      <p:sp>
        <p:nvSpPr>
          <p:cNvPr id="13" name="半闭框 12"/>
          <p:cNvSpPr/>
          <p:nvPr/>
        </p:nvSpPr>
        <p:spPr>
          <a:xfrm rot="5400000" flipH="1">
            <a:off x="11119485" y="5652770"/>
            <a:ext cx="914400" cy="914400"/>
          </a:xfrm>
          <a:prstGeom prst="halfFrame">
            <a:avLst/>
          </a:prstGeom>
          <a:solidFill>
            <a:srgbClr val="1F2E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汉仪宋韵朗黑W" panose="00020600040101010101" charset="-122"/>
              <a:ea typeface="汉仪宋韵朗黑W" panose="00020600040101010101" charset="-122"/>
              <a:cs typeface="汉仪宋韵朗黑W" panose="00020600040101010101" charset="-122"/>
            </a:endParaRPr>
          </a:p>
        </p:txBody>
      </p:sp>
      <p:sp>
        <p:nvSpPr>
          <p:cNvPr id="5" name="文本框 4"/>
          <p:cNvSpPr txBox="1"/>
          <p:nvPr/>
        </p:nvSpPr>
        <p:spPr>
          <a:xfrm>
            <a:off x="0" y="4002405"/>
            <a:ext cx="5327650" cy="553085"/>
          </a:xfrm>
          <a:prstGeom prst="rect">
            <a:avLst/>
          </a:prstGeom>
          <a:noFill/>
        </p:spPr>
        <p:txBody>
          <a:bodyPr wrap="square" rtlCol="0" anchor="t">
            <a:spAutoFit/>
          </a:bodyPr>
          <a:lstStyle/>
          <a:p>
            <a:r>
              <a:rPr lang="zh-CN" altLang="en-US" sz="3000">
                <a:latin typeface="汉仪宋韵朗黑W" panose="00020600040101010101" charset="-122"/>
                <a:ea typeface="汉仪宋韵朗黑W" panose="00020600040101010101" charset="-122"/>
                <a:cs typeface="汉仪宋韵朗黑W" panose="00020600040101010101" charset="-122"/>
              </a:rPr>
              <a:t> </a:t>
            </a:r>
            <a:r>
              <a:rPr lang="en-US" altLang="zh-CN" sz="2800">
                <a:latin typeface="Book Antiqua" panose="02040602050305030304" charset="0"/>
                <a:ea typeface="汉仪宋韵朗黑W" panose="00020600040101010101" charset="-122"/>
                <a:cs typeface="Book Antiqua" panose="02040602050305030304" charset="0"/>
              </a:rPr>
              <a:t>What you need to consider</a:t>
            </a:r>
            <a:r>
              <a:rPr lang="en-US" altLang="zh-CN" sz="3000">
                <a:latin typeface="Book Antiqua" panose="02040602050305030304" charset="0"/>
                <a:ea typeface="汉仪宋韵朗黑W" panose="00020600040101010101" charset="-122"/>
                <a:cs typeface="Book Antiqua" panose="02040602050305030304" charset="0"/>
              </a:rPr>
              <a:t>:</a:t>
            </a:r>
          </a:p>
        </p:txBody>
      </p:sp>
      <p:sp>
        <p:nvSpPr>
          <p:cNvPr id="14" name="矩形 13"/>
          <p:cNvSpPr/>
          <p:nvPr/>
        </p:nvSpPr>
        <p:spPr>
          <a:xfrm flipH="1">
            <a:off x="4035425" y="272733"/>
            <a:ext cx="7998460" cy="231140"/>
          </a:xfrm>
          <a:prstGeom prst="rect">
            <a:avLst/>
          </a:prstGeom>
          <a:solidFill>
            <a:srgbClr val="1F2E3F"/>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宋韵朗黑W" panose="00020600040101010101" charset="-122"/>
              <a:ea typeface="汉仪宋韵朗黑W" panose="00020600040101010101" charset="-122"/>
              <a:cs typeface="汉仪宋韵朗黑W" panose="00020600040101010101" charset="-122"/>
            </a:endParaRPr>
          </a:p>
        </p:txBody>
      </p:sp>
      <p:sp>
        <p:nvSpPr>
          <p:cNvPr id="18" name="矩形 17"/>
          <p:cNvSpPr/>
          <p:nvPr/>
        </p:nvSpPr>
        <p:spPr>
          <a:xfrm flipH="1">
            <a:off x="266065" y="6336030"/>
            <a:ext cx="7998460" cy="231140"/>
          </a:xfrm>
          <a:prstGeom prst="rect">
            <a:avLst/>
          </a:prstGeom>
          <a:solidFill>
            <a:srgbClr val="1F2E3F"/>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宋韵朗黑W" panose="00020600040101010101" charset="-122"/>
              <a:ea typeface="汉仪宋韵朗黑W" panose="00020600040101010101" charset="-122"/>
              <a:cs typeface="汉仪宋韵朗黑W" panose="00020600040101010101" charset="-122"/>
            </a:endParaRPr>
          </a:p>
        </p:txBody>
      </p:sp>
      <p:sp>
        <p:nvSpPr>
          <p:cNvPr id="19" name="矩形 18"/>
          <p:cNvSpPr/>
          <p:nvPr/>
        </p:nvSpPr>
        <p:spPr>
          <a:xfrm>
            <a:off x="-4445" y="6409055"/>
            <a:ext cx="5976044" cy="85090"/>
          </a:xfrm>
          <a:prstGeom prst="rect">
            <a:avLst/>
          </a:prstGeom>
          <a:gradFill>
            <a:gsLst>
              <a:gs pos="52000">
                <a:srgbClr val="1F2E3F"/>
              </a:gs>
              <a:gs pos="100000">
                <a:schemeClr val="accent1">
                  <a:lumMod val="45000"/>
                  <a:lumOff val="55000"/>
                </a:schemeClr>
              </a:gs>
              <a:gs pos="100000">
                <a:schemeClr val="accent5">
                  <a:lumMod val="50000"/>
                </a:schemeClr>
              </a:gs>
              <a:gs pos="100000">
                <a:schemeClr val="accent1">
                  <a:lumMod val="30000"/>
                  <a:lumOff val="7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宋韵朗黑W" panose="00020600040101010101" charset="-122"/>
              <a:ea typeface="汉仪宋韵朗黑W" panose="00020600040101010101" charset="-122"/>
              <a:cs typeface="汉仪宋韵朗黑W" panose="00020600040101010101" charset="-122"/>
            </a:endParaRPr>
          </a:p>
        </p:txBody>
      </p:sp>
      <p:pic>
        <p:nvPicPr>
          <p:cNvPr id="2" name="图片 1" descr="1-91"/>
          <p:cNvPicPr>
            <a:picLocks noChangeAspect="1"/>
          </p:cNvPicPr>
          <p:nvPr/>
        </p:nvPicPr>
        <p:blipFill>
          <a:blip r:embed="rId2"/>
          <a:stretch>
            <a:fillRect/>
          </a:stretch>
        </p:blipFill>
        <p:spPr>
          <a:xfrm>
            <a:off x="1266190" y="216535"/>
            <a:ext cx="2622550" cy="1311275"/>
          </a:xfrm>
          <a:prstGeom prst="rect">
            <a:avLst/>
          </a:prstGeom>
        </p:spPr>
      </p:pic>
      <p:sp>
        <p:nvSpPr>
          <p:cNvPr id="3" name="文本框 2"/>
          <p:cNvSpPr txBox="1"/>
          <p:nvPr/>
        </p:nvSpPr>
        <p:spPr>
          <a:xfrm>
            <a:off x="143510" y="2101215"/>
            <a:ext cx="6190615" cy="1753235"/>
          </a:xfrm>
          <a:prstGeom prst="rect">
            <a:avLst/>
          </a:prstGeom>
        </p:spPr>
        <p:txBody>
          <a:bodyPr wrap="square">
            <a:spAutoFit/>
          </a:bodyPr>
          <a:lstStyle/>
          <a:p>
            <a:r>
              <a:rPr lang="en-US" altLang="zh-CN" sz="5400" b="1" dirty="0">
                <a:solidFill>
                  <a:srgbClr val="18213D"/>
                </a:solidFill>
                <a:latin typeface="Book Antiqua" panose="02040602050305030304" charset="0"/>
                <a:ea typeface="Noto Serif SC Black" panose="02020200000000000000" charset="-122"/>
                <a:cs typeface="Book Antiqua" panose="02040602050305030304" charset="0"/>
              </a:rPr>
              <a:t>LITERATURE </a:t>
            </a:r>
          </a:p>
          <a:p>
            <a:r>
              <a:rPr lang="en-US" altLang="zh-CN" sz="5400" b="1" dirty="0">
                <a:solidFill>
                  <a:srgbClr val="18213D"/>
                </a:solidFill>
                <a:latin typeface="Book Antiqua" panose="02040602050305030304" charset="0"/>
                <a:ea typeface="Noto Serif SC Black" panose="02020200000000000000" charset="-122"/>
                <a:cs typeface="Book Antiqua" panose="02040602050305030304" charset="0"/>
              </a:rPr>
              <a:t>REVIEW</a:t>
            </a:r>
          </a:p>
        </p:txBody>
      </p:sp>
      <p:pic>
        <p:nvPicPr>
          <p:cNvPr id="10" name="图片 9"/>
          <p:cNvPicPr>
            <a:picLocks noChangeAspect="1"/>
          </p:cNvPicPr>
          <p:nvPr/>
        </p:nvPicPr>
        <p:blipFill>
          <a:blip r:embed="rId3"/>
          <a:stretch>
            <a:fillRect/>
          </a:stretch>
        </p:blipFill>
        <p:spPr>
          <a:xfrm>
            <a:off x="5061585" y="818515"/>
            <a:ext cx="6972300" cy="48583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格 6"/>
          <p:cNvGraphicFramePr/>
          <p:nvPr>
            <p:custDataLst>
              <p:tags r:id="rId1"/>
            </p:custDataLst>
            <p:extLst>
              <p:ext uri="{D42A27DB-BD31-4B8C-83A1-F6EECF244321}">
                <p14:modId xmlns:p14="http://schemas.microsoft.com/office/powerpoint/2010/main" val="1096844200"/>
              </p:ext>
            </p:extLst>
          </p:nvPr>
        </p:nvGraphicFramePr>
        <p:xfrm>
          <a:off x="446405" y="243840"/>
          <a:ext cx="10860405" cy="6043295"/>
        </p:xfrm>
        <a:graphic>
          <a:graphicData uri="http://schemas.openxmlformats.org/drawingml/2006/table">
            <a:tbl>
              <a:tblPr/>
              <a:tblGrid>
                <a:gridCol w="1055370">
                  <a:extLst>
                    <a:ext uri="{9D8B030D-6E8A-4147-A177-3AD203B41FA5}">
                      <a16:colId xmlns:a16="http://schemas.microsoft.com/office/drawing/2014/main" val="20000"/>
                    </a:ext>
                  </a:extLst>
                </a:gridCol>
                <a:gridCol w="2108200">
                  <a:extLst>
                    <a:ext uri="{9D8B030D-6E8A-4147-A177-3AD203B41FA5}">
                      <a16:colId xmlns:a16="http://schemas.microsoft.com/office/drawing/2014/main" val="20001"/>
                    </a:ext>
                  </a:extLst>
                </a:gridCol>
                <a:gridCol w="1591945">
                  <a:extLst>
                    <a:ext uri="{9D8B030D-6E8A-4147-A177-3AD203B41FA5}">
                      <a16:colId xmlns:a16="http://schemas.microsoft.com/office/drawing/2014/main" val="20002"/>
                    </a:ext>
                  </a:extLst>
                </a:gridCol>
                <a:gridCol w="2167890">
                  <a:extLst>
                    <a:ext uri="{9D8B030D-6E8A-4147-A177-3AD203B41FA5}">
                      <a16:colId xmlns:a16="http://schemas.microsoft.com/office/drawing/2014/main" val="20003"/>
                    </a:ext>
                  </a:extLst>
                </a:gridCol>
                <a:gridCol w="1800225">
                  <a:extLst>
                    <a:ext uri="{9D8B030D-6E8A-4147-A177-3AD203B41FA5}">
                      <a16:colId xmlns:a16="http://schemas.microsoft.com/office/drawing/2014/main" val="20004"/>
                    </a:ext>
                  </a:extLst>
                </a:gridCol>
                <a:gridCol w="2136775">
                  <a:extLst>
                    <a:ext uri="{9D8B030D-6E8A-4147-A177-3AD203B41FA5}">
                      <a16:colId xmlns:a16="http://schemas.microsoft.com/office/drawing/2014/main" val="20005"/>
                    </a:ext>
                  </a:extLst>
                </a:gridCol>
              </a:tblGrid>
              <a:tr h="443230">
                <a:tc>
                  <a:txBody>
                    <a:bodyPr/>
                    <a:lstStyle/>
                    <a:p>
                      <a:pPr marL="0" indent="0">
                        <a:spcBef>
                          <a:spcPts val="700"/>
                        </a:spcBef>
                        <a:spcAft>
                          <a:spcPts val="700"/>
                        </a:spcAft>
                      </a:pPr>
                      <a:r>
                        <a:rPr lang="en-US" altLang="zh-CN" sz="1400" b="1">
                          <a:latin typeface="Arial" panose="020B0604020202020204" pitchFamily="34" charset="0"/>
                          <a:ea typeface="Times New Roman" panose="02020603050405020304"/>
                          <a:cs typeface="Arial" panose="020B0604020202020204" pitchFamily="34" charset="0"/>
                        </a:rPr>
                        <a:t>Study</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Contributions </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lstStyle/>
                    <a:p>
                      <a:pPr marL="0" indent="0">
                        <a:spcBef>
                          <a:spcPts val="700"/>
                        </a:spcBef>
                        <a:spcAft>
                          <a:spcPts val="700"/>
                        </a:spcAft>
                      </a:pPr>
                      <a:r>
                        <a:rPr lang="en-US" altLang="zh-CN" sz="1400" b="1">
                          <a:latin typeface="Arial" panose="020B0604020202020204"/>
                          <a:ea typeface="Arial" panose="020B0604020202020204"/>
                        </a:rPr>
                        <a:t>Model</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Data</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lstStyle/>
                    <a:p>
                      <a:pPr marL="0" indent="0">
                        <a:spcBef>
                          <a:spcPts val="700"/>
                        </a:spcBef>
                        <a:spcAft>
                          <a:spcPts val="700"/>
                        </a:spcAft>
                      </a:pPr>
                      <a:r>
                        <a:rPr lang="en-US" altLang="zh-CN" sz="1400" b="1">
                          <a:latin typeface="Arial" panose="020B0604020202020204"/>
                          <a:ea typeface="Arial" panose="020B0604020202020204"/>
                        </a:rPr>
                        <a:t>Strength</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lstStyle/>
                    <a:p>
                      <a:pPr marL="0" indent="0">
                        <a:spcBef>
                          <a:spcPts val="700"/>
                        </a:spcBef>
                        <a:spcAft>
                          <a:spcPts val="700"/>
                        </a:spcAft>
                      </a:pPr>
                      <a:r>
                        <a:rPr lang="en-US" altLang="zh-CN" sz="1400" b="1">
                          <a:latin typeface="Arial" panose="020B0604020202020204"/>
                          <a:ea typeface="Arial" panose="020B0604020202020204"/>
                        </a:rPr>
                        <a:t>Weakness</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extLst>
                  <a:ext uri="{0D108BD9-81ED-4DB2-BD59-A6C34878D82A}">
                    <a16:rowId xmlns:a16="http://schemas.microsoft.com/office/drawing/2014/main" val="10000"/>
                  </a:ext>
                </a:extLst>
              </a:tr>
              <a:tr h="1350645">
                <a:tc>
                  <a:txBody>
                    <a:bodyPr/>
                    <a:lstStyle/>
                    <a:p>
                      <a:pPr marL="0" indent="0">
                        <a:lnSpc>
                          <a:spcPct val="140000"/>
                        </a:lnSpc>
                        <a:spcBef>
                          <a:spcPts val="700"/>
                        </a:spcBef>
                        <a:spcAft>
                          <a:spcPts val="700"/>
                        </a:spcAft>
                      </a:pPr>
                      <a:r>
                        <a:rPr lang="en-US" altLang="zh-CN" sz="1400" b="1">
                          <a:latin typeface="Arial" panose="020B0604020202020204"/>
                          <a:ea typeface="等线" panose="02010600030101010101" charset="-122"/>
                        </a:rPr>
                        <a:t>Islam et al.</a:t>
                      </a:r>
                      <a:r>
                        <a:rPr lang="en-US" altLang="zh-CN" sz="1400" b="1">
                          <a:latin typeface="Arial" panose="020B0604020202020204"/>
                          <a:ea typeface="Arial" panose="020B0604020202020204"/>
                        </a:rPr>
                        <a:t> (2024)[9] </a:t>
                      </a:r>
                    </a:p>
                    <a:p>
                      <a:pPr marL="0" indent="0">
                        <a:spcBef>
                          <a:spcPts val="700"/>
                        </a:spcBef>
                        <a:spcAft>
                          <a:spcPts val="700"/>
                        </a:spcAft>
                      </a:pPr>
                      <a:r>
                        <a:rPr lang="en-US" altLang="zh-CN" sz="1400" b="1">
                          <a:latin typeface="Arial" panose="020B0604020202020204"/>
                          <a:ea typeface="等线" panose="02010600030101010101" charset="-122"/>
                        </a:rPr>
                        <a:t> </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Predict Aman rice yield using 52 years of climate </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Random Forest</a:t>
                      </a:r>
                    </a:p>
                    <a:p>
                      <a:pPr marL="0" indent="0">
                        <a:spcBef>
                          <a:spcPct val="0"/>
                        </a:spcBef>
                        <a:spcAft>
                          <a:spcPct val="0"/>
                        </a:spcAft>
                      </a:pPr>
                      <a:r>
                        <a:rPr lang="en-US" altLang="zh-CN" sz="1400" b="1">
                          <a:latin typeface="Arial" panose="020B0604020202020204"/>
                          <a:ea typeface="等线" panose="02010600030101010101" charset="-122"/>
                        </a:rPr>
                        <a:t> </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Temp, rainfall, humidity, wind (1970–2022)</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High accuracy (R²=0.964), handles complex data well</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Not time series; misses long-term trends</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extLst>
                  <a:ext uri="{0D108BD9-81ED-4DB2-BD59-A6C34878D82A}">
                    <a16:rowId xmlns:a16="http://schemas.microsoft.com/office/drawing/2014/main" val="10001"/>
                  </a:ext>
                </a:extLst>
              </a:tr>
              <a:tr h="1158240">
                <a:tc>
                  <a:txBody>
                    <a:bodyPr/>
                    <a:lstStyle/>
                    <a:p>
                      <a:pPr marL="0" indent="0">
                        <a:spcBef>
                          <a:spcPts val="700"/>
                        </a:spcBef>
                        <a:spcAft>
                          <a:spcPts val="700"/>
                        </a:spcAft>
                      </a:pPr>
                      <a:r>
                        <a:rPr lang="en-US" altLang="zh-CN" sz="1400" b="1">
                          <a:latin typeface="Arial" panose="020B0604020202020204"/>
                          <a:ea typeface="等线" panose="02010600030101010101" charset="-122"/>
                        </a:rPr>
                        <a:t>Kumar et al.</a:t>
                      </a:r>
                      <a:r>
                        <a:rPr lang="en-US" altLang="zh-CN" sz="1400" b="1">
                          <a:latin typeface="Arial" panose="020B0604020202020204"/>
                          <a:ea typeface="Arial" panose="020B0604020202020204"/>
                        </a:rPr>
                        <a:t> (2023)</a:t>
                      </a:r>
                      <a:r>
                        <a:rPr lang="en-US" altLang="zh-CN" sz="1400" b="1">
                          <a:latin typeface="Arial" panose="020B0604020202020204"/>
                          <a:ea typeface="等线" panose="02010600030101010101" charset="-122"/>
                        </a:rPr>
                        <a:t>[10]</a:t>
                      </a:r>
                    </a:p>
                    <a:p>
                      <a:pPr marL="0" indent="0">
                        <a:spcBef>
                          <a:spcPts val="700"/>
                        </a:spcBef>
                        <a:spcAft>
                          <a:spcPts val="700"/>
                        </a:spcAft>
                      </a:pPr>
                      <a:r>
                        <a:rPr lang="en-US" altLang="zh-CN" sz="1400" b="1">
                          <a:latin typeface="Arial" panose="020B0604020202020204"/>
                          <a:ea typeface="等线" panose="02010600030101010101" charset="-122"/>
                        </a:rPr>
                        <a:t> </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lstStyle/>
                    <a:p>
                      <a:pPr marL="0" indent="0">
                        <a:spcBef>
                          <a:spcPts val="700"/>
                        </a:spcBef>
                        <a:spcAft>
                          <a:spcPts val="700"/>
                        </a:spcAft>
                      </a:pPr>
                      <a:r>
                        <a:rPr lang="en-US" altLang="zh-CN" sz="1400" b="1" dirty="0">
                          <a:latin typeface="Arial" panose="020B0604020202020204"/>
                          <a:ea typeface="等线" panose="02010600030101010101" charset="-122"/>
                        </a:rPr>
                        <a:t>Predict daily rainfall in Delhi for flood warning</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XGBoost</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Daily rainfall (1980–2021)</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Very accurate (R²≈0.99), good at time series features</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Only tested in Delhi; lacks generalization</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extLst>
                  <a:ext uri="{0D108BD9-81ED-4DB2-BD59-A6C34878D82A}">
                    <a16:rowId xmlns:a16="http://schemas.microsoft.com/office/drawing/2014/main" val="10002"/>
                  </a:ext>
                </a:extLst>
              </a:tr>
              <a:tr h="1162050">
                <a:tc>
                  <a:txBody>
                    <a:bodyPr/>
                    <a:lstStyle/>
                    <a:p>
                      <a:pPr marL="0" indent="0">
                        <a:spcBef>
                          <a:spcPts val="700"/>
                        </a:spcBef>
                        <a:spcAft>
                          <a:spcPts val="700"/>
                        </a:spcAft>
                      </a:pPr>
                      <a:r>
                        <a:rPr lang="en-US" altLang="zh-CN" sz="1400" b="1">
                          <a:latin typeface="Arial" panose="020B0604020202020204"/>
                          <a:ea typeface="等线" panose="02010600030101010101" charset="-122"/>
                        </a:rPr>
                        <a:t>Wang et al.</a:t>
                      </a:r>
                      <a:r>
                        <a:rPr lang="en-US" altLang="zh-CN" sz="1400" b="1">
                          <a:latin typeface="Arial" panose="020B0604020202020204"/>
                          <a:ea typeface="Arial" panose="020B0604020202020204"/>
                        </a:rPr>
                        <a:t> (2023)</a:t>
                      </a:r>
                      <a:r>
                        <a:rPr lang="en-US" altLang="zh-CN" sz="1400" b="1">
                          <a:latin typeface="Arial" panose="020B0604020202020204"/>
                          <a:ea typeface="等线" panose="02010600030101010101" charset="-122"/>
                        </a:rPr>
                        <a:t>[11]</a:t>
                      </a:r>
                    </a:p>
                    <a:p>
                      <a:pPr marL="0" indent="0">
                        <a:spcBef>
                          <a:spcPts val="700"/>
                        </a:spcBef>
                        <a:spcAft>
                          <a:spcPts val="700"/>
                        </a:spcAft>
                      </a:pPr>
                      <a:r>
                        <a:rPr lang="en-US" altLang="zh-CN" sz="1400" b="1">
                          <a:latin typeface="Arial" panose="020B0604020202020204"/>
                          <a:ea typeface="等线" panose="02010600030101010101" charset="-122"/>
                        </a:rPr>
                        <a:t> </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lstStyle/>
                    <a:p>
                      <a:pPr marL="0" indent="0">
                        <a:spcBef>
                          <a:spcPts val="700"/>
                        </a:spcBef>
                        <a:spcAft>
                          <a:spcPts val="700"/>
                        </a:spcAft>
                      </a:pPr>
                      <a:r>
                        <a:rPr lang="en-US" altLang="zh-CN" sz="1400" b="1" dirty="0">
                          <a:latin typeface="Arial" panose="020B0604020202020204"/>
                          <a:ea typeface="等线" panose="02010600030101010101" charset="-122"/>
                        </a:rPr>
                        <a:t>Drought prediction in </a:t>
                      </a:r>
                      <a:r>
                        <a:rPr lang="en-US" altLang="zh-CN" sz="1400" b="1" dirty="0" err="1">
                          <a:latin typeface="Arial" panose="020B0604020202020204"/>
                          <a:ea typeface="等线" panose="02010600030101010101" charset="-122"/>
                        </a:rPr>
                        <a:t>Dongjiang</a:t>
                      </a:r>
                      <a:r>
                        <a:rPr lang="en-US" altLang="zh-CN" sz="1400" b="1" dirty="0">
                          <a:latin typeface="Arial" panose="020B0604020202020204"/>
                          <a:ea typeface="等线" panose="02010600030101010101" charset="-122"/>
                        </a:rPr>
                        <a:t> River </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LSTM</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lstStyle/>
                    <a:p>
                      <a:pPr marL="0" indent="0" defTabSz="914400">
                        <a:spcBef>
                          <a:spcPts val="700"/>
                        </a:spcBef>
                        <a:spcAft>
                          <a:spcPts val="700"/>
                        </a:spcAft>
                        <a:tabLst>
                          <a:tab pos="381000" algn="l"/>
                        </a:tabLst>
                      </a:pPr>
                      <a:r>
                        <a:rPr lang="en-US" altLang="zh-CN" sz="1400" b="1">
                          <a:latin typeface="Arial" panose="020B0604020202020204"/>
                          <a:ea typeface="等线" panose="02010600030101010101" charset="-122"/>
                        </a:rPr>
                        <a:t>10 weather</a:t>
                      </a:r>
                      <a:r>
                        <a:rPr lang="en-US" altLang="zh-CN" sz="1400" b="1">
                          <a:latin typeface="Arial" panose="020B0604020202020204"/>
                          <a:ea typeface="Arial" panose="020B0604020202020204"/>
                        </a:rPr>
                        <a:t> </a:t>
                      </a:r>
                      <a:r>
                        <a:rPr lang="en-US" altLang="zh-CN" sz="1400" b="1">
                          <a:latin typeface="Arial" panose="020B0604020202020204"/>
                          <a:ea typeface="等线" panose="02010600030101010101" charset="-122"/>
                        </a:rPr>
                        <a:t>+ environment variables	</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Uses multi-source data</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No model comparison; only tested in one region</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extLst>
                  <a:ext uri="{0D108BD9-81ED-4DB2-BD59-A6C34878D82A}">
                    <a16:rowId xmlns:a16="http://schemas.microsoft.com/office/drawing/2014/main" val="10003"/>
                  </a:ext>
                </a:extLst>
              </a:tr>
              <a:tr h="1157605">
                <a:tc>
                  <a:txBody>
                    <a:bodyPr/>
                    <a:lstStyle/>
                    <a:p>
                      <a:pPr marL="0" indent="0">
                        <a:spcBef>
                          <a:spcPts val="700"/>
                        </a:spcBef>
                        <a:spcAft>
                          <a:spcPts val="700"/>
                        </a:spcAft>
                      </a:pPr>
                      <a:r>
                        <a:rPr lang="en-US" altLang="zh-CN" sz="1400" b="1">
                          <a:latin typeface="Arial" panose="020B0604020202020204"/>
                          <a:ea typeface="等线" panose="02010600030101010101" charset="-122"/>
                        </a:rPr>
                        <a:t>Zhang et al</a:t>
                      </a:r>
                      <a:r>
                        <a:rPr lang="en-US" altLang="zh-CN" sz="1400" b="1">
                          <a:latin typeface="Arial" panose="020B0604020202020204"/>
                          <a:ea typeface="Arial" panose="020B0604020202020204"/>
                        </a:rPr>
                        <a:t>. (2019)</a:t>
                      </a:r>
                      <a:r>
                        <a:rPr lang="en-US" altLang="zh-CN" sz="1400" b="1">
                          <a:latin typeface="Arial" panose="020B0604020202020204"/>
                          <a:ea typeface="等线" panose="02010600030101010101" charset="-122"/>
                        </a:rPr>
                        <a:t>[1</a:t>
                      </a:r>
                      <a:r>
                        <a:rPr lang="en-US" altLang="zh-CN" sz="1400" b="1">
                          <a:latin typeface="Arial" panose="020B0604020202020204"/>
                          <a:ea typeface="Arial" panose="020B0604020202020204"/>
                        </a:rPr>
                        <a:t>2</a:t>
                      </a:r>
                      <a:r>
                        <a:rPr lang="en-US" altLang="zh-CN" sz="1400" b="1">
                          <a:latin typeface="Arial" panose="020B0604020202020204"/>
                          <a:ea typeface="等线" panose="02010600030101010101" charset="-122"/>
                        </a:rPr>
                        <a:t>]</a:t>
                      </a:r>
                    </a:p>
                    <a:p>
                      <a:pPr marL="0" indent="0">
                        <a:spcBef>
                          <a:spcPts val="700"/>
                        </a:spcBef>
                        <a:spcAft>
                          <a:spcPts val="700"/>
                        </a:spcAft>
                      </a:pPr>
                      <a:r>
                        <a:rPr lang="en-US" altLang="zh-CN" sz="1400" b="1">
                          <a:latin typeface="Arial" panose="020B0604020202020204"/>
                          <a:ea typeface="等线" panose="02010600030101010101" charset="-122"/>
                        </a:rPr>
                        <a:t> </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Drought level classification using SPEI in </a:t>
                      </a:r>
                      <a:r>
                        <a:rPr lang="en-US" altLang="zh-CN" sz="1400" b="1">
                          <a:latin typeface="Arial" panose="020B0604020202020204"/>
                          <a:ea typeface="Arial" panose="020B0604020202020204"/>
                        </a:rPr>
                        <a:t>Shaanxi</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lstStyle/>
                    <a:p>
                      <a:pPr marL="0" indent="0" defTabSz="914400">
                        <a:spcBef>
                          <a:spcPts val="700"/>
                        </a:spcBef>
                        <a:spcAft>
                          <a:spcPts val="700"/>
                        </a:spcAft>
                        <a:tabLst>
                          <a:tab pos="342900" algn="l"/>
                        </a:tabLst>
                      </a:pPr>
                      <a:r>
                        <a:rPr lang="en-US" altLang="zh-CN" sz="1400" b="1">
                          <a:latin typeface="Arial" panose="020B0604020202020204"/>
                          <a:ea typeface="等线" panose="02010600030101010101" charset="-122"/>
                        </a:rPr>
                        <a:t>XGBoost	</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lstStyle/>
                    <a:p>
                      <a:pPr marL="0" indent="0">
                        <a:spcBef>
                          <a:spcPts val="700"/>
                        </a:spcBef>
                        <a:spcAft>
                          <a:spcPts val="700"/>
                        </a:spcAft>
                      </a:pPr>
                      <a:r>
                        <a:rPr lang="en-US" altLang="zh-CN" sz="1400" b="1" dirty="0">
                          <a:latin typeface="Arial" panose="020B0604020202020204"/>
                          <a:ea typeface="等线" panose="02010600030101010101" charset="-122"/>
                        </a:rPr>
                        <a:t>SPEI at 32 weather stations</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High prediction and classification accuracy</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Other models (ANN, DLNM) unstable or weak</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extLst>
                  <a:ext uri="{0D108BD9-81ED-4DB2-BD59-A6C34878D82A}">
                    <a16:rowId xmlns:a16="http://schemas.microsoft.com/office/drawing/2014/main" val="10004"/>
                  </a:ext>
                </a:extLst>
              </a:tr>
              <a:tr h="771525">
                <a:tc>
                  <a:txBody>
                    <a:bodyPr/>
                    <a:lstStyle/>
                    <a:p>
                      <a:pPr marL="0" indent="0">
                        <a:spcBef>
                          <a:spcPts val="700"/>
                        </a:spcBef>
                        <a:spcAft>
                          <a:spcPts val="700"/>
                        </a:spcAft>
                      </a:pPr>
                      <a:r>
                        <a:rPr lang="en-US" altLang="zh-CN" sz="1400" b="1">
                          <a:latin typeface="Arial" panose="020B0604020202020204"/>
                          <a:ea typeface="等线" panose="02010600030101010101" charset="-122"/>
                        </a:rPr>
                        <a:t>Li et al.</a:t>
                      </a:r>
                      <a:r>
                        <a:rPr lang="en-US" altLang="zh-CN" sz="1400" b="1">
                          <a:latin typeface="Arial" panose="020B0604020202020204"/>
                          <a:ea typeface="Arial" panose="020B0604020202020204"/>
                        </a:rPr>
                        <a:t> (2024)[13]</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Flood forecast using mixed real + simulated </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LSTM</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NAM + real flood events, 1–6 hr lead</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Mixed data improves model</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lstStyle/>
                    <a:p>
                      <a:pPr marL="0" indent="0">
                        <a:spcBef>
                          <a:spcPts val="700"/>
                        </a:spcBef>
                        <a:spcAft>
                          <a:spcPts val="700"/>
                        </a:spcAft>
                      </a:pPr>
                      <a:r>
                        <a:rPr lang="en-US" altLang="zh-CN" sz="1400" b="1" dirty="0">
                          <a:latin typeface="Arial" panose="020B0604020202020204"/>
                          <a:ea typeface="等线" panose="02010600030101010101" charset="-122"/>
                        </a:rPr>
                        <a:t>No comparison with other models</a:t>
                      </a:r>
                    </a:p>
                  </a:txBody>
                  <a:tcPr marL="68580" marR="68580" marT="0" marB="0" anchor="ctr">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custDataLst>
              <p:tags r:id="rId1"/>
            </p:custDataLst>
            <p:extLst>
              <p:ext uri="{D42A27DB-BD31-4B8C-83A1-F6EECF244321}">
                <p14:modId xmlns:p14="http://schemas.microsoft.com/office/powerpoint/2010/main" val="1499593583"/>
              </p:ext>
            </p:extLst>
          </p:nvPr>
        </p:nvGraphicFramePr>
        <p:xfrm>
          <a:off x="694055" y="400367"/>
          <a:ext cx="10803890" cy="6057265"/>
        </p:xfrm>
        <a:graphic>
          <a:graphicData uri="http://schemas.openxmlformats.org/drawingml/2006/table">
            <a:tbl>
              <a:tblPr/>
              <a:tblGrid>
                <a:gridCol w="1081405">
                  <a:extLst>
                    <a:ext uri="{9D8B030D-6E8A-4147-A177-3AD203B41FA5}">
                      <a16:colId xmlns:a16="http://schemas.microsoft.com/office/drawing/2014/main" val="20000"/>
                    </a:ext>
                  </a:extLst>
                </a:gridCol>
                <a:gridCol w="2064385">
                  <a:extLst>
                    <a:ext uri="{9D8B030D-6E8A-4147-A177-3AD203B41FA5}">
                      <a16:colId xmlns:a16="http://schemas.microsoft.com/office/drawing/2014/main" val="20001"/>
                    </a:ext>
                  </a:extLst>
                </a:gridCol>
                <a:gridCol w="1584325">
                  <a:extLst>
                    <a:ext uri="{9D8B030D-6E8A-4147-A177-3AD203B41FA5}">
                      <a16:colId xmlns:a16="http://schemas.microsoft.com/office/drawing/2014/main" val="20002"/>
                    </a:ext>
                  </a:extLst>
                </a:gridCol>
                <a:gridCol w="2158365">
                  <a:extLst>
                    <a:ext uri="{9D8B030D-6E8A-4147-A177-3AD203B41FA5}">
                      <a16:colId xmlns:a16="http://schemas.microsoft.com/office/drawing/2014/main" val="20003"/>
                    </a:ext>
                  </a:extLst>
                </a:gridCol>
                <a:gridCol w="1790065">
                  <a:extLst>
                    <a:ext uri="{9D8B030D-6E8A-4147-A177-3AD203B41FA5}">
                      <a16:colId xmlns:a16="http://schemas.microsoft.com/office/drawing/2014/main" val="20004"/>
                    </a:ext>
                  </a:extLst>
                </a:gridCol>
                <a:gridCol w="2125345">
                  <a:extLst>
                    <a:ext uri="{9D8B030D-6E8A-4147-A177-3AD203B41FA5}">
                      <a16:colId xmlns:a16="http://schemas.microsoft.com/office/drawing/2014/main" val="20005"/>
                    </a:ext>
                  </a:extLst>
                </a:gridCol>
              </a:tblGrid>
              <a:tr h="1065530">
                <a:tc>
                  <a:txBody>
                    <a:bodyPr/>
                    <a:lstStyle/>
                    <a:p>
                      <a:pPr marL="0" indent="0">
                        <a:spcBef>
                          <a:spcPts val="700"/>
                        </a:spcBef>
                        <a:spcAft>
                          <a:spcPts val="700"/>
                        </a:spcAft>
                      </a:pPr>
                      <a:r>
                        <a:rPr lang="en-US" altLang="zh-CN" sz="1400" b="1">
                          <a:latin typeface="Arial" panose="020B0604020202020204"/>
                          <a:ea typeface="等线" panose="02010600030101010101" charset="-122"/>
                        </a:rPr>
                        <a:t>Shafiq et al.</a:t>
                      </a:r>
                      <a:r>
                        <a:rPr lang="en-US" altLang="zh-CN" sz="1400" b="1">
                          <a:latin typeface="Arial" panose="020B0604020202020204"/>
                          <a:ea typeface="Arial" panose="020B0604020202020204"/>
                        </a:rPr>
                        <a:t> (2025) [14]</a:t>
                      </a:r>
                    </a:p>
                  </a:txBody>
                  <a:tcPr marL="68580" marR="68580" marT="0" marB="0" anchor="ct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Heatwave prediction in Lahore using deep </a:t>
                      </a:r>
                      <a:r>
                        <a:rPr lang="en-US" altLang="zh-CN" sz="1400" b="1">
                          <a:latin typeface="Arial" panose="020B0604020202020204"/>
                          <a:ea typeface="Arial" panose="020B0604020202020204"/>
                        </a:rPr>
                        <a:t>learning</a:t>
                      </a:r>
                    </a:p>
                  </a:txBody>
                  <a:tcPr marL="68580" marR="68580" marT="0" marB="0" anchor="ct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LSTM (compared with ANN, CNN)</a:t>
                      </a:r>
                    </a:p>
                  </a:txBody>
                  <a:tcPr marL="68580" marR="68580" marT="0" marB="0" anchor="ct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Max temp, humidity + XAI</a:t>
                      </a:r>
                    </a:p>
                  </a:txBody>
                  <a:tcPr marL="68580" marR="68580" marT="0" marB="0" anchor="ct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Best accuracy (96.2%); interpretable</a:t>
                      </a:r>
                    </a:p>
                  </a:txBody>
                  <a:tcPr marL="68580" marR="68580" marT="0" marB="0" anchor="ct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Small dataset; only for one city</a:t>
                      </a:r>
                    </a:p>
                  </a:txBody>
                  <a:tcPr marL="68580" marR="68580" marT="0" marB="0" anchor="ct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noFill/>
                  </a:tcPr>
                </a:tc>
                <a:extLst>
                  <a:ext uri="{0D108BD9-81ED-4DB2-BD59-A6C34878D82A}">
                    <a16:rowId xmlns:a16="http://schemas.microsoft.com/office/drawing/2014/main" val="10000"/>
                  </a:ext>
                </a:extLst>
              </a:tr>
              <a:tr h="1050925">
                <a:tc>
                  <a:txBody>
                    <a:bodyPr/>
                    <a:lstStyle/>
                    <a:p>
                      <a:pPr marL="0" indent="0">
                        <a:spcBef>
                          <a:spcPts val="700"/>
                        </a:spcBef>
                        <a:spcAft>
                          <a:spcPts val="700"/>
                        </a:spcAft>
                      </a:pPr>
                      <a:r>
                        <a:rPr lang="en-US" altLang="zh-CN" sz="1400" b="1">
                          <a:latin typeface="Arial" panose="020B0604020202020204"/>
                          <a:ea typeface="等线" panose="02010600030101010101" charset="-122"/>
                        </a:rPr>
                        <a:t>Essa et al.</a:t>
                      </a:r>
                      <a:r>
                        <a:rPr lang="en-US" altLang="zh-CN" sz="1400" b="1">
                          <a:latin typeface="Arial" panose="020B0604020202020204"/>
                          <a:ea typeface="Arial" panose="020B0604020202020204"/>
                        </a:rPr>
                        <a:t> (2022)[15]</a:t>
                      </a:r>
                    </a:p>
                  </a:txBody>
                  <a:tcPr marL="68580" marR="68580" marT="0" marB="0" anchor="ct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Thunderstorm prediction in South Africa</a:t>
                      </a:r>
                    </a:p>
                  </a:txBody>
                  <a:tcPr marL="68580" marR="68580" marT="0" marB="0" anchor="ct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CNN-LSTM</a:t>
                      </a:r>
                    </a:p>
                  </a:txBody>
                  <a:tcPr marL="68580" marR="68580" marT="0" marB="0" anchor="ct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240-hour lightning + weather data</a:t>
                      </a:r>
                    </a:p>
                  </a:txBody>
                  <a:tcPr marL="68580" marR="68580" marT="0" marB="0" anchor="ct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Best at capturing time + space info</a:t>
                      </a:r>
                    </a:p>
                  </a:txBody>
                  <a:tcPr marL="68580" marR="68580" marT="0" marB="0" anchor="ct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No noise data; possible overfitting</a:t>
                      </a:r>
                    </a:p>
                  </a:txBody>
                  <a:tcPr marL="68580" marR="68580" marT="0" marB="0" anchor="ct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noFill/>
                  </a:tcPr>
                </a:tc>
                <a:extLst>
                  <a:ext uri="{0D108BD9-81ED-4DB2-BD59-A6C34878D82A}">
                    <a16:rowId xmlns:a16="http://schemas.microsoft.com/office/drawing/2014/main" val="10001"/>
                  </a:ext>
                </a:extLst>
              </a:tr>
              <a:tr h="1314450">
                <a:tc>
                  <a:txBody>
                    <a:bodyPr/>
                    <a:lstStyle/>
                    <a:p>
                      <a:pPr marL="0" indent="0">
                        <a:spcBef>
                          <a:spcPts val="700"/>
                        </a:spcBef>
                        <a:spcAft>
                          <a:spcPts val="700"/>
                        </a:spcAft>
                      </a:pPr>
                      <a:r>
                        <a:rPr lang="en-US" altLang="zh-CN" sz="1400" b="1">
                          <a:latin typeface="Arial" panose="020B0604020202020204"/>
                          <a:ea typeface="等线" panose="02010600030101010101" charset="-122"/>
                        </a:rPr>
                        <a:t>Dikshit et al.</a:t>
                      </a:r>
                      <a:r>
                        <a:rPr lang="en-US" altLang="zh-CN" sz="1400" b="1">
                          <a:latin typeface="Arial" panose="020B0604020202020204"/>
                          <a:ea typeface="Arial" panose="020B0604020202020204"/>
                        </a:rPr>
                        <a:t> (2021)[16]</a:t>
                      </a:r>
                    </a:p>
                  </a:txBody>
                  <a:tcPr marL="68580" marR="68580" marT="0" marB="0" anchor="ct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SPEI drought prediction in Australia</a:t>
                      </a:r>
                    </a:p>
                  </a:txBody>
                  <a:tcPr marL="68580" marR="68580" marT="0" marB="0" anchor="ct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noFill/>
                  </a:tcPr>
                </a:tc>
                <a:tc>
                  <a:txBody>
                    <a:bodyPr/>
                    <a:lstStyle/>
                    <a:p>
                      <a:pPr marL="0" indent="0" defTabSz="914400">
                        <a:spcBef>
                          <a:spcPts val="700"/>
                        </a:spcBef>
                        <a:spcAft>
                          <a:spcPts val="700"/>
                        </a:spcAft>
                        <a:tabLst>
                          <a:tab pos="342900" algn="l"/>
                        </a:tabLst>
                      </a:pPr>
                      <a:r>
                        <a:rPr lang="en-US" altLang="zh-CN" sz="1400" b="1">
                          <a:latin typeface="Arial" panose="020B0604020202020204"/>
                          <a:ea typeface="等线" panose="02010600030101010101" charset="-122"/>
                        </a:rPr>
                        <a:t>LSTM vs ARIMA	</a:t>
                      </a:r>
                    </a:p>
                  </a:txBody>
                  <a:tcPr marL="68580" marR="68580" marT="0" marB="0" anchor="ct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100+ years of climate data (1901–2018)</a:t>
                      </a:r>
                    </a:p>
                  </a:txBody>
                  <a:tcPr marL="68580" marR="68580" marT="0" marB="0" anchor="ct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Good at long-term, extreme drought prediction</a:t>
                      </a:r>
                    </a:p>
                  </a:txBody>
                  <a:tcPr marL="68580" marR="68580" marT="0" marB="0" anchor="ct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Lacks variable explanation tools</a:t>
                      </a:r>
                    </a:p>
                  </a:txBody>
                  <a:tcPr marL="68580" marR="68580" marT="0" marB="0" anchor="ct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noFill/>
                  </a:tcPr>
                </a:tc>
                <a:extLst>
                  <a:ext uri="{0D108BD9-81ED-4DB2-BD59-A6C34878D82A}">
                    <a16:rowId xmlns:a16="http://schemas.microsoft.com/office/drawing/2014/main" val="10002"/>
                  </a:ext>
                </a:extLst>
              </a:tr>
              <a:tr h="1576070">
                <a:tc>
                  <a:txBody>
                    <a:bodyPr/>
                    <a:lstStyle/>
                    <a:p>
                      <a:pPr marL="0" indent="0">
                        <a:spcBef>
                          <a:spcPts val="700"/>
                        </a:spcBef>
                        <a:spcAft>
                          <a:spcPts val="700"/>
                        </a:spcAft>
                      </a:pPr>
                      <a:r>
                        <a:rPr lang="en-US" altLang="zh-CN" sz="1400" b="1">
                          <a:latin typeface="Arial" panose="020B0604020202020204"/>
                          <a:ea typeface="等线" panose="02010600030101010101" charset="-122"/>
                        </a:rPr>
                        <a:t>Xie et al.</a:t>
                      </a:r>
                      <a:r>
                        <a:rPr lang="en-US" altLang="zh-CN" sz="1400" b="1">
                          <a:latin typeface="Arial" panose="020B0604020202020204"/>
                          <a:ea typeface="Arial" panose="020B0604020202020204"/>
                        </a:rPr>
                        <a:t> (2024)</a:t>
                      </a:r>
                      <a:r>
                        <a:rPr lang="en-US" altLang="zh-CN" sz="1400" b="1">
                          <a:latin typeface="Arial" panose="020B0604020202020204"/>
                          <a:ea typeface="等线" panose="02010600030101010101" charset="-122"/>
                        </a:rPr>
                        <a:t> </a:t>
                      </a:r>
                      <a:r>
                        <a:rPr lang="en-US" altLang="zh-CN" sz="1400" b="1">
                          <a:latin typeface="Arial" panose="020B0604020202020204"/>
                          <a:ea typeface="Arial" panose="020B0604020202020204"/>
                        </a:rPr>
                        <a:t>[17]</a:t>
                      </a:r>
                    </a:p>
                  </a:txBody>
                  <a:tcPr marL="68580" marR="68580" marT="0" marB="0" anchor="ct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Flood forecasting using vector directions</a:t>
                      </a:r>
                    </a:p>
                  </a:txBody>
                  <a:tcPr marL="68580" marR="68580" marT="0" marB="0" anchor="ct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VD-LSTM</a:t>
                      </a:r>
                    </a:p>
                  </a:txBody>
                  <a:tcPr marL="68580" marR="68580" marT="0" marB="0" anchor="ct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Flood stage vectors (rise/fall/stable)</a:t>
                      </a:r>
                      <a:r>
                        <a:rPr lang="en-US" altLang="zh-CN" sz="1400" b="1">
                          <a:latin typeface="Arial" panose="020B0604020202020204"/>
                          <a:ea typeface="Arial" panose="020B0604020202020204"/>
                        </a:rPr>
                        <a:t> with other </a:t>
                      </a:r>
                      <a:r>
                        <a:rPr lang="en-US" altLang="zh-CN" sz="1400" b="1">
                          <a:latin typeface="Arial" panose="020B0604020202020204"/>
                          <a:ea typeface="等线" panose="02010600030101010101" charset="-122"/>
                        </a:rPr>
                        <a:t>environment variables</a:t>
                      </a:r>
                    </a:p>
                  </a:txBody>
                  <a:tcPr marL="68580" marR="68580" marT="0" marB="0" anchor="ct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Sensitive to flood process changes</a:t>
                      </a:r>
                    </a:p>
                  </a:txBody>
                  <a:tcPr marL="68580" marR="68580" marT="0" marB="0" anchor="ct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Peak flood simulation not accurate</a:t>
                      </a:r>
                    </a:p>
                  </a:txBody>
                  <a:tcPr marL="68580" marR="68580" marT="0" marB="0" anchor="ct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noFill/>
                  </a:tcPr>
                </a:tc>
                <a:extLst>
                  <a:ext uri="{0D108BD9-81ED-4DB2-BD59-A6C34878D82A}">
                    <a16:rowId xmlns:a16="http://schemas.microsoft.com/office/drawing/2014/main" val="10003"/>
                  </a:ext>
                </a:extLst>
              </a:tr>
              <a:tr h="1050290">
                <a:tc>
                  <a:txBody>
                    <a:bodyPr/>
                    <a:lstStyle/>
                    <a:p>
                      <a:pPr marL="0" indent="0">
                        <a:spcBef>
                          <a:spcPts val="700"/>
                        </a:spcBef>
                        <a:spcAft>
                          <a:spcPts val="700"/>
                        </a:spcAft>
                      </a:pPr>
                      <a:r>
                        <a:rPr lang="en-US" altLang="zh-CN" sz="1400" b="1">
                          <a:latin typeface="Arial" panose="020B0604020202020204"/>
                          <a:ea typeface="等线" panose="02010600030101010101" charset="-122"/>
                        </a:rPr>
                        <a:t>Frifra et al.</a:t>
                      </a:r>
                      <a:r>
                        <a:rPr lang="en-US" altLang="zh-CN" sz="1400" b="1">
                          <a:latin typeface="Arial" panose="020B0604020202020204"/>
                          <a:ea typeface="Arial" panose="020B0604020202020204"/>
                        </a:rPr>
                        <a:t> (2024)</a:t>
                      </a:r>
                      <a:r>
                        <a:rPr lang="en-US" altLang="zh-CN" sz="1400" b="1">
                          <a:latin typeface="Arial" panose="020B0604020202020204"/>
                          <a:ea typeface="等线" panose="02010600030101010101" charset="-122"/>
                        </a:rPr>
                        <a:t> </a:t>
                      </a:r>
                      <a:r>
                        <a:rPr lang="en-US" altLang="zh-CN" sz="1400" b="1">
                          <a:latin typeface="Arial" panose="020B0604020202020204"/>
                          <a:ea typeface="Arial" panose="020B0604020202020204"/>
                        </a:rPr>
                        <a:t>[18]</a:t>
                      </a:r>
                    </a:p>
                  </a:txBody>
                  <a:tcPr marL="68580" marR="68580" marT="0" marB="0" anchor="ct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Storm prediction in coastal France</a:t>
                      </a:r>
                    </a:p>
                  </a:txBody>
                  <a:tcPr marL="68580" marR="68580" marT="0" marB="0" anchor="ct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LSTM + XGBoost</a:t>
                      </a:r>
                    </a:p>
                  </a:txBody>
                  <a:tcPr marL="68580" marR="68580" marT="0" marB="0" anchor="ct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Wind, wave data from buoy station</a:t>
                      </a:r>
                    </a:p>
                  </a:txBody>
                  <a:tcPr marL="68580" marR="68580" marT="0" marB="0" anchor="ct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noFill/>
                  </a:tcPr>
                </a:tc>
                <a:tc>
                  <a:txBody>
                    <a:bodyPr/>
                    <a:lstStyle/>
                    <a:p>
                      <a:pPr marL="0" indent="0">
                        <a:spcBef>
                          <a:spcPts val="700"/>
                        </a:spcBef>
                        <a:spcAft>
                          <a:spcPts val="700"/>
                        </a:spcAft>
                      </a:pPr>
                      <a:r>
                        <a:rPr lang="en-US" altLang="zh-CN" sz="1400" b="1">
                          <a:latin typeface="Arial" panose="020B0604020202020204"/>
                          <a:ea typeface="等线" panose="02010600030101010101" charset="-122"/>
                        </a:rPr>
                        <a:t>Combines prediction + classification</a:t>
                      </a:r>
                    </a:p>
                  </a:txBody>
                  <a:tcPr marL="68580" marR="68580" marT="0" marB="0" anchor="ct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noFill/>
                  </a:tcPr>
                </a:tc>
                <a:tc>
                  <a:txBody>
                    <a:bodyPr/>
                    <a:lstStyle/>
                    <a:p>
                      <a:pPr marL="0" indent="0">
                        <a:spcBef>
                          <a:spcPts val="700"/>
                        </a:spcBef>
                        <a:spcAft>
                          <a:spcPts val="700"/>
                        </a:spcAft>
                      </a:pPr>
                      <a:r>
                        <a:rPr lang="en-US" altLang="zh-CN" sz="1400" b="1" dirty="0">
                          <a:latin typeface="Arial" panose="020B0604020202020204"/>
                          <a:ea typeface="等线" panose="02010600030101010101" charset="-122"/>
                        </a:rPr>
                        <a:t>LSTM underestimates extreme values</a:t>
                      </a:r>
                    </a:p>
                  </a:txBody>
                  <a:tcPr marL="68580" marR="68580" marT="0" marB="0" anchor="ct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DDD73-FEAE-7D1E-CD8B-9F6B521E0DBE}"/>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477926DE-301C-1FA1-1B29-B2A31EEAF4A9}"/>
              </a:ext>
            </a:extLst>
          </p:cNvPr>
          <p:cNvSpPr txBox="1"/>
          <p:nvPr/>
        </p:nvSpPr>
        <p:spPr>
          <a:xfrm>
            <a:off x="1276202" y="1550142"/>
            <a:ext cx="7657986" cy="3430170"/>
          </a:xfrm>
          <a:prstGeom prst="rect">
            <a:avLst/>
          </a:prstGeom>
          <a:noFill/>
        </p:spPr>
        <p:txBody>
          <a:bodyPr wrap="square">
            <a:spAutoFit/>
          </a:bodyPr>
          <a:lstStyle/>
          <a:p>
            <a:pPr marL="285750" indent="-285750">
              <a:lnSpc>
                <a:spcPct val="150000"/>
              </a:lnSpc>
              <a:spcBef>
                <a:spcPts val="600"/>
              </a:spcBef>
              <a:spcAft>
                <a:spcPts val="600"/>
              </a:spcAft>
              <a:buFont typeface="Arial" panose="020B0604020202020204" pitchFamily="34" charset="0"/>
              <a:buChar char="•"/>
            </a:pPr>
            <a:r>
              <a:rPr lang="en-GB" altLang="zh-CN" sz="2000" dirty="0"/>
              <a:t>Various models used: </a:t>
            </a:r>
            <a:r>
              <a:rPr lang="en-GB" altLang="zh-CN" sz="2000" dirty="0" err="1"/>
              <a:t>XGBoost</a:t>
            </a:r>
            <a:r>
              <a:rPr lang="en-GB" altLang="zh-CN" sz="2000" dirty="0"/>
              <a:t>, RF, LSTM, CNN-LSTM, VD-LSTM</a:t>
            </a:r>
          </a:p>
          <a:p>
            <a:pPr marL="285750" indent="-285750">
              <a:lnSpc>
                <a:spcPct val="150000"/>
              </a:lnSpc>
              <a:spcBef>
                <a:spcPts val="600"/>
              </a:spcBef>
              <a:spcAft>
                <a:spcPts val="600"/>
              </a:spcAft>
              <a:buFont typeface="Arial" panose="020B0604020202020204" pitchFamily="34" charset="0"/>
              <a:buChar char="•"/>
            </a:pPr>
            <a:r>
              <a:rPr lang="en-US" altLang="zh-CN" sz="2000" dirty="0"/>
              <a:t>Model performance varies by event type:</a:t>
            </a:r>
          </a:p>
          <a:p>
            <a:pPr lvl="1">
              <a:lnSpc>
                <a:spcPct val="150000"/>
              </a:lnSpc>
              <a:spcBef>
                <a:spcPts val="600"/>
              </a:spcBef>
              <a:spcAft>
                <a:spcPts val="600"/>
              </a:spcAft>
            </a:pPr>
            <a:r>
              <a:rPr lang="en-US" altLang="zh-CN" sz="2000" dirty="0" err="1"/>
              <a:t>XGBoost</a:t>
            </a:r>
            <a:r>
              <a:rPr lang="en-US" altLang="zh-CN" sz="2000" dirty="0"/>
              <a:t> better for storm classification</a:t>
            </a:r>
          </a:p>
          <a:p>
            <a:pPr lvl="1">
              <a:lnSpc>
                <a:spcPct val="150000"/>
              </a:lnSpc>
              <a:spcBef>
                <a:spcPts val="600"/>
              </a:spcBef>
              <a:spcAft>
                <a:spcPts val="600"/>
              </a:spcAft>
            </a:pPr>
            <a:r>
              <a:rPr lang="en-US" altLang="zh-CN" sz="2000" dirty="0"/>
              <a:t>LSTM is more suitable for capturing long-term climate trends dominated by time series such as droughts and heat waves.</a:t>
            </a:r>
            <a:endParaRPr lang="en-GB" altLang="zh-CN" sz="2000" dirty="0"/>
          </a:p>
          <a:p>
            <a:pPr marL="285750" indent="-285750">
              <a:lnSpc>
                <a:spcPct val="150000"/>
              </a:lnSpc>
              <a:spcBef>
                <a:spcPts val="600"/>
              </a:spcBef>
              <a:spcAft>
                <a:spcPts val="600"/>
              </a:spcAft>
              <a:buFont typeface="Arial" panose="020B0604020202020204" pitchFamily="34" charset="0"/>
              <a:buChar char="•"/>
            </a:pPr>
            <a:r>
              <a:rPr lang="en-US" altLang="zh-CN" sz="2000" dirty="0"/>
              <a:t>Hybrid LSTM models show </a:t>
            </a:r>
            <a:r>
              <a:rPr lang="en-US" altLang="zh-CN" sz="2000" b="1" dirty="0"/>
              <a:t>better accuracy and recall</a:t>
            </a:r>
          </a:p>
        </p:txBody>
      </p:sp>
      <p:sp>
        <p:nvSpPr>
          <p:cNvPr id="6" name="文本框 5">
            <a:extLst>
              <a:ext uri="{FF2B5EF4-FFF2-40B4-BE49-F238E27FC236}">
                <a16:creationId xmlns:a16="http://schemas.microsoft.com/office/drawing/2014/main" id="{CCB2B909-DB6E-91A6-C693-5E1663E9D3D1}"/>
              </a:ext>
            </a:extLst>
          </p:cNvPr>
          <p:cNvSpPr txBox="1"/>
          <p:nvPr/>
        </p:nvSpPr>
        <p:spPr>
          <a:xfrm>
            <a:off x="1225134" y="5307858"/>
            <a:ext cx="9968891" cy="1015663"/>
          </a:xfrm>
          <a:prstGeom prst="rect">
            <a:avLst/>
          </a:prstGeom>
          <a:noFill/>
        </p:spPr>
        <p:txBody>
          <a:bodyPr wrap="square">
            <a:spAutoFit/>
          </a:bodyPr>
          <a:lstStyle/>
          <a:p>
            <a:r>
              <a:rPr lang="en-US" altLang="zh-CN" sz="2000" dirty="0"/>
              <a:t>Therefore, for the long-term climate characteristic trends dominated by time series such as precipitation, temperature, and humidity involved in this project, the project will optimize on the basis of LSTM and build CEEMDAN-LSTM </a:t>
            </a:r>
            <a:r>
              <a:rPr lang="en-US" altLang="zh-CN" sz="2000" dirty="0" err="1"/>
              <a:t>amd</a:t>
            </a:r>
            <a:r>
              <a:rPr lang="en-US" altLang="zh-CN" sz="2000" dirty="0"/>
              <a:t> CEEMDAN-CNN-LSTM model.</a:t>
            </a:r>
            <a:endParaRPr lang="zh-CN" altLang="en-US" sz="2000" dirty="0"/>
          </a:p>
        </p:txBody>
      </p:sp>
      <p:pic>
        <p:nvPicPr>
          <p:cNvPr id="8" name="图片 7" descr="图片包含 室内, 桌子, 木, 堆&#10;&#10;AI 生成的内容可能不正确。">
            <a:extLst>
              <a:ext uri="{FF2B5EF4-FFF2-40B4-BE49-F238E27FC236}">
                <a16:creationId xmlns:a16="http://schemas.microsoft.com/office/drawing/2014/main" id="{B808F801-53A5-4B72-F06F-E271E5E596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97831" y="499047"/>
            <a:ext cx="1999809" cy="2929953"/>
          </a:xfrm>
          <a:prstGeom prst="rect">
            <a:avLst/>
          </a:prstGeom>
        </p:spPr>
      </p:pic>
      <p:sp>
        <p:nvSpPr>
          <p:cNvPr id="7" name="文本框 6">
            <a:extLst>
              <a:ext uri="{FF2B5EF4-FFF2-40B4-BE49-F238E27FC236}">
                <a16:creationId xmlns:a16="http://schemas.microsoft.com/office/drawing/2014/main" id="{17FB8845-B1A3-140C-2ACB-C51C88B7986F}"/>
              </a:ext>
            </a:extLst>
          </p:cNvPr>
          <p:cNvSpPr txBox="1"/>
          <p:nvPr/>
        </p:nvSpPr>
        <p:spPr>
          <a:xfrm>
            <a:off x="730156" y="499047"/>
            <a:ext cx="7540388" cy="830997"/>
          </a:xfrm>
          <a:prstGeom prst="rect">
            <a:avLst/>
          </a:prstGeom>
          <a:noFill/>
        </p:spPr>
        <p:txBody>
          <a:bodyPr wrap="square">
            <a:spAutoFit/>
          </a:bodyPr>
          <a:lstStyle/>
          <a:p>
            <a:pPr lvl="0">
              <a:defRPr/>
            </a:pPr>
            <a:r>
              <a:rPr lang="en-US" altLang="zh-CN" sz="4800" b="1" dirty="0">
                <a:solidFill>
                  <a:prstClr val="black"/>
                </a:solidFill>
              </a:rPr>
              <a:t>Findings from the literature</a:t>
            </a:r>
            <a:r>
              <a:rPr kumimoji="0" lang="en-US" altLang="zh-CN" sz="4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p>
        </p:txBody>
      </p:sp>
    </p:spTree>
    <p:extLst>
      <p:ext uri="{BB962C8B-B14F-4D97-AF65-F5344CB8AC3E}">
        <p14:creationId xmlns:p14="http://schemas.microsoft.com/office/powerpoint/2010/main" val="498367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05E1D-A9F0-49F2-86FC-C5B0614390C3}"/>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72222823-F1F4-6BBC-1133-48A1443BBBCD}"/>
              </a:ext>
            </a:extLst>
          </p:cNvPr>
          <p:cNvSpPr txBox="1"/>
          <p:nvPr/>
        </p:nvSpPr>
        <p:spPr>
          <a:xfrm>
            <a:off x="441960" y="303014"/>
            <a:ext cx="8702040" cy="523220"/>
          </a:xfrm>
          <a:prstGeom prst="rect">
            <a:avLst/>
          </a:prstGeom>
          <a:noFill/>
        </p:spPr>
        <p:txBody>
          <a:bodyPr wrap="square">
            <a:spAutoFit/>
          </a:bodyPr>
          <a:lstStyle/>
          <a:p>
            <a:r>
              <a:rPr lang="en-GB" altLang="zh-CN" sz="2800" b="1" dirty="0"/>
              <a:t>Literature review: Data Decomposition for Forecasting</a:t>
            </a:r>
            <a:endParaRPr lang="zh-CN" altLang="en-US" sz="2800" b="1" dirty="0"/>
          </a:p>
        </p:txBody>
      </p:sp>
      <p:sp>
        <p:nvSpPr>
          <p:cNvPr id="6" name="文本框 5">
            <a:extLst>
              <a:ext uri="{FF2B5EF4-FFF2-40B4-BE49-F238E27FC236}">
                <a16:creationId xmlns:a16="http://schemas.microsoft.com/office/drawing/2014/main" id="{F5076B24-71DE-77CF-09B4-C0760ACBE760}"/>
              </a:ext>
            </a:extLst>
          </p:cNvPr>
          <p:cNvSpPr txBox="1"/>
          <p:nvPr/>
        </p:nvSpPr>
        <p:spPr>
          <a:xfrm>
            <a:off x="441960" y="1426985"/>
            <a:ext cx="10988040" cy="4339650"/>
          </a:xfrm>
          <a:prstGeom prst="rect">
            <a:avLst/>
          </a:prstGeom>
          <a:noFill/>
        </p:spPr>
        <p:txBody>
          <a:bodyPr wrap="square">
            <a:spAutoFit/>
          </a:bodyPr>
          <a:lstStyle/>
          <a:p>
            <a:r>
              <a:rPr lang="en-GB" altLang="zh-CN" sz="2800" dirty="0"/>
              <a:t>Traditional time series methods struggle with non-stationary and complex climate data.</a:t>
            </a:r>
          </a:p>
          <a:p>
            <a:endParaRPr lang="en-GB" altLang="zh-CN" sz="2800" dirty="0"/>
          </a:p>
          <a:p>
            <a:pPr marL="342900" indent="-342900">
              <a:buFont typeface="Arial" panose="020B0604020202020204" pitchFamily="34" charset="0"/>
              <a:buChar char="•"/>
            </a:pPr>
            <a:r>
              <a:rPr lang="en-US" altLang="zh-CN" sz="2400" dirty="0"/>
              <a:t>In 1998, Huang et al. proposed the </a:t>
            </a:r>
            <a:r>
              <a:rPr lang="en-US" altLang="zh-CN" sz="2400" b="1" dirty="0"/>
              <a:t>EMD</a:t>
            </a:r>
            <a:r>
              <a:rPr lang="en-US" altLang="zh-CN" sz="2400" dirty="0"/>
              <a:t> (Empirical Mode Decomposition) method, which can adaptively decompose time series. However, it has the problem of mode mixing, and the physical meaning of the decomposition result will be lost.</a:t>
            </a:r>
          </a:p>
          <a:p>
            <a:pPr marL="342900" indent="-342900">
              <a:buFont typeface="Arial" panose="020B0604020202020204" pitchFamily="34" charset="0"/>
              <a:buChar char="•"/>
            </a:pPr>
            <a:r>
              <a:rPr lang="en-US" altLang="zh-CN" sz="2400" dirty="0"/>
              <a:t>In 2009, Wu and Huang proposed </a:t>
            </a:r>
            <a:r>
              <a:rPr lang="en-US" altLang="zh-CN" sz="2400" b="1" dirty="0"/>
              <a:t>EEMD</a:t>
            </a:r>
            <a:r>
              <a:rPr lang="en-US" altLang="zh-CN" sz="2400" dirty="0"/>
              <a:t>, which introduced white noise to alleviate mode mixing, but left residual noise.</a:t>
            </a:r>
          </a:p>
          <a:p>
            <a:pPr marL="342900" indent="-342900">
              <a:buFont typeface="Arial" panose="020B0604020202020204" pitchFamily="34" charset="0"/>
              <a:buChar char="•"/>
            </a:pPr>
            <a:r>
              <a:rPr lang="en-US" altLang="zh-CN" sz="2400" dirty="0"/>
              <a:t>In 2011, Torres et al. proposed </a:t>
            </a:r>
            <a:r>
              <a:rPr lang="en-US" altLang="zh-CN" sz="2400" b="1" dirty="0"/>
              <a:t>CEEMDAN</a:t>
            </a:r>
            <a:r>
              <a:rPr lang="en-US" altLang="zh-CN" sz="2400" dirty="0"/>
              <a:t>, which introduced adaptive noise at each step, effectively solved the reconstruction error problem, and improved the stability and efficiency of decomposition.</a:t>
            </a:r>
          </a:p>
        </p:txBody>
      </p:sp>
    </p:spTree>
    <p:extLst>
      <p:ext uri="{BB962C8B-B14F-4D97-AF65-F5344CB8AC3E}">
        <p14:creationId xmlns:p14="http://schemas.microsoft.com/office/powerpoint/2010/main" val="1071784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AEFEB-ACD0-AE35-E34F-57F24E8B8A4C}"/>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FC40B75C-799F-16A7-5D1C-606EB28478CD}"/>
              </a:ext>
            </a:extLst>
          </p:cNvPr>
          <p:cNvSpPr txBox="1"/>
          <p:nvPr/>
        </p:nvSpPr>
        <p:spPr>
          <a:xfrm>
            <a:off x="441960" y="303014"/>
            <a:ext cx="8702040" cy="523220"/>
          </a:xfrm>
          <a:prstGeom prst="rect">
            <a:avLst/>
          </a:prstGeom>
          <a:noFill/>
        </p:spPr>
        <p:txBody>
          <a:bodyPr wrap="square">
            <a:spAutoFit/>
          </a:bodyPr>
          <a:lstStyle/>
          <a:p>
            <a:r>
              <a:rPr lang="en-GB" altLang="zh-CN" sz="2800" b="1" dirty="0"/>
              <a:t>Literature </a:t>
            </a:r>
            <a:r>
              <a:rPr lang="en-US" altLang="zh-CN" sz="2800" b="1" dirty="0"/>
              <a:t>gap</a:t>
            </a:r>
            <a:endParaRPr lang="zh-CN" altLang="en-US" sz="2800" b="1" dirty="0"/>
          </a:p>
        </p:txBody>
      </p:sp>
      <p:sp>
        <p:nvSpPr>
          <p:cNvPr id="6" name="文本框 5">
            <a:extLst>
              <a:ext uri="{FF2B5EF4-FFF2-40B4-BE49-F238E27FC236}">
                <a16:creationId xmlns:a16="http://schemas.microsoft.com/office/drawing/2014/main" id="{7F02EE6C-02BC-1883-0B55-377A054EED3E}"/>
              </a:ext>
            </a:extLst>
          </p:cNvPr>
          <p:cNvSpPr txBox="1"/>
          <p:nvPr/>
        </p:nvSpPr>
        <p:spPr>
          <a:xfrm>
            <a:off x="441960" y="1161514"/>
            <a:ext cx="10988040" cy="4524315"/>
          </a:xfrm>
          <a:prstGeom prst="rect">
            <a:avLst/>
          </a:prstGeom>
          <a:noFill/>
        </p:spPr>
        <p:txBody>
          <a:bodyPr wrap="square">
            <a:spAutoFit/>
          </a:bodyPr>
          <a:lstStyle/>
          <a:p>
            <a:pPr marL="457200" indent="-457200">
              <a:buFont typeface="+mj-lt"/>
              <a:buAutoNum type="arabicPeriod"/>
            </a:pPr>
            <a:r>
              <a:rPr lang="en-US" altLang="zh-CN" sz="2400" dirty="0"/>
              <a:t>Single-focus models: Most existing studies target only one weather type (e.g., flood or drought).</a:t>
            </a:r>
          </a:p>
          <a:p>
            <a:pPr marL="457200" indent="-457200">
              <a:buFont typeface="+mj-lt"/>
              <a:buAutoNum type="arabicPeriod"/>
            </a:pPr>
            <a:r>
              <a:rPr lang="en-US" altLang="zh-CN" sz="2400" dirty="0"/>
              <a:t>Limited geography: Models are often built for only one region or city.</a:t>
            </a:r>
          </a:p>
          <a:p>
            <a:pPr marL="457200" indent="-457200">
              <a:buFont typeface="+mj-lt"/>
              <a:buAutoNum type="arabicPeriod"/>
            </a:pPr>
            <a:r>
              <a:rPr lang="en-US" altLang="zh-CN" sz="2400" dirty="0"/>
              <a:t>Time-series limitations: LSTM captures long-term trends but misses short-term changes and multi-scale patterns.</a:t>
            </a:r>
          </a:p>
          <a:p>
            <a:endParaRPr lang="en-US" altLang="zh-CN" sz="2400" dirty="0"/>
          </a:p>
          <a:p>
            <a:r>
              <a:rPr lang="en-US" altLang="zh-CN" sz="2400" dirty="0"/>
              <a:t>Solution: </a:t>
            </a:r>
          </a:p>
          <a:p>
            <a:pPr marL="342900" indent="-342900">
              <a:buFont typeface="Arial" panose="020B0604020202020204" pitchFamily="34" charset="0"/>
              <a:buChar char="•"/>
            </a:pPr>
            <a:r>
              <a:rPr lang="en-US" altLang="zh-CN" sz="2400" dirty="0"/>
              <a:t>CEEMDAN-LSTM / CEEMDAN-CNN-LSTM </a:t>
            </a:r>
          </a:p>
          <a:p>
            <a:pPr marL="342900" indent="-342900">
              <a:buFont typeface="Arial" panose="020B0604020202020204" pitchFamily="34" charset="0"/>
              <a:buChar char="•"/>
            </a:pPr>
            <a:r>
              <a:rPr lang="en-US" altLang="zh-CN" sz="2400" dirty="0"/>
              <a:t>Multi-scale decomposition </a:t>
            </a:r>
          </a:p>
          <a:p>
            <a:pPr marL="342900" indent="-342900">
              <a:buFont typeface="Arial" panose="020B0604020202020204" pitchFamily="34" charset="0"/>
              <a:buChar char="•"/>
            </a:pPr>
            <a:r>
              <a:rPr lang="en-US" altLang="zh-CN" sz="2400" dirty="0"/>
              <a:t>Improved short-term and long-term forecasting</a:t>
            </a:r>
          </a:p>
          <a:p>
            <a:pPr marL="342900" indent="-342900">
              <a:buFont typeface="Arial" panose="020B0604020202020204" pitchFamily="34" charset="0"/>
              <a:buChar char="•"/>
            </a:pPr>
            <a:r>
              <a:rPr lang="en-US" altLang="zh-CN" sz="2400" dirty="0"/>
              <a:t>Support prediction for floods and droughts</a:t>
            </a:r>
          </a:p>
          <a:p>
            <a:pPr marL="342900" indent="-342900">
              <a:buFont typeface="Arial" panose="020B0604020202020204" pitchFamily="34" charset="0"/>
              <a:buChar char="•"/>
            </a:pPr>
            <a:r>
              <a:rPr lang="en-US" altLang="zh-CN" sz="2400" dirty="0"/>
              <a:t>Support prediction for different Asian countries</a:t>
            </a:r>
            <a:endParaRPr lang="zh-CN" altLang="en-US" sz="2400" dirty="0"/>
          </a:p>
        </p:txBody>
      </p:sp>
    </p:spTree>
    <p:extLst>
      <p:ext uri="{BB962C8B-B14F-4D97-AF65-F5344CB8AC3E}">
        <p14:creationId xmlns:p14="http://schemas.microsoft.com/office/powerpoint/2010/main" val="5123696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91BD4-3227-ED18-0218-01D421C417F8}"/>
            </a:ext>
          </a:extLst>
        </p:cNvPr>
        <p:cNvGrpSpPr/>
        <p:nvPr/>
      </p:nvGrpSpPr>
      <p:grpSpPr>
        <a:xfrm>
          <a:off x="0" y="0"/>
          <a:ext cx="0" cy="0"/>
          <a:chOff x="0" y="0"/>
          <a:chExt cx="0" cy="0"/>
        </a:xfrm>
      </p:grpSpPr>
      <p:pic>
        <p:nvPicPr>
          <p:cNvPr id="3" name="图片 2" descr="图示&#10;&#10;AI 生成的内容可能不正确。">
            <a:extLst>
              <a:ext uri="{FF2B5EF4-FFF2-40B4-BE49-F238E27FC236}">
                <a16:creationId xmlns:a16="http://schemas.microsoft.com/office/drawing/2014/main" id="{F6778B44-E5CA-44BC-8E69-38D55E4D00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313" y="0"/>
            <a:ext cx="12386314" cy="6858000"/>
          </a:xfrm>
          <a:prstGeom prst="rect">
            <a:avLst/>
          </a:prstGeom>
        </p:spPr>
      </p:pic>
      <p:sp>
        <p:nvSpPr>
          <p:cNvPr id="5" name="半闭框 4">
            <a:extLst>
              <a:ext uri="{FF2B5EF4-FFF2-40B4-BE49-F238E27FC236}">
                <a16:creationId xmlns:a16="http://schemas.microsoft.com/office/drawing/2014/main" id="{7FF65428-A519-76DB-A592-32F6B921AD40}"/>
              </a:ext>
            </a:extLst>
          </p:cNvPr>
          <p:cNvSpPr/>
          <p:nvPr/>
        </p:nvSpPr>
        <p:spPr>
          <a:xfrm>
            <a:off x="0" y="285115"/>
            <a:ext cx="914400" cy="914400"/>
          </a:xfrm>
          <a:prstGeom prst="halfFrame">
            <a:avLst/>
          </a:prstGeom>
          <a:solidFill>
            <a:srgbClr val="1F2E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汉仪宋韵朗黑W" panose="00020600040101010101" charset="-122"/>
              <a:ea typeface="汉仪宋韵朗黑W" panose="00020600040101010101" charset="-122"/>
              <a:cs typeface="汉仪宋韵朗黑W" panose="00020600040101010101" charset="-122"/>
            </a:endParaRPr>
          </a:p>
        </p:txBody>
      </p:sp>
      <p:sp>
        <p:nvSpPr>
          <p:cNvPr id="7" name="矩形 6">
            <a:extLst>
              <a:ext uri="{FF2B5EF4-FFF2-40B4-BE49-F238E27FC236}">
                <a16:creationId xmlns:a16="http://schemas.microsoft.com/office/drawing/2014/main" id="{586E7FE4-1B35-A77C-22AB-7FEF397ABE15}"/>
              </a:ext>
            </a:extLst>
          </p:cNvPr>
          <p:cNvSpPr/>
          <p:nvPr/>
        </p:nvSpPr>
        <p:spPr>
          <a:xfrm flipH="1">
            <a:off x="3944620" y="285115"/>
            <a:ext cx="7998460" cy="231140"/>
          </a:xfrm>
          <a:prstGeom prst="rect">
            <a:avLst/>
          </a:prstGeom>
          <a:solidFill>
            <a:srgbClr val="1F2E3F"/>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宋韵朗黑W" panose="00020600040101010101" charset="-122"/>
              <a:ea typeface="汉仪宋韵朗黑W" panose="00020600040101010101" charset="-122"/>
              <a:cs typeface="汉仪宋韵朗黑W" panose="00020600040101010101" charset="-122"/>
            </a:endParaRPr>
          </a:p>
        </p:txBody>
      </p:sp>
      <p:sp>
        <p:nvSpPr>
          <p:cNvPr id="8" name="矩形 7">
            <a:extLst>
              <a:ext uri="{FF2B5EF4-FFF2-40B4-BE49-F238E27FC236}">
                <a16:creationId xmlns:a16="http://schemas.microsoft.com/office/drawing/2014/main" id="{2DE43D6E-4F0C-03F4-A6BF-D179BD5832D4}"/>
              </a:ext>
            </a:extLst>
          </p:cNvPr>
          <p:cNvSpPr/>
          <p:nvPr/>
        </p:nvSpPr>
        <p:spPr>
          <a:xfrm flipH="1">
            <a:off x="0" y="6337300"/>
            <a:ext cx="7998460" cy="231140"/>
          </a:xfrm>
          <a:prstGeom prst="rect">
            <a:avLst/>
          </a:prstGeom>
          <a:solidFill>
            <a:srgbClr val="1F2E3F"/>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宋韵朗黑W" panose="00020600040101010101" charset="-122"/>
              <a:ea typeface="汉仪宋韵朗黑W" panose="00020600040101010101" charset="-122"/>
              <a:cs typeface="汉仪宋韵朗黑W" panose="00020600040101010101" charset="-122"/>
            </a:endParaRPr>
          </a:p>
        </p:txBody>
      </p:sp>
      <p:sp>
        <p:nvSpPr>
          <p:cNvPr id="9" name="半闭框 8">
            <a:extLst>
              <a:ext uri="{FF2B5EF4-FFF2-40B4-BE49-F238E27FC236}">
                <a16:creationId xmlns:a16="http://schemas.microsoft.com/office/drawing/2014/main" id="{AADA69BF-C92E-3370-2D96-A18C5D5F4360}"/>
              </a:ext>
            </a:extLst>
          </p:cNvPr>
          <p:cNvSpPr/>
          <p:nvPr/>
        </p:nvSpPr>
        <p:spPr>
          <a:xfrm rot="5400000" flipH="1">
            <a:off x="11028680" y="5738495"/>
            <a:ext cx="914400" cy="914400"/>
          </a:xfrm>
          <a:prstGeom prst="halfFrame">
            <a:avLst/>
          </a:prstGeom>
          <a:solidFill>
            <a:srgbClr val="1F2E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汉仪宋韵朗黑W" panose="00020600040101010101" charset="-122"/>
              <a:ea typeface="汉仪宋韵朗黑W" panose="00020600040101010101" charset="-122"/>
              <a:cs typeface="汉仪宋韵朗黑W" panose="00020600040101010101" charset="-122"/>
            </a:endParaRPr>
          </a:p>
        </p:txBody>
      </p:sp>
    </p:spTree>
    <p:extLst>
      <p:ext uri="{BB962C8B-B14F-4D97-AF65-F5344CB8AC3E}">
        <p14:creationId xmlns:p14="http://schemas.microsoft.com/office/powerpoint/2010/main" val="2803643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E6436-32AB-6BEB-086F-ED395416AC26}"/>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9B423DA2-404F-79AC-579A-1D5BC71E076F}"/>
              </a:ext>
            </a:extLst>
          </p:cNvPr>
          <p:cNvSpPr txBox="1"/>
          <p:nvPr/>
        </p:nvSpPr>
        <p:spPr>
          <a:xfrm>
            <a:off x="441960" y="135017"/>
            <a:ext cx="8702040" cy="523220"/>
          </a:xfrm>
          <a:prstGeom prst="rect">
            <a:avLst/>
          </a:prstGeom>
          <a:noFill/>
        </p:spPr>
        <p:txBody>
          <a:bodyPr wrap="square">
            <a:spAutoFit/>
          </a:bodyPr>
          <a:lstStyle/>
          <a:p>
            <a:r>
              <a:rPr lang="en-GB" altLang="zh-CN" sz="2800" b="1" dirty="0"/>
              <a:t>Research Workflow</a:t>
            </a:r>
            <a:endParaRPr lang="zh-CN" altLang="en-US" sz="2800" b="1" dirty="0"/>
          </a:p>
        </p:txBody>
      </p:sp>
      <p:pic>
        <p:nvPicPr>
          <p:cNvPr id="2" name="图片 1">
            <a:extLst>
              <a:ext uri="{FF2B5EF4-FFF2-40B4-BE49-F238E27FC236}">
                <a16:creationId xmlns:a16="http://schemas.microsoft.com/office/drawing/2014/main" id="{760958EB-F5A2-7C39-C472-2119FD382CD2}"/>
              </a:ext>
            </a:extLst>
          </p:cNvPr>
          <p:cNvPicPr>
            <a:picLocks noChangeAspect="1"/>
          </p:cNvPicPr>
          <p:nvPr/>
        </p:nvPicPr>
        <p:blipFill>
          <a:blip r:embed="rId3" cstate="print">
            <a:extLst>
              <a:ext uri="{28A0092B-C50C-407E-A947-70E740481C1C}">
                <a14:useLocalDpi xmlns:a14="http://schemas.microsoft.com/office/drawing/2010/main" val="0"/>
              </a:ext>
            </a:extLst>
          </a:blip>
          <a:srcRect l="27886" r="27886"/>
          <a:stretch/>
        </p:blipFill>
        <p:spPr bwMode="auto">
          <a:xfrm>
            <a:off x="6927317" y="-132735"/>
            <a:ext cx="5264683" cy="7507244"/>
          </a:xfrm>
          <a:prstGeom prst="rect">
            <a:avLst/>
          </a:prstGeom>
          <a:noFill/>
          <a:ln>
            <a:noFill/>
          </a:ln>
          <a:extLst>
            <a:ext uri="{53640926-AAD7-44D8-BBD7-CCE9431645EC}">
              <a14:shadowObscured xmlns:a14="http://schemas.microsoft.com/office/drawing/2010/main"/>
            </a:ext>
          </a:extLst>
        </p:spPr>
      </p:pic>
      <p:sp>
        <p:nvSpPr>
          <p:cNvPr id="5" name="文本框 4">
            <a:extLst>
              <a:ext uri="{FF2B5EF4-FFF2-40B4-BE49-F238E27FC236}">
                <a16:creationId xmlns:a16="http://schemas.microsoft.com/office/drawing/2014/main" id="{6CBC8D74-AA72-BA5E-AB28-416E717B8F6B}"/>
              </a:ext>
            </a:extLst>
          </p:cNvPr>
          <p:cNvSpPr txBox="1"/>
          <p:nvPr/>
        </p:nvSpPr>
        <p:spPr>
          <a:xfrm>
            <a:off x="441960" y="1389757"/>
            <a:ext cx="6888480" cy="3682226"/>
          </a:xfrm>
          <a:prstGeom prst="rect">
            <a:avLst/>
          </a:prstGeom>
          <a:noFill/>
        </p:spPr>
        <p:txBody>
          <a:bodyPr wrap="square">
            <a:spAutoFit/>
          </a:bodyPr>
          <a:lstStyle/>
          <a:p>
            <a:r>
              <a:rPr lang="en-US" altLang="zh-CN" sz="2400" dirty="0"/>
              <a:t>This research workflow consists of four main phases:</a:t>
            </a:r>
          </a:p>
          <a:p>
            <a:endParaRPr lang="en-US" altLang="zh-CN" sz="2400" dirty="0"/>
          </a:p>
          <a:p>
            <a:pPr marL="342900" indent="-342900">
              <a:lnSpc>
                <a:spcPct val="200000"/>
              </a:lnSpc>
              <a:buFont typeface="Arial" panose="020B0604020202020204" pitchFamily="34" charset="0"/>
              <a:buChar char="•"/>
            </a:pPr>
            <a:r>
              <a:rPr lang="en-US" altLang="zh-CN" sz="2400" dirty="0"/>
              <a:t>Data Collection</a:t>
            </a:r>
          </a:p>
          <a:p>
            <a:pPr marL="342900" indent="-342900">
              <a:lnSpc>
                <a:spcPct val="200000"/>
              </a:lnSpc>
              <a:buFont typeface="Arial" panose="020B0604020202020204" pitchFamily="34" charset="0"/>
              <a:buChar char="•"/>
            </a:pPr>
            <a:r>
              <a:rPr lang="en-US" altLang="zh-CN" sz="2400" dirty="0"/>
              <a:t>Data Preprocessing</a:t>
            </a:r>
          </a:p>
          <a:p>
            <a:pPr marL="342900" indent="-342900">
              <a:lnSpc>
                <a:spcPct val="200000"/>
              </a:lnSpc>
              <a:buFont typeface="Arial" panose="020B0604020202020204" pitchFamily="34" charset="0"/>
              <a:buChar char="•"/>
            </a:pPr>
            <a:r>
              <a:rPr lang="en-US" altLang="zh-CN" sz="2400" dirty="0"/>
              <a:t>Modelling</a:t>
            </a:r>
          </a:p>
          <a:p>
            <a:pPr marL="342900" indent="-342900">
              <a:lnSpc>
                <a:spcPct val="200000"/>
              </a:lnSpc>
              <a:buFont typeface="Arial" panose="020B0604020202020204" pitchFamily="34" charset="0"/>
              <a:buChar char="•"/>
            </a:pPr>
            <a:r>
              <a:rPr lang="en-US" altLang="zh-CN" sz="2400" dirty="0"/>
              <a:t>Model Evaluation</a:t>
            </a:r>
            <a:endParaRPr lang="zh-CN" altLang="en-US" sz="2400" dirty="0"/>
          </a:p>
        </p:txBody>
      </p:sp>
    </p:spTree>
    <p:extLst>
      <p:ext uri="{BB962C8B-B14F-4D97-AF65-F5344CB8AC3E}">
        <p14:creationId xmlns:p14="http://schemas.microsoft.com/office/powerpoint/2010/main" val="31530508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7D85B-283D-2879-4E03-7FAE5DA46F25}"/>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F8D8C8AB-6BA6-1C94-55C4-9BFD3F9604DA}"/>
              </a:ext>
            </a:extLst>
          </p:cNvPr>
          <p:cNvSpPr txBox="1"/>
          <p:nvPr/>
        </p:nvSpPr>
        <p:spPr>
          <a:xfrm>
            <a:off x="441960" y="303014"/>
            <a:ext cx="8702040" cy="584775"/>
          </a:xfrm>
          <a:prstGeom prst="rect">
            <a:avLst/>
          </a:prstGeom>
          <a:noFill/>
        </p:spPr>
        <p:txBody>
          <a:bodyPr wrap="square">
            <a:spAutoFit/>
          </a:bodyPr>
          <a:lstStyle/>
          <a:p>
            <a:r>
              <a:rPr lang="en-GB" altLang="zh-CN" sz="3200" dirty="0"/>
              <a:t>Data Collection</a:t>
            </a:r>
            <a:endParaRPr lang="zh-CN" altLang="en-US" sz="3200" b="1" dirty="0"/>
          </a:p>
        </p:txBody>
      </p:sp>
      <p:sp>
        <p:nvSpPr>
          <p:cNvPr id="5" name="文本框 4">
            <a:extLst>
              <a:ext uri="{FF2B5EF4-FFF2-40B4-BE49-F238E27FC236}">
                <a16:creationId xmlns:a16="http://schemas.microsoft.com/office/drawing/2014/main" id="{6BC3D4FE-17A3-760D-9092-A5622967DA7C}"/>
              </a:ext>
            </a:extLst>
          </p:cNvPr>
          <p:cNvSpPr txBox="1"/>
          <p:nvPr/>
        </p:nvSpPr>
        <p:spPr>
          <a:xfrm>
            <a:off x="441960" y="1220260"/>
            <a:ext cx="5394960" cy="3913059"/>
          </a:xfrm>
          <a:prstGeom prst="rect">
            <a:avLst/>
          </a:prstGeom>
          <a:noFill/>
        </p:spPr>
        <p:txBody>
          <a:bodyPr wrap="square">
            <a:spAutoFit/>
          </a:bodyPr>
          <a:lstStyle/>
          <a:p>
            <a:pPr>
              <a:lnSpc>
                <a:spcPct val="150000"/>
              </a:lnSpc>
            </a:pPr>
            <a:r>
              <a:rPr lang="en-US" altLang="zh-CN" sz="2400" dirty="0"/>
              <a:t>Source: World Bank Climate Change Knowledge Portal</a:t>
            </a:r>
          </a:p>
          <a:p>
            <a:pPr>
              <a:lnSpc>
                <a:spcPct val="150000"/>
              </a:lnSpc>
            </a:pPr>
            <a:r>
              <a:rPr lang="en-US" altLang="zh-CN" sz="2400" dirty="0"/>
              <a:t>Scope: 8 Asian countries (1950–2023)</a:t>
            </a:r>
          </a:p>
          <a:p>
            <a:pPr>
              <a:lnSpc>
                <a:spcPct val="150000"/>
              </a:lnSpc>
            </a:pPr>
            <a:r>
              <a:rPr lang="en-US" altLang="zh-CN" sz="2400" dirty="0"/>
              <a:t>Frequency: Monthly data</a:t>
            </a:r>
          </a:p>
          <a:p>
            <a:pPr>
              <a:lnSpc>
                <a:spcPct val="150000"/>
              </a:lnSpc>
            </a:pPr>
            <a:r>
              <a:rPr lang="en-US" altLang="zh-CN" sz="2400" dirty="0"/>
              <a:t>Variables: 15 key climate indicators</a:t>
            </a:r>
            <a:br>
              <a:rPr lang="en-US" altLang="zh-CN" sz="2400" dirty="0"/>
            </a:br>
            <a:r>
              <a:rPr lang="en-US" altLang="zh-CN" sz="2400" dirty="0"/>
              <a:t>(e.g., pr, </a:t>
            </a:r>
            <a:r>
              <a:rPr lang="en-US" altLang="zh-CN" sz="2400" dirty="0" err="1"/>
              <a:t>cdd</a:t>
            </a:r>
            <a:r>
              <a:rPr lang="en-US" altLang="zh-CN" sz="2400" dirty="0"/>
              <a:t>, </a:t>
            </a:r>
            <a:r>
              <a:rPr lang="en-US" altLang="zh-CN" sz="2400" dirty="0" err="1"/>
              <a:t>tasmax</a:t>
            </a:r>
            <a:r>
              <a:rPr lang="en-US" altLang="zh-CN" sz="2400" dirty="0"/>
              <a:t>, rx1day, </a:t>
            </a:r>
            <a:r>
              <a:rPr lang="en-US" altLang="zh-CN" sz="2400" dirty="0" err="1"/>
              <a:t>hurs</a:t>
            </a:r>
            <a:r>
              <a:rPr lang="en-US" altLang="zh-CN" sz="2400" dirty="0"/>
              <a:t>, hi35...)</a:t>
            </a:r>
          </a:p>
          <a:p>
            <a:pPr>
              <a:lnSpc>
                <a:spcPct val="150000"/>
              </a:lnSpc>
            </a:pPr>
            <a:endParaRPr lang="en-US" altLang="zh-CN" sz="2400" dirty="0"/>
          </a:p>
        </p:txBody>
      </p:sp>
      <p:pic>
        <p:nvPicPr>
          <p:cNvPr id="6" name="图片 5" descr="表格&#10;&#10;AI 生成的内容可能不正确。">
            <a:extLst>
              <a:ext uri="{FF2B5EF4-FFF2-40B4-BE49-F238E27FC236}">
                <a16:creationId xmlns:a16="http://schemas.microsoft.com/office/drawing/2014/main" id="{265F3861-ABD9-4AC0-BC88-CD4B1195CF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33316"/>
            <a:ext cx="5639000" cy="6824684"/>
          </a:xfrm>
          <a:prstGeom prst="rect">
            <a:avLst/>
          </a:prstGeom>
        </p:spPr>
      </p:pic>
    </p:spTree>
    <p:extLst>
      <p:ext uri="{BB962C8B-B14F-4D97-AF65-F5344CB8AC3E}">
        <p14:creationId xmlns:p14="http://schemas.microsoft.com/office/powerpoint/2010/main" val="174813929"/>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A916C-8E6B-02AA-1C70-8D5E50B5613C}"/>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4B410FCF-B448-09BE-2EEF-C4DA01D0065B}"/>
              </a:ext>
            </a:extLst>
          </p:cNvPr>
          <p:cNvSpPr txBox="1"/>
          <p:nvPr/>
        </p:nvSpPr>
        <p:spPr>
          <a:xfrm>
            <a:off x="0" y="292198"/>
            <a:ext cx="8702040" cy="584775"/>
          </a:xfrm>
          <a:prstGeom prst="rect">
            <a:avLst/>
          </a:prstGeom>
          <a:noFill/>
        </p:spPr>
        <p:txBody>
          <a:bodyPr wrap="square">
            <a:spAutoFit/>
          </a:bodyPr>
          <a:lstStyle/>
          <a:p>
            <a:r>
              <a:rPr lang="en-GB" altLang="zh-CN" sz="3200" dirty="0"/>
              <a:t>Data Collection</a:t>
            </a:r>
            <a:endParaRPr lang="zh-CN" altLang="en-US" sz="3200" b="1" dirty="0"/>
          </a:p>
        </p:txBody>
      </p:sp>
      <p:pic>
        <p:nvPicPr>
          <p:cNvPr id="3" name="图片 2" descr="日历&#10;&#10;AI 生成的内容可能不正确。">
            <a:extLst>
              <a:ext uri="{FF2B5EF4-FFF2-40B4-BE49-F238E27FC236}">
                <a16:creationId xmlns:a16="http://schemas.microsoft.com/office/drawing/2014/main" id="{6A90E214-70BD-042E-1597-6F9E455243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36594" y="407606"/>
            <a:ext cx="9278425" cy="5688828"/>
          </a:xfrm>
          <a:prstGeom prst="rect">
            <a:avLst/>
          </a:prstGeom>
        </p:spPr>
      </p:pic>
      <p:pic>
        <p:nvPicPr>
          <p:cNvPr id="8" name="图片 7" descr="文本&#10;&#10;AI 生成的内容可能不正确。">
            <a:extLst>
              <a:ext uri="{FF2B5EF4-FFF2-40B4-BE49-F238E27FC236}">
                <a16:creationId xmlns:a16="http://schemas.microsoft.com/office/drawing/2014/main" id="{69AD740C-0E36-71E7-42B7-D1D2A504F3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6981" y="1461165"/>
            <a:ext cx="2370025" cy="3581710"/>
          </a:xfrm>
          <a:prstGeom prst="rect">
            <a:avLst/>
          </a:prstGeom>
        </p:spPr>
      </p:pic>
    </p:spTree>
    <p:extLst>
      <p:ext uri="{BB962C8B-B14F-4D97-AF65-F5344CB8AC3E}">
        <p14:creationId xmlns:p14="http://schemas.microsoft.com/office/powerpoint/2010/main" val="18527924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2D10B-A98C-98EF-3573-9830B91D20A9}"/>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B674944B-77D6-FE1B-14F9-CAA14F328801}"/>
              </a:ext>
            </a:extLst>
          </p:cNvPr>
          <p:cNvSpPr txBox="1"/>
          <p:nvPr/>
        </p:nvSpPr>
        <p:spPr>
          <a:xfrm>
            <a:off x="441960" y="1049774"/>
            <a:ext cx="8702040" cy="584775"/>
          </a:xfrm>
          <a:prstGeom prst="rect">
            <a:avLst/>
          </a:prstGeom>
          <a:noFill/>
        </p:spPr>
        <p:txBody>
          <a:bodyPr wrap="square">
            <a:spAutoFit/>
          </a:bodyPr>
          <a:lstStyle/>
          <a:p>
            <a:r>
              <a:rPr lang="en-GB" altLang="zh-CN" sz="3200" dirty="0"/>
              <a:t>Data</a:t>
            </a:r>
            <a:r>
              <a:rPr lang="en-GB" altLang="zh-CN" sz="2800" dirty="0"/>
              <a:t> </a:t>
            </a:r>
            <a:r>
              <a:rPr lang="en-GB" altLang="zh-CN" sz="3200" dirty="0"/>
              <a:t>Preprocessing</a:t>
            </a:r>
            <a:endParaRPr lang="zh-CN" altLang="en-US" sz="2800" b="1" dirty="0"/>
          </a:p>
        </p:txBody>
      </p:sp>
      <p:sp>
        <p:nvSpPr>
          <p:cNvPr id="5" name="文本框 4">
            <a:extLst>
              <a:ext uri="{FF2B5EF4-FFF2-40B4-BE49-F238E27FC236}">
                <a16:creationId xmlns:a16="http://schemas.microsoft.com/office/drawing/2014/main" id="{A98A69B8-E32A-C626-2240-6A60BB126D6E}"/>
              </a:ext>
            </a:extLst>
          </p:cNvPr>
          <p:cNvSpPr txBox="1"/>
          <p:nvPr/>
        </p:nvSpPr>
        <p:spPr>
          <a:xfrm>
            <a:off x="5684520" y="0"/>
            <a:ext cx="6065520" cy="6683048"/>
          </a:xfrm>
          <a:prstGeom prst="rect">
            <a:avLst/>
          </a:prstGeom>
          <a:noFill/>
        </p:spPr>
        <p:txBody>
          <a:bodyPr wrap="square">
            <a:spAutoFit/>
          </a:bodyPr>
          <a:lstStyle/>
          <a:p>
            <a:pPr>
              <a:lnSpc>
                <a:spcPct val="150000"/>
              </a:lnSpc>
            </a:pPr>
            <a:r>
              <a:rPr lang="en-GB" altLang="zh-CN" sz="2400" b="1" dirty="0"/>
              <a:t>Missing Value Handling</a:t>
            </a:r>
            <a:br>
              <a:rPr lang="en-GB" altLang="zh-CN" sz="2400" dirty="0"/>
            </a:br>
            <a:r>
              <a:rPr lang="en-GB" altLang="zh-CN" sz="2400" dirty="0"/>
              <a:t>• Linear interpolation (≤3 months)</a:t>
            </a:r>
            <a:br>
              <a:rPr lang="en-GB" altLang="zh-CN" sz="2400" dirty="0"/>
            </a:br>
            <a:r>
              <a:rPr lang="en-GB" altLang="zh-CN" sz="2400" dirty="0"/>
              <a:t>• Monthly historical average (&gt;3 months)</a:t>
            </a:r>
          </a:p>
          <a:p>
            <a:pPr>
              <a:lnSpc>
                <a:spcPct val="150000"/>
              </a:lnSpc>
            </a:pPr>
            <a:r>
              <a:rPr lang="en-GB" altLang="zh-CN" sz="2400" b="1" dirty="0"/>
              <a:t>Standardization</a:t>
            </a:r>
            <a:br>
              <a:rPr lang="en-GB" altLang="zh-CN" sz="2400" dirty="0"/>
            </a:br>
            <a:r>
              <a:rPr lang="en-GB" altLang="zh-CN" sz="2400" dirty="0"/>
              <a:t>• Min-Max scaling to [0,1] per country</a:t>
            </a:r>
          </a:p>
          <a:p>
            <a:pPr>
              <a:lnSpc>
                <a:spcPct val="150000"/>
              </a:lnSpc>
            </a:pPr>
            <a:r>
              <a:rPr lang="en-GB" altLang="zh-CN" sz="2400" b="1" dirty="0"/>
              <a:t>EDA</a:t>
            </a:r>
            <a:br>
              <a:rPr lang="en-GB" altLang="zh-CN" sz="2400" dirty="0"/>
            </a:br>
            <a:r>
              <a:rPr lang="en-GB" altLang="zh-CN" sz="2400" dirty="0"/>
              <a:t>• Distribution, trends, anomalies</a:t>
            </a:r>
            <a:br>
              <a:rPr lang="en-GB" altLang="zh-CN" sz="2400" dirty="0"/>
            </a:br>
            <a:r>
              <a:rPr lang="en-GB" altLang="zh-CN" sz="2400" dirty="0"/>
              <a:t>• Bar charts, line charts, etc </a:t>
            </a:r>
          </a:p>
          <a:p>
            <a:pPr>
              <a:lnSpc>
                <a:spcPct val="150000"/>
              </a:lnSpc>
            </a:pPr>
            <a:r>
              <a:rPr lang="en-GB" altLang="zh-CN" sz="2400" b="1" dirty="0"/>
              <a:t>Variable Importance Assessment</a:t>
            </a:r>
            <a:br>
              <a:rPr lang="en-GB" altLang="zh-CN" sz="2400" dirty="0"/>
            </a:br>
            <a:r>
              <a:rPr lang="en-GB" altLang="zh-CN" sz="2400" dirty="0"/>
              <a:t>• Random Forest + SHAP</a:t>
            </a:r>
          </a:p>
          <a:p>
            <a:pPr>
              <a:lnSpc>
                <a:spcPct val="150000"/>
              </a:lnSpc>
            </a:pPr>
            <a:r>
              <a:rPr lang="en-GB" altLang="zh-CN" sz="2400" b="1" dirty="0"/>
              <a:t>Key Variable Selection</a:t>
            </a:r>
            <a:br>
              <a:rPr lang="en-GB" altLang="zh-CN" sz="2400" dirty="0"/>
            </a:br>
            <a:r>
              <a:rPr lang="en-GB" altLang="zh-CN" sz="2400" dirty="0"/>
              <a:t>• heat map, correlation coefficient</a:t>
            </a:r>
          </a:p>
        </p:txBody>
      </p:sp>
      <p:pic>
        <p:nvPicPr>
          <p:cNvPr id="3074" name="Picture 2" descr="Basics of Data Preprocessing. Basic Understandings and Techniques of… | by  Oscar Daniel Hutajulu | Easyread">
            <a:extLst>
              <a:ext uri="{FF2B5EF4-FFF2-40B4-BE49-F238E27FC236}">
                <a16:creationId xmlns:a16="http://schemas.microsoft.com/office/drawing/2014/main" id="{A2D171F0-99A4-5DF2-F458-1B9D5C8FE7F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222" r="16112"/>
          <a:stretch>
            <a:fillRect/>
          </a:stretch>
        </p:blipFill>
        <p:spPr bwMode="auto">
          <a:xfrm>
            <a:off x="441960" y="2697361"/>
            <a:ext cx="3931920" cy="385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06794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909E1-30E5-4A06-D909-0D36B464B896}"/>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EF119F65-0B97-56B2-6E98-1CCA63D8682F}"/>
              </a:ext>
            </a:extLst>
          </p:cNvPr>
          <p:cNvSpPr txBox="1"/>
          <p:nvPr/>
        </p:nvSpPr>
        <p:spPr>
          <a:xfrm>
            <a:off x="441960" y="303014"/>
            <a:ext cx="8702040" cy="584775"/>
          </a:xfrm>
          <a:prstGeom prst="rect">
            <a:avLst/>
          </a:prstGeom>
          <a:noFill/>
        </p:spPr>
        <p:txBody>
          <a:bodyPr wrap="square">
            <a:spAutoFit/>
          </a:bodyPr>
          <a:lstStyle/>
          <a:p>
            <a:r>
              <a:rPr lang="en-GB" altLang="zh-CN" sz="3200" dirty="0"/>
              <a:t>Modelling</a:t>
            </a:r>
            <a:endParaRPr lang="zh-CN" altLang="en-US" sz="2800" b="1" dirty="0"/>
          </a:p>
        </p:txBody>
      </p:sp>
      <p:sp>
        <p:nvSpPr>
          <p:cNvPr id="5" name="文本框 4">
            <a:extLst>
              <a:ext uri="{FF2B5EF4-FFF2-40B4-BE49-F238E27FC236}">
                <a16:creationId xmlns:a16="http://schemas.microsoft.com/office/drawing/2014/main" id="{3B70FC72-3A4A-9336-A09A-490397E2E8AF}"/>
              </a:ext>
            </a:extLst>
          </p:cNvPr>
          <p:cNvSpPr txBox="1"/>
          <p:nvPr/>
        </p:nvSpPr>
        <p:spPr>
          <a:xfrm>
            <a:off x="1760219" y="1032862"/>
            <a:ext cx="7084523" cy="2251065"/>
          </a:xfrm>
          <a:prstGeom prst="rect">
            <a:avLst/>
          </a:prstGeom>
          <a:noFill/>
        </p:spPr>
        <p:txBody>
          <a:bodyPr wrap="square">
            <a:spAutoFit/>
          </a:bodyPr>
          <a:lstStyle/>
          <a:p>
            <a:pPr>
              <a:lnSpc>
                <a:spcPct val="150000"/>
              </a:lnSpc>
            </a:pPr>
            <a:r>
              <a:rPr lang="en-US" altLang="zh-CN" sz="2400" b="1" dirty="0"/>
              <a:t>Data Split</a:t>
            </a:r>
            <a:r>
              <a:rPr lang="en-US" altLang="zh-CN" sz="2400" dirty="0"/>
              <a:t>:</a:t>
            </a:r>
            <a:br>
              <a:rPr lang="en-US" altLang="zh-CN" sz="2400" dirty="0"/>
            </a:br>
            <a:r>
              <a:rPr lang="en-US" altLang="zh-CN" sz="2400" dirty="0"/>
              <a:t>• </a:t>
            </a:r>
            <a:r>
              <a:rPr lang="en-US" altLang="zh-CN" sz="2400" b="1" dirty="0"/>
              <a:t>Train/Validation</a:t>
            </a:r>
            <a:r>
              <a:rPr lang="en-US" altLang="zh-CN" sz="2400" dirty="0"/>
              <a:t>: January 1950 – January 2013 (85%)</a:t>
            </a:r>
            <a:br>
              <a:rPr lang="en-US" altLang="zh-CN" sz="2400" dirty="0"/>
            </a:br>
            <a:r>
              <a:rPr lang="en-US" altLang="zh-CN" sz="2400" dirty="0"/>
              <a:t>• </a:t>
            </a:r>
            <a:r>
              <a:rPr lang="en-US" altLang="zh-CN" sz="2400" b="1" dirty="0"/>
              <a:t>Test</a:t>
            </a:r>
            <a:r>
              <a:rPr lang="en-US" altLang="zh-CN" sz="2400" dirty="0"/>
              <a:t>: Jan 2013 – Dec 2023 (20%)</a:t>
            </a:r>
            <a:br>
              <a:rPr lang="en-US" altLang="zh-CN" sz="2400" dirty="0"/>
            </a:br>
            <a:r>
              <a:rPr lang="en-US" altLang="zh-CN" sz="2400" dirty="0"/>
              <a:t>• </a:t>
            </a:r>
            <a:r>
              <a:rPr lang="en-US" altLang="zh-CN" sz="2400" b="1" dirty="0"/>
              <a:t>Prediction Target</a:t>
            </a:r>
            <a:r>
              <a:rPr lang="en-US" altLang="zh-CN" sz="2400" dirty="0"/>
              <a:t>: Jan 2024 forwards</a:t>
            </a:r>
            <a:endParaRPr lang="en-GB" altLang="zh-CN" sz="2400" dirty="0"/>
          </a:p>
        </p:txBody>
      </p:sp>
      <p:pic>
        <p:nvPicPr>
          <p:cNvPr id="6" name="图片 5" descr="日程表&#10;&#10;AI 生成的内容可能不正确。">
            <a:extLst>
              <a:ext uri="{FF2B5EF4-FFF2-40B4-BE49-F238E27FC236}">
                <a16:creationId xmlns:a16="http://schemas.microsoft.com/office/drawing/2014/main" id="{74768FEE-3DD4-4592-BCC0-3B3263D9DE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8597" y="3429000"/>
            <a:ext cx="8702039" cy="3274142"/>
          </a:xfrm>
          <a:prstGeom prst="rect">
            <a:avLst/>
          </a:prstGeom>
        </p:spPr>
      </p:pic>
    </p:spTree>
    <p:extLst>
      <p:ext uri="{BB962C8B-B14F-4D97-AF65-F5344CB8AC3E}">
        <p14:creationId xmlns:p14="http://schemas.microsoft.com/office/powerpoint/2010/main" val="34169929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56F3D-43AA-C95D-5CAE-1C18B7B1E128}"/>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1EEB4B0E-C20A-CB8F-092E-39A6E5410C4B}"/>
              </a:ext>
            </a:extLst>
          </p:cNvPr>
          <p:cNvSpPr txBox="1"/>
          <p:nvPr/>
        </p:nvSpPr>
        <p:spPr>
          <a:xfrm>
            <a:off x="441960" y="303014"/>
            <a:ext cx="8702040" cy="584775"/>
          </a:xfrm>
          <a:prstGeom prst="rect">
            <a:avLst/>
          </a:prstGeom>
          <a:noFill/>
        </p:spPr>
        <p:txBody>
          <a:bodyPr wrap="square">
            <a:spAutoFit/>
          </a:bodyPr>
          <a:lstStyle/>
          <a:p>
            <a:r>
              <a:rPr lang="en-GB" altLang="zh-CN" sz="3200" dirty="0"/>
              <a:t>Modelling</a:t>
            </a:r>
            <a:endParaRPr lang="zh-CN" altLang="en-US" sz="2800" b="1" dirty="0"/>
          </a:p>
        </p:txBody>
      </p:sp>
      <p:sp>
        <p:nvSpPr>
          <p:cNvPr id="5" name="文本框 4">
            <a:extLst>
              <a:ext uri="{FF2B5EF4-FFF2-40B4-BE49-F238E27FC236}">
                <a16:creationId xmlns:a16="http://schemas.microsoft.com/office/drawing/2014/main" id="{47BC2FEF-349D-7691-ABBE-0E9694280229}"/>
              </a:ext>
            </a:extLst>
          </p:cNvPr>
          <p:cNvSpPr txBox="1"/>
          <p:nvPr/>
        </p:nvSpPr>
        <p:spPr>
          <a:xfrm>
            <a:off x="243840" y="1215506"/>
            <a:ext cx="5852160" cy="3046988"/>
          </a:xfrm>
          <a:prstGeom prst="rect">
            <a:avLst/>
          </a:prstGeom>
          <a:noFill/>
        </p:spPr>
        <p:txBody>
          <a:bodyPr wrap="square">
            <a:spAutoFit/>
          </a:bodyPr>
          <a:lstStyle/>
          <a:p>
            <a:r>
              <a:rPr lang="en-GB" altLang="zh-CN" sz="2400" b="1" dirty="0"/>
              <a:t>Step 1: CEEMDAN Decomposition</a:t>
            </a:r>
            <a:endParaRPr lang="en-GB" altLang="zh-CN" sz="2400" dirty="0"/>
          </a:p>
          <a:p>
            <a:r>
              <a:rPr lang="en-GB" altLang="zh-CN" sz="2400" dirty="0"/>
              <a:t>Each important variable (e.g., </a:t>
            </a:r>
            <a:r>
              <a:rPr lang="en-GB" altLang="zh-CN" sz="2400" dirty="0" err="1"/>
              <a:t>cdd</a:t>
            </a:r>
            <a:r>
              <a:rPr lang="en-GB" altLang="zh-CN" sz="2400" dirty="0"/>
              <a:t>, </a:t>
            </a:r>
            <a:r>
              <a:rPr lang="en-GB" altLang="zh-CN" sz="2400" dirty="0" err="1"/>
              <a:t>tasmax</a:t>
            </a:r>
            <a:r>
              <a:rPr lang="en-GB" altLang="zh-CN" sz="2400" dirty="0"/>
              <a:t>, rx1day) is decomposed using CEEMDAN.</a:t>
            </a:r>
          </a:p>
          <a:p>
            <a:r>
              <a:rPr lang="en-GB" altLang="zh-CN" sz="2400" dirty="0"/>
              <a:t>CEEMDAN produces multiple IMFs (Intrinsic Mode Function) across different time scales (e.g., seasonal, annual, multi-year).</a:t>
            </a:r>
          </a:p>
          <a:p>
            <a:r>
              <a:rPr lang="en-GB" altLang="zh-CN" sz="2400" dirty="0"/>
              <a:t>Helps convert complex, non-stationary signals into regular, </a:t>
            </a:r>
            <a:r>
              <a:rPr lang="en-GB" altLang="zh-CN" sz="2400" dirty="0" err="1"/>
              <a:t>analyzable</a:t>
            </a:r>
            <a:r>
              <a:rPr lang="en-GB" altLang="zh-CN" sz="2400" dirty="0"/>
              <a:t> components.</a:t>
            </a:r>
          </a:p>
        </p:txBody>
      </p:sp>
      <p:sp>
        <p:nvSpPr>
          <p:cNvPr id="8" name="文本框 7">
            <a:extLst>
              <a:ext uri="{FF2B5EF4-FFF2-40B4-BE49-F238E27FC236}">
                <a16:creationId xmlns:a16="http://schemas.microsoft.com/office/drawing/2014/main" id="{EDBF423B-7379-768A-ED07-D0F94E4CE960}"/>
              </a:ext>
            </a:extLst>
          </p:cNvPr>
          <p:cNvSpPr txBox="1"/>
          <p:nvPr/>
        </p:nvSpPr>
        <p:spPr>
          <a:xfrm>
            <a:off x="243840" y="4590211"/>
            <a:ext cx="10396451" cy="1938992"/>
          </a:xfrm>
          <a:prstGeom prst="rect">
            <a:avLst/>
          </a:prstGeom>
          <a:noFill/>
        </p:spPr>
        <p:txBody>
          <a:bodyPr wrap="square">
            <a:spAutoFit/>
          </a:bodyPr>
          <a:lstStyle/>
          <a:p>
            <a:pPr lvl="0">
              <a:defRPr/>
            </a:pPr>
            <a:r>
              <a:rPr kumimoji="0" lang="en-GB" altLang="zh-CN" sz="24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Step 2: </a:t>
            </a:r>
            <a:r>
              <a:rPr lang="en-US" altLang="zh-CN" sz="2400" b="1" dirty="0"/>
              <a:t>Per-IMF Prediction with CEEMDAN-(CNN-)LSTM</a:t>
            </a:r>
          </a:p>
          <a:p>
            <a:pPr lvl="0">
              <a:defRPr/>
            </a:pPr>
            <a:r>
              <a:rPr kumimoji="0" lang="en-US" altLang="zh-CN" sz="24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For each IMF, train a separate model: LSTM or CNN-LSTM.</a:t>
            </a:r>
          </a:p>
          <a:p>
            <a:pPr lvl="0">
              <a:defRPr/>
            </a:pPr>
            <a:r>
              <a:rPr kumimoji="0" lang="en-US" altLang="zh-CN" sz="24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Inputs: rolling windows of original meteorological predictors (the target).</a:t>
            </a:r>
          </a:p>
          <a:p>
            <a:pPr lvl="0">
              <a:defRPr/>
            </a:pPr>
            <a:r>
              <a:rPr kumimoji="0" lang="en-US" altLang="zh-CN" sz="24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Output: next-step value of that IMF (supervised, one-step-ahead).Preserves high/low-frequency patterns without manual grouping; learn IMFs independently.</a:t>
            </a:r>
            <a:endParaRPr kumimoji="0" lang="en-GB" altLang="zh-CN" sz="24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pic>
        <p:nvPicPr>
          <p:cNvPr id="7170" name="Picture 2">
            <a:extLst>
              <a:ext uri="{FF2B5EF4-FFF2-40B4-BE49-F238E27FC236}">
                <a16:creationId xmlns:a16="http://schemas.microsoft.com/office/drawing/2014/main" id="{D2A107BD-8685-5E3E-2F68-180DE3BB48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2687" y="594361"/>
            <a:ext cx="5782626" cy="399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880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466DA-CCC4-080A-2B4C-645E19FC45C9}"/>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E3387D93-ABEA-A77E-F48E-F82985F84D82}"/>
              </a:ext>
            </a:extLst>
          </p:cNvPr>
          <p:cNvSpPr txBox="1"/>
          <p:nvPr/>
        </p:nvSpPr>
        <p:spPr>
          <a:xfrm>
            <a:off x="441960" y="196334"/>
            <a:ext cx="8702040" cy="584775"/>
          </a:xfrm>
          <a:prstGeom prst="rect">
            <a:avLst/>
          </a:prstGeom>
          <a:noFill/>
        </p:spPr>
        <p:txBody>
          <a:bodyPr wrap="square">
            <a:spAutoFit/>
          </a:bodyPr>
          <a:lstStyle/>
          <a:p>
            <a:r>
              <a:rPr lang="en-GB" altLang="zh-CN" sz="3200" dirty="0"/>
              <a:t>Modelling</a:t>
            </a:r>
            <a:endParaRPr lang="zh-CN" altLang="en-US" sz="2800" b="1" dirty="0"/>
          </a:p>
        </p:txBody>
      </p:sp>
      <p:sp>
        <p:nvSpPr>
          <p:cNvPr id="8" name="文本框 7">
            <a:extLst>
              <a:ext uri="{FF2B5EF4-FFF2-40B4-BE49-F238E27FC236}">
                <a16:creationId xmlns:a16="http://schemas.microsoft.com/office/drawing/2014/main" id="{FCFB19FF-96FE-432C-D8B9-B1ABD8E11D0B}"/>
              </a:ext>
            </a:extLst>
          </p:cNvPr>
          <p:cNvSpPr txBox="1"/>
          <p:nvPr/>
        </p:nvSpPr>
        <p:spPr>
          <a:xfrm>
            <a:off x="1127760" y="979588"/>
            <a:ext cx="10011295" cy="2862322"/>
          </a:xfrm>
          <a:prstGeom prst="rect">
            <a:avLst/>
          </a:prstGeom>
          <a:noFill/>
        </p:spPr>
        <p:txBody>
          <a:bodyPr wrap="square">
            <a:spAutoFit/>
          </a:bodyPr>
          <a:lstStyle/>
          <a:p>
            <a:r>
              <a:rPr lang="en-US" altLang="zh-CN" sz="2000" b="1" dirty="0"/>
              <a:t>Step 3: Model Training per IMF</a:t>
            </a:r>
          </a:p>
          <a:p>
            <a:r>
              <a:rPr lang="en-US" altLang="zh-CN" sz="2000" dirty="0"/>
              <a:t>CEEMDAN-CNN-LSTM: 1D CNN extracts local temporal patterns, then LSTM captures long-term </a:t>
            </a:r>
            <a:r>
              <a:rPr lang="en-US" altLang="zh-CN" sz="2000" dirty="0" err="1"/>
              <a:t>dependencies.CEEMDAN</a:t>
            </a:r>
            <a:r>
              <a:rPr lang="en-US" altLang="zh-CN" sz="2000" dirty="0"/>
              <a:t>-LSTM: Directly inputs IMF subsequence into LSTM to learn sequential </a:t>
            </a:r>
            <a:r>
              <a:rPr lang="en-US" altLang="zh-CN" sz="2000" dirty="0" err="1"/>
              <a:t>patterns.Captures</a:t>
            </a:r>
            <a:r>
              <a:rPr lang="en-US" altLang="zh-CN" sz="2000" dirty="0"/>
              <a:t> both short-term fluctuations and long-term trends in IMF series.</a:t>
            </a:r>
          </a:p>
          <a:p>
            <a:endParaRPr lang="en-US" altLang="zh-CN" sz="2000" dirty="0"/>
          </a:p>
          <a:p>
            <a:r>
              <a:rPr lang="en-US" altLang="zh-CN" sz="2000" b="1" dirty="0"/>
              <a:t>Step 4: Forecast Reconstruction</a:t>
            </a:r>
          </a:p>
          <a:p>
            <a:r>
              <a:rPr lang="en-US" altLang="zh-CN" sz="2000" dirty="0"/>
              <a:t>Forecast each IMF → sum across all IMFs to rebuild target sequence.</a:t>
            </a:r>
          </a:p>
          <a:p>
            <a:r>
              <a:rPr lang="en-US" altLang="zh-CN" sz="2000" dirty="0"/>
              <a:t>Combines signals at quarterly, annual, multi-year scales.</a:t>
            </a:r>
          </a:p>
          <a:p>
            <a:r>
              <a:rPr lang="en-US" altLang="zh-CN" sz="2000" dirty="0"/>
              <a:t>Final forecast balances abrupt extremes + slow background shifts → higher accuracy &amp; stability.</a:t>
            </a:r>
          </a:p>
        </p:txBody>
      </p:sp>
      <p:pic>
        <p:nvPicPr>
          <p:cNvPr id="9218" name="Picture 2">
            <a:extLst>
              <a:ext uri="{FF2B5EF4-FFF2-40B4-BE49-F238E27FC236}">
                <a16:creationId xmlns:a16="http://schemas.microsoft.com/office/drawing/2014/main" id="{7D3CCA99-F547-49EA-A2FD-B8123F188C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760" y="3844055"/>
            <a:ext cx="8961120" cy="28176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02734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794ED-9BD4-BB67-A8B2-466C9F963C50}"/>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EB338AB2-177C-AD9E-CB8F-81202843C236}"/>
              </a:ext>
            </a:extLst>
          </p:cNvPr>
          <p:cNvSpPr txBox="1"/>
          <p:nvPr/>
        </p:nvSpPr>
        <p:spPr>
          <a:xfrm>
            <a:off x="441960" y="196334"/>
            <a:ext cx="8702040" cy="584775"/>
          </a:xfrm>
          <a:prstGeom prst="rect">
            <a:avLst/>
          </a:prstGeom>
          <a:noFill/>
        </p:spPr>
        <p:txBody>
          <a:bodyPr wrap="square">
            <a:spAutoFit/>
          </a:bodyPr>
          <a:lstStyle/>
          <a:p>
            <a:r>
              <a:rPr lang="en-GB" altLang="zh-CN" sz="3200" dirty="0"/>
              <a:t>Model Evaluation</a:t>
            </a:r>
            <a:endParaRPr lang="zh-CN" altLang="en-US" sz="2800" b="1" dirty="0"/>
          </a:p>
        </p:txBody>
      </p:sp>
      <p:sp>
        <p:nvSpPr>
          <p:cNvPr id="11" name="Rectangle 6">
            <a:extLst>
              <a:ext uri="{FF2B5EF4-FFF2-40B4-BE49-F238E27FC236}">
                <a16:creationId xmlns:a16="http://schemas.microsoft.com/office/drawing/2014/main" id="{7A10328C-2824-A77A-1CB0-CD10AF283CFA}"/>
              </a:ext>
            </a:extLst>
          </p:cNvPr>
          <p:cNvSpPr>
            <a:spLocks noChangeArrowheads="1"/>
          </p:cNvSpPr>
          <p:nvPr/>
        </p:nvSpPr>
        <p:spPr bwMode="auto">
          <a:xfrm>
            <a:off x="441960" y="969421"/>
            <a:ext cx="681089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GB" altLang="zh-CN" b="1" dirty="0"/>
              <a:t>Evaluation Setup</a:t>
            </a:r>
            <a:endParaRPr lang="en-GB" altLang="zh-CN" dirty="0"/>
          </a:p>
          <a:p>
            <a:r>
              <a:rPr lang="en-GB" altLang="zh-CN" b="1" dirty="0"/>
              <a:t>Two-stage:</a:t>
            </a:r>
            <a:r>
              <a:rPr lang="en-GB" altLang="zh-CN" dirty="0"/>
              <a:t> regression → classification.</a:t>
            </a:r>
          </a:p>
          <a:p>
            <a:r>
              <a:rPr lang="en-GB" altLang="zh-CN" dirty="0"/>
              <a:t>Targets: continuous CDD/Rx5Day → then discretized (e.g., </a:t>
            </a:r>
            <a:r>
              <a:rPr lang="en-GB" altLang="zh-CN" i="1" dirty="0"/>
              <a:t>Non</a:t>
            </a:r>
            <a:r>
              <a:rPr lang="en-GB" altLang="zh-CN" dirty="0"/>
              <a:t>, </a:t>
            </a:r>
            <a:r>
              <a:rPr lang="en-GB" altLang="zh-CN" i="1" dirty="0"/>
              <a:t>Slight</a:t>
            </a:r>
            <a:r>
              <a:rPr lang="en-GB" altLang="zh-CN" dirty="0"/>
              <a:t>, </a:t>
            </a:r>
            <a:r>
              <a:rPr lang="en-GB" altLang="zh-CN" i="1" dirty="0"/>
              <a:t>Drought</a:t>
            </a:r>
            <a:r>
              <a:rPr lang="en-GB" altLang="zh-CN" dirty="0"/>
              <a:t> by thresholds).</a:t>
            </a:r>
          </a:p>
          <a:p>
            <a:r>
              <a:rPr lang="en-GB" altLang="zh-CN" dirty="0"/>
              <a:t>Compare </a:t>
            </a:r>
            <a:r>
              <a:rPr lang="en-GB" altLang="zh-CN" b="1" dirty="0"/>
              <a:t>LSTM (baseline)</a:t>
            </a:r>
            <a:r>
              <a:rPr lang="en-GB" altLang="zh-CN" dirty="0"/>
              <a:t> vs </a:t>
            </a:r>
            <a:r>
              <a:rPr lang="en-GB" altLang="zh-CN" b="1" dirty="0"/>
              <a:t>CEEMDAN-LSTM</a:t>
            </a:r>
            <a:r>
              <a:rPr lang="en-GB" altLang="zh-CN" dirty="0"/>
              <a:t> vs </a:t>
            </a:r>
            <a:r>
              <a:rPr lang="en-GB" altLang="zh-CN" b="1" dirty="0"/>
              <a:t>CEEMDAN-CNN-LSTM</a:t>
            </a:r>
            <a:r>
              <a:rPr lang="en-GB" altLang="zh-CN" dirty="0"/>
              <a:t>.</a:t>
            </a:r>
          </a:p>
          <a:p>
            <a:endParaRPr lang="en-GB" altLang="zh-CN" b="1" dirty="0"/>
          </a:p>
          <a:p>
            <a:r>
              <a:rPr lang="en-GB" altLang="zh-CN" b="1" dirty="0"/>
              <a:t>Stage 1 — Regression </a:t>
            </a:r>
          </a:p>
          <a:p>
            <a:r>
              <a:rPr lang="en-GB" altLang="zh-CN" b="1" dirty="0"/>
              <a:t>MSE / RMSE / MAE / MAPE / R²</a:t>
            </a:r>
            <a:r>
              <a:rPr lang="en-GB" altLang="zh-CN" dirty="0"/>
              <a:t> (lower is better; higher R² better).</a:t>
            </a:r>
          </a:p>
          <a:p>
            <a:r>
              <a:rPr lang="en-GB" altLang="zh-CN" dirty="0"/>
              <a:t>Shows fit quality and error magnitude.</a:t>
            </a:r>
          </a:p>
          <a:p>
            <a:endParaRPr lang="en-GB" altLang="zh-CN" dirty="0"/>
          </a:p>
          <a:p>
            <a:r>
              <a:rPr lang="en-GB" altLang="zh-CN" b="1" dirty="0"/>
              <a:t>Stage 2 — Classification (discretized)</a:t>
            </a:r>
            <a:endParaRPr lang="en-GB" altLang="zh-CN" dirty="0"/>
          </a:p>
          <a:p>
            <a:r>
              <a:rPr lang="en-GB" altLang="zh-CN" b="1" dirty="0"/>
              <a:t>Accuracy</a:t>
            </a:r>
            <a:r>
              <a:rPr lang="en-GB" altLang="zh-CN" dirty="0"/>
              <a:t>, </a:t>
            </a:r>
            <a:r>
              <a:rPr lang="en-GB" altLang="zh-CN" b="1" dirty="0"/>
              <a:t>Macro-Precision</a:t>
            </a:r>
            <a:r>
              <a:rPr lang="en-GB" altLang="zh-CN" dirty="0"/>
              <a:t>, </a:t>
            </a:r>
            <a:r>
              <a:rPr lang="en-GB" altLang="zh-CN" b="1" dirty="0"/>
              <a:t>Macro-Recall</a:t>
            </a:r>
            <a:r>
              <a:rPr lang="en-GB" altLang="zh-CN" dirty="0"/>
              <a:t>, </a:t>
            </a:r>
            <a:r>
              <a:rPr lang="en-GB" altLang="zh-CN" b="1" dirty="0"/>
              <a:t>Macro-F1</a:t>
            </a:r>
            <a:r>
              <a:rPr lang="en-GB" altLang="zh-CN" dirty="0"/>
              <a:t>, </a:t>
            </a:r>
            <a:r>
              <a:rPr lang="en-GB" altLang="zh-CN" b="1" dirty="0"/>
              <a:t>Confusion Matrix</a:t>
            </a:r>
            <a:r>
              <a:rPr lang="en-GB" altLang="zh-CN" dirty="0"/>
              <a:t>.</a:t>
            </a:r>
          </a:p>
          <a:p>
            <a:r>
              <a:rPr lang="en-GB" altLang="zh-CN" dirty="0"/>
              <a:t>Focus on minority class detection and overall balance.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3" name="文本框 2">
            <a:extLst>
              <a:ext uri="{FF2B5EF4-FFF2-40B4-BE49-F238E27FC236}">
                <a16:creationId xmlns:a16="http://schemas.microsoft.com/office/drawing/2014/main" id="{BF90C3EE-6213-C079-91C5-64ABD703E4F0}"/>
              </a:ext>
            </a:extLst>
          </p:cNvPr>
          <p:cNvSpPr txBox="1"/>
          <p:nvPr/>
        </p:nvSpPr>
        <p:spPr>
          <a:xfrm>
            <a:off x="441960" y="4939739"/>
            <a:ext cx="6099462" cy="1200329"/>
          </a:xfrm>
          <a:prstGeom prst="rect">
            <a:avLst/>
          </a:prstGeom>
          <a:noFill/>
        </p:spPr>
        <p:txBody>
          <a:bodyPr wrap="square">
            <a:spAutoFit/>
          </a:bodyPr>
          <a:lstStyle/>
          <a:p>
            <a:pPr>
              <a:buNone/>
            </a:pPr>
            <a:r>
              <a:rPr lang="en-US" altLang="zh-CN" b="1" dirty="0"/>
              <a:t>Visualization</a:t>
            </a:r>
            <a:endParaRPr lang="en-US" altLang="zh-CN" dirty="0"/>
          </a:p>
          <a:p>
            <a:pPr>
              <a:buFont typeface="Arial" panose="020B0604020202020204" pitchFamily="34" charset="0"/>
              <a:buChar char="•"/>
            </a:pPr>
            <a:r>
              <a:rPr lang="en-US" altLang="zh-CN" b="1" dirty="0"/>
              <a:t>Performance tables</a:t>
            </a:r>
            <a:r>
              <a:rPr lang="en-US" altLang="zh-CN" dirty="0"/>
              <a:t> (per country &amp; average).</a:t>
            </a:r>
          </a:p>
          <a:p>
            <a:pPr>
              <a:buFont typeface="Arial" panose="020B0604020202020204" pitchFamily="34" charset="0"/>
              <a:buChar char="•"/>
            </a:pPr>
            <a:r>
              <a:rPr lang="en-US" altLang="zh-CN" b="1" dirty="0"/>
              <a:t>Confusion matrices</a:t>
            </a:r>
            <a:r>
              <a:rPr lang="en-US" altLang="zh-CN" dirty="0"/>
              <a:t> (3 classes).</a:t>
            </a:r>
          </a:p>
          <a:p>
            <a:pPr>
              <a:buFont typeface="Arial" panose="020B0604020202020204" pitchFamily="34" charset="0"/>
              <a:buChar char="•"/>
            </a:pPr>
            <a:r>
              <a:rPr lang="en-US" altLang="zh-CN" b="1" dirty="0"/>
              <a:t>Time-series plots</a:t>
            </a:r>
            <a:r>
              <a:rPr lang="en-US" altLang="zh-CN" dirty="0"/>
              <a:t>: true vs. reconstructed forecasts.</a:t>
            </a:r>
          </a:p>
        </p:txBody>
      </p:sp>
      <p:pic>
        <p:nvPicPr>
          <p:cNvPr id="3074" name="Picture 2" descr="A guide on regression error metrics ...">
            <a:extLst>
              <a:ext uri="{FF2B5EF4-FFF2-40B4-BE49-F238E27FC236}">
                <a16:creationId xmlns:a16="http://schemas.microsoft.com/office/drawing/2014/main" id="{F03DD182-E9B0-4B2E-F30A-94DC967319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5317" y="1190625"/>
            <a:ext cx="3571875" cy="127635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R-squared in Linear Regression Models ...">
            <a:extLst>
              <a:ext uri="{FF2B5EF4-FFF2-40B4-BE49-F238E27FC236}">
                <a16:creationId xmlns:a16="http://schemas.microsoft.com/office/drawing/2014/main" id="{CC5AAFCF-F8DE-5EDB-D7A9-F99F401DCD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05317" y="3557588"/>
            <a:ext cx="2743200" cy="1666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94471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033B0-A103-2CAF-A570-D775B6E755E4}"/>
            </a:ext>
          </a:extLst>
        </p:cNvPr>
        <p:cNvGrpSpPr/>
        <p:nvPr/>
      </p:nvGrpSpPr>
      <p:grpSpPr>
        <a:xfrm>
          <a:off x="0" y="0"/>
          <a:ext cx="0" cy="0"/>
          <a:chOff x="0" y="0"/>
          <a:chExt cx="0" cy="0"/>
        </a:xfrm>
      </p:grpSpPr>
      <p:sp>
        <p:nvSpPr>
          <p:cNvPr id="5" name="半闭框 4">
            <a:extLst>
              <a:ext uri="{FF2B5EF4-FFF2-40B4-BE49-F238E27FC236}">
                <a16:creationId xmlns:a16="http://schemas.microsoft.com/office/drawing/2014/main" id="{AEEE4BFE-E52D-2AE9-30AA-A8F9A4364B83}"/>
              </a:ext>
            </a:extLst>
          </p:cNvPr>
          <p:cNvSpPr/>
          <p:nvPr/>
        </p:nvSpPr>
        <p:spPr>
          <a:xfrm>
            <a:off x="0" y="285115"/>
            <a:ext cx="914400" cy="914400"/>
          </a:xfrm>
          <a:prstGeom prst="halfFrame">
            <a:avLst/>
          </a:prstGeom>
          <a:solidFill>
            <a:srgbClr val="1F2E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汉仪宋韵朗黑W" panose="00020600040101010101" charset="-122"/>
              <a:ea typeface="汉仪宋韵朗黑W" panose="00020600040101010101" charset="-122"/>
              <a:cs typeface="汉仪宋韵朗黑W" panose="00020600040101010101" charset="-122"/>
            </a:endParaRPr>
          </a:p>
        </p:txBody>
      </p:sp>
      <p:sp>
        <p:nvSpPr>
          <p:cNvPr id="7" name="矩形 6">
            <a:extLst>
              <a:ext uri="{FF2B5EF4-FFF2-40B4-BE49-F238E27FC236}">
                <a16:creationId xmlns:a16="http://schemas.microsoft.com/office/drawing/2014/main" id="{3A548D7C-8DCA-4332-95F7-2383B7142ADE}"/>
              </a:ext>
            </a:extLst>
          </p:cNvPr>
          <p:cNvSpPr/>
          <p:nvPr/>
        </p:nvSpPr>
        <p:spPr>
          <a:xfrm flipH="1">
            <a:off x="3944620" y="285115"/>
            <a:ext cx="7998460" cy="231140"/>
          </a:xfrm>
          <a:prstGeom prst="rect">
            <a:avLst/>
          </a:prstGeom>
          <a:solidFill>
            <a:srgbClr val="1F2E3F"/>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宋韵朗黑W" panose="00020600040101010101" charset="-122"/>
              <a:ea typeface="汉仪宋韵朗黑W" panose="00020600040101010101" charset="-122"/>
              <a:cs typeface="汉仪宋韵朗黑W" panose="00020600040101010101" charset="-122"/>
            </a:endParaRPr>
          </a:p>
        </p:txBody>
      </p:sp>
      <p:sp>
        <p:nvSpPr>
          <p:cNvPr id="8" name="矩形 7">
            <a:extLst>
              <a:ext uri="{FF2B5EF4-FFF2-40B4-BE49-F238E27FC236}">
                <a16:creationId xmlns:a16="http://schemas.microsoft.com/office/drawing/2014/main" id="{4E00B45E-FA88-C4D0-A579-56DED82D5212}"/>
              </a:ext>
            </a:extLst>
          </p:cNvPr>
          <p:cNvSpPr/>
          <p:nvPr/>
        </p:nvSpPr>
        <p:spPr>
          <a:xfrm flipH="1">
            <a:off x="0" y="6337300"/>
            <a:ext cx="7998460" cy="231140"/>
          </a:xfrm>
          <a:prstGeom prst="rect">
            <a:avLst/>
          </a:prstGeom>
          <a:solidFill>
            <a:srgbClr val="1F2E3F"/>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宋韵朗黑W" panose="00020600040101010101" charset="-122"/>
              <a:ea typeface="汉仪宋韵朗黑W" panose="00020600040101010101" charset="-122"/>
              <a:cs typeface="汉仪宋韵朗黑W" panose="00020600040101010101" charset="-122"/>
            </a:endParaRPr>
          </a:p>
        </p:txBody>
      </p:sp>
      <p:sp>
        <p:nvSpPr>
          <p:cNvPr id="9" name="半闭框 8">
            <a:extLst>
              <a:ext uri="{FF2B5EF4-FFF2-40B4-BE49-F238E27FC236}">
                <a16:creationId xmlns:a16="http://schemas.microsoft.com/office/drawing/2014/main" id="{BC24EF5D-558F-133F-DC41-1873C4D000EB}"/>
              </a:ext>
            </a:extLst>
          </p:cNvPr>
          <p:cNvSpPr/>
          <p:nvPr/>
        </p:nvSpPr>
        <p:spPr>
          <a:xfrm rot="5400000" flipH="1">
            <a:off x="11028680" y="5738495"/>
            <a:ext cx="914400" cy="914400"/>
          </a:xfrm>
          <a:prstGeom prst="halfFrame">
            <a:avLst/>
          </a:prstGeom>
          <a:solidFill>
            <a:srgbClr val="1F2E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汉仪宋韵朗黑W" panose="00020600040101010101" charset="-122"/>
              <a:ea typeface="汉仪宋韵朗黑W" panose="00020600040101010101" charset="-122"/>
              <a:cs typeface="汉仪宋韵朗黑W" panose="00020600040101010101" charset="-122"/>
            </a:endParaRPr>
          </a:p>
        </p:txBody>
      </p:sp>
      <p:pic>
        <p:nvPicPr>
          <p:cNvPr id="4098" name="Picture 2" descr="Laboratory experiment result analysis ...">
            <a:extLst>
              <a:ext uri="{FF2B5EF4-FFF2-40B4-BE49-F238E27FC236}">
                <a16:creationId xmlns:a16="http://schemas.microsoft.com/office/drawing/2014/main" id="{E73B8192-A472-C71F-8D65-2E7C82EE22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5034" y="1199515"/>
            <a:ext cx="4961201" cy="4097510"/>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10185BF9-FFC8-65CF-12D5-0610122469A0}"/>
              </a:ext>
            </a:extLst>
          </p:cNvPr>
          <p:cNvSpPr txBox="1"/>
          <p:nvPr/>
        </p:nvSpPr>
        <p:spPr>
          <a:xfrm>
            <a:off x="1361357" y="2711876"/>
            <a:ext cx="3990109" cy="830997"/>
          </a:xfrm>
          <a:prstGeom prst="rect">
            <a:avLst/>
          </a:prstGeom>
          <a:noFill/>
        </p:spPr>
        <p:txBody>
          <a:bodyPr wrap="square" rtlCol="0">
            <a:spAutoFit/>
          </a:bodyPr>
          <a:lstStyle/>
          <a:p>
            <a:r>
              <a:rPr lang="en-GB" altLang="zh-CN" sz="4800" b="1" dirty="0"/>
              <a:t>EXPERIMENT</a:t>
            </a:r>
            <a:endParaRPr lang="zh-CN" altLang="en-US" sz="3600" b="1" dirty="0"/>
          </a:p>
        </p:txBody>
      </p:sp>
    </p:spTree>
    <p:extLst>
      <p:ext uri="{BB962C8B-B14F-4D97-AF65-F5344CB8AC3E}">
        <p14:creationId xmlns:p14="http://schemas.microsoft.com/office/powerpoint/2010/main" val="25264248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515F0-801A-CB00-9CB1-537DF4D58A2A}"/>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EDE35FEF-D183-E3C2-DD7B-D753960A2030}"/>
              </a:ext>
            </a:extLst>
          </p:cNvPr>
          <p:cNvSpPr txBox="1"/>
          <p:nvPr/>
        </p:nvSpPr>
        <p:spPr>
          <a:xfrm>
            <a:off x="254391" y="544011"/>
            <a:ext cx="8702040" cy="584775"/>
          </a:xfrm>
          <a:prstGeom prst="rect">
            <a:avLst/>
          </a:prstGeom>
          <a:noFill/>
        </p:spPr>
        <p:txBody>
          <a:bodyPr wrap="square">
            <a:spAutoFit/>
          </a:bodyPr>
          <a:lstStyle/>
          <a:p>
            <a:r>
              <a:rPr lang="en-GB" altLang="zh-CN" sz="3200" dirty="0"/>
              <a:t>Data collection</a:t>
            </a:r>
            <a:endParaRPr lang="zh-CN" altLang="en-US" sz="2800" b="1" dirty="0"/>
          </a:p>
        </p:txBody>
      </p:sp>
      <p:pic>
        <p:nvPicPr>
          <p:cNvPr id="2" name="图片 1" descr="表格&#10;&#10;AI 生成的内容可能不正确。">
            <a:extLst>
              <a:ext uri="{FF2B5EF4-FFF2-40B4-BE49-F238E27FC236}">
                <a16:creationId xmlns:a16="http://schemas.microsoft.com/office/drawing/2014/main" id="{F3ADB220-E3B5-C4E0-FCE4-5818B999250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391" y="1443840"/>
            <a:ext cx="8621558" cy="4124621"/>
          </a:xfrm>
          <a:prstGeom prst="rect">
            <a:avLst/>
          </a:prstGeom>
          <a:noFill/>
          <a:ln>
            <a:noFill/>
          </a:ln>
        </p:spPr>
      </p:pic>
      <p:sp>
        <p:nvSpPr>
          <p:cNvPr id="9" name="文本框 8">
            <a:extLst>
              <a:ext uri="{FF2B5EF4-FFF2-40B4-BE49-F238E27FC236}">
                <a16:creationId xmlns:a16="http://schemas.microsoft.com/office/drawing/2014/main" id="{947FD635-F60D-C7AF-92E6-DE655753A3D2}"/>
              </a:ext>
            </a:extLst>
          </p:cNvPr>
          <p:cNvSpPr txBox="1"/>
          <p:nvPr/>
        </p:nvSpPr>
        <p:spPr>
          <a:xfrm>
            <a:off x="9061939" y="1142411"/>
            <a:ext cx="2788356" cy="5078313"/>
          </a:xfrm>
          <a:prstGeom prst="rect">
            <a:avLst/>
          </a:prstGeom>
          <a:noFill/>
        </p:spPr>
        <p:txBody>
          <a:bodyPr wrap="square">
            <a:spAutoFit/>
          </a:bodyPr>
          <a:lstStyle/>
          <a:p>
            <a:r>
              <a:rPr lang="en-GB" altLang="zh-CN" b="1" dirty="0"/>
              <a:t>Source: </a:t>
            </a:r>
            <a:r>
              <a:rPr lang="en-GB" altLang="zh-CN" dirty="0"/>
              <a:t>World Bank CCKP</a:t>
            </a:r>
          </a:p>
          <a:p>
            <a:endParaRPr lang="en-GB" altLang="zh-CN" dirty="0"/>
          </a:p>
          <a:p>
            <a:r>
              <a:rPr lang="en-GB" altLang="zh-CN" b="1" dirty="0"/>
              <a:t>Vars (15): </a:t>
            </a:r>
            <a:r>
              <a:rPr lang="en-GB" altLang="zh-CN" dirty="0" err="1"/>
              <a:t>precip</a:t>
            </a:r>
            <a:r>
              <a:rPr lang="en-GB" altLang="zh-CN" dirty="0"/>
              <a:t> (pr, rx1/5day, r20/50mm), dryness (</a:t>
            </a:r>
            <a:r>
              <a:rPr lang="en-GB" altLang="zh-CN" dirty="0" err="1"/>
              <a:t>cdd</a:t>
            </a:r>
            <a:r>
              <a:rPr lang="en-GB" altLang="zh-CN" dirty="0"/>
              <a:t>), temp (</a:t>
            </a:r>
            <a:r>
              <a:rPr lang="en-GB" altLang="zh-CN" dirty="0" err="1"/>
              <a:t>tasmax</a:t>
            </a:r>
            <a:r>
              <a:rPr lang="en-GB" altLang="zh-CN" dirty="0"/>
              <a:t>/min, hd35/40), humidity/heat (</a:t>
            </a:r>
            <a:r>
              <a:rPr lang="en-GB" altLang="zh-CN" dirty="0" err="1"/>
              <a:t>hurs</a:t>
            </a:r>
            <a:r>
              <a:rPr lang="en-GB" altLang="zh-CN" dirty="0"/>
              <a:t>, hi35/37/39)</a:t>
            </a:r>
          </a:p>
          <a:p>
            <a:endParaRPr lang="en-GB" altLang="zh-CN" dirty="0"/>
          </a:p>
          <a:p>
            <a:r>
              <a:rPr lang="en-GB" altLang="zh-CN" b="1" dirty="0"/>
              <a:t>Coverage: </a:t>
            </a:r>
            <a:r>
              <a:rPr lang="en-GB" altLang="zh-CN" dirty="0"/>
              <a:t>8 countries, 1950–2023, monthly</a:t>
            </a:r>
          </a:p>
          <a:p>
            <a:endParaRPr lang="en-GB" altLang="zh-CN" dirty="0"/>
          </a:p>
          <a:p>
            <a:r>
              <a:rPr lang="en-GB" altLang="zh-CN" b="1" dirty="0"/>
              <a:t>Build: </a:t>
            </a:r>
            <a:r>
              <a:rPr lang="en-GB" altLang="zh-CN" dirty="0"/>
              <a:t>CSV per variable → merge on country + year-month</a:t>
            </a:r>
          </a:p>
          <a:p>
            <a:endParaRPr lang="en-GB" altLang="zh-CN" dirty="0"/>
          </a:p>
          <a:p>
            <a:r>
              <a:rPr lang="en-GB" altLang="zh-CN" b="1" dirty="0"/>
              <a:t>Final: </a:t>
            </a:r>
            <a:r>
              <a:rPr lang="en-GB" altLang="zh-CN" dirty="0"/>
              <a:t>8×74×12×15 multivariate time series</a:t>
            </a:r>
            <a:endParaRPr lang="zh-CN" altLang="en-US" dirty="0"/>
          </a:p>
        </p:txBody>
      </p:sp>
    </p:spTree>
    <p:extLst>
      <p:ext uri="{BB962C8B-B14F-4D97-AF65-F5344CB8AC3E}">
        <p14:creationId xmlns:p14="http://schemas.microsoft.com/office/powerpoint/2010/main" val="334370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77B2C-0AFD-9274-5CD7-D7BBC950EF16}"/>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B2FE52AD-2E8F-43AE-F544-EB7065A5BFC4}"/>
              </a:ext>
            </a:extLst>
          </p:cNvPr>
          <p:cNvSpPr txBox="1"/>
          <p:nvPr/>
        </p:nvSpPr>
        <p:spPr>
          <a:xfrm>
            <a:off x="441960" y="196334"/>
            <a:ext cx="8702040" cy="584775"/>
          </a:xfrm>
          <a:prstGeom prst="rect">
            <a:avLst/>
          </a:prstGeom>
          <a:noFill/>
        </p:spPr>
        <p:txBody>
          <a:bodyPr wrap="square">
            <a:spAutoFit/>
          </a:bodyPr>
          <a:lstStyle/>
          <a:p>
            <a:r>
              <a:rPr lang="en-GB" altLang="zh-CN" sz="3200" dirty="0"/>
              <a:t>Data preprocessing (EDA)</a:t>
            </a:r>
            <a:endParaRPr lang="zh-CN" altLang="en-US" sz="2800" b="1" dirty="0"/>
          </a:p>
        </p:txBody>
      </p:sp>
      <p:pic>
        <p:nvPicPr>
          <p:cNvPr id="2" name="图片 1" descr="地图&#10;&#10;AI 生成的内容可能不正确。">
            <a:extLst>
              <a:ext uri="{FF2B5EF4-FFF2-40B4-BE49-F238E27FC236}">
                <a16:creationId xmlns:a16="http://schemas.microsoft.com/office/drawing/2014/main" id="{369A22BB-C8C8-7041-AB80-B71C4C8A68A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8809" y="874894"/>
            <a:ext cx="10454381" cy="5615640"/>
          </a:xfrm>
          <a:prstGeom prst="rect">
            <a:avLst/>
          </a:prstGeom>
          <a:noFill/>
          <a:ln>
            <a:noFill/>
          </a:ln>
        </p:spPr>
      </p:pic>
    </p:spTree>
    <p:extLst>
      <p:ext uri="{BB962C8B-B14F-4D97-AF65-F5344CB8AC3E}">
        <p14:creationId xmlns:p14="http://schemas.microsoft.com/office/powerpoint/2010/main" val="31095232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2F35F-69FC-0508-D6FF-1B3AAE5F58C3}"/>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F896A535-DFF1-CDFE-69BC-2C7E04234288}"/>
              </a:ext>
            </a:extLst>
          </p:cNvPr>
          <p:cNvSpPr txBox="1"/>
          <p:nvPr/>
        </p:nvSpPr>
        <p:spPr>
          <a:xfrm>
            <a:off x="723929" y="505471"/>
            <a:ext cx="8702040" cy="584775"/>
          </a:xfrm>
          <a:prstGeom prst="rect">
            <a:avLst/>
          </a:prstGeom>
          <a:noFill/>
        </p:spPr>
        <p:txBody>
          <a:bodyPr wrap="square">
            <a:spAutoFit/>
          </a:bodyPr>
          <a:lstStyle/>
          <a:p>
            <a:r>
              <a:rPr lang="en-GB" altLang="zh-CN" sz="3200" dirty="0"/>
              <a:t>Data preprocessing (EDA)</a:t>
            </a:r>
            <a:endParaRPr lang="zh-CN" altLang="en-US" sz="2800" b="1" dirty="0"/>
          </a:p>
        </p:txBody>
      </p:sp>
      <p:grpSp>
        <p:nvGrpSpPr>
          <p:cNvPr id="12" name="组合 11">
            <a:extLst>
              <a:ext uri="{FF2B5EF4-FFF2-40B4-BE49-F238E27FC236}">
                <a16:creationId xmlns:a16="http://schemas.microsoft.com/office/drawing/2014/main" id="{39EEF1F2-ECE7-81D8-54F2-C63AA20AEAA5}"/>
              </a:ext>
            </a:extLst>
          </p:cNvPr>
          <p:cNvGrpSpPr/>
          <p:nvPr/>
        </p:nvGrpSpPr>
        <p:grpSpPr>
          <a:xfrm>
            <a:off x="325344" y="983359"/>
            <a:ext cx="13496163" cy="5369170"/>
            <a:chOff x="96182" y="451392"/>
            <a:chExt cx="11372095" cy="4505584"/>
          </a:xfrm>
        </p:grpSpPr>
        <p:sp>
          <p:nvSpPr>
            <p:cNvPr id="5" name="文本框 4">
              <a:extLst>
                <a:ext uri="{FF2B5EF4-FFF2-40B4-BE49-F238E27FC236}">
                  <a16:creationId xmlns:a16="http://schemas.microsoft.com/office/drawing/2014/main" id="{54712479-3B90-3A28-3A32-696F5266B613}"/>
                </a:ext>
              </a:extLst>
            </p:cNvPr>
            <p:cNvSpPr txBox="1"/>
            <p:nvPr/>
          </p:nvSpPr>
          <p:spPr>
            <a:xfrm>
              <a:off x="238760" y="3316112"/>
              <a:ext cx="4852529" cy="1354217"/>
            </a:xfrm>
            <a:prstGeom prst="rect">
              <a:avLst/>
            </a:prstGeom>
            <a:noFill/>
          </p:spPr>
          <p:txBody>
            <a:bodyPr wrap="square">
              <a:spAutoFit/>
            </a:bodyPr>
            <a:lstStyle/>
            <a:p>
              <a:pPr>
                <a:buNone/>
              </a:pPr>
              <a:r>
                <a:rPr lang="en-US" altLang="zh-CN" sz="1600" b="1" dirty="0"/>
                <a:t>Figure 4.2.3.2: Cross-Country Climate Indicators</a:t>
              </a:r>
            </a:p>
            <a:p>
              <a:pPr>
                <a:buFont typeface="Arial" panose="020B0604020202020204" pitchFamily="34" charset="0"/>
                <a:buChar char="•"/>
              </a:pPr>
              <a:r>
                <a:rPr lang="en-US" altLang="zh-CN" sz="1600" b="1" dirty="0"/>
                <a:t>CDD</a:t>
              </a:r>
              <a:r>
                <a:rPr lang="en-US" altLang="zh-CN" sz="1600" dirty="0"/>
                <a:t>: India, China show higher drought levels</a:t>
              </a:r>
            </a:p>
            <a:p>
              <a:pPr>
                <a:buFont typeface="Arial" panose="020B0604020202020204" pitchFamily="34" charset="0"/>
                <a:buChar char="•"/>
              </a:pPr>
              <a:r>
                <a:rPr lang="en-US" altLang="zh-CN" sz="1600" b="1" dirty="0"/>
                <a:t>Rx5Day</a:t>
              </a:r>
              <a:r>
                <a:rPr lang="en-US" altLang="zh-CN" sz="1600" dirty="0"/>
                <a:t>: Indonesia, Philippines have higher precipitation</a:t>
              </a:r>
            </a:p>
            <a:p>
              <a:pPr>
                <a:buFont typeface="Arial" panose="020B0604020202020204" pitchFamily="34" charset="0"/>
                <a:buChar char="•"/>
              </a:pPr>
              <a:r>
                <a:rPr lang="en-US" altLang="zh-CN" sz="1600" b="1" dirty="0"/>
                <a:t>Pattern</a:t>
              </a:r>
              <a:r>
                <a:rPr lang="en-US" altLang="zh-CN" sz="1600" dirty="0"/>
                <a:t>: Clear regional climate differentiation</a:t>
              </a:r>
            </a:p>
          </p:txBody>
        </p:sp>
        <p:pic>
          <p:nvPicPr>
            <p:cNvPr id="6" name="图片 5" descr="图表, 条形图&#10;&#10;AI 生成的内容可能不正确。">
              <a:extLst>
                <a:ext uri="{FF2B5EF4-FFF2-40B4-BE49-F238E27FC236}">
                  <a16:creationId xmlns:a16="http://schemas.microsoft.com/office/drawing/2014/main" id="{62E915D0-1370-3E3A-5C50-E5642603F82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182" y="1076219"/>
              <a:ext cx="2622602" cy="2171012"/>
            </a:xfrm>
            <a:prstGeom prst="rect">
              <a:avLst/>
            </a:prstGeom>
            <a:noFill/>
            <a:ln>
              <a:noFill/>
            </a:ln>
          </p:spPr>
        </p:pic>
        <p:pic>
          <p:nvPicPr>
            <p:cNvPr id="7" name="图片 6" descr="图表, 条形图&#10;&#10;AI 生成的内容可能不正确。">
              <a:extLst>
                <a:ext uri="{FF2B5EF4-FFF2-40B4-BE49-F238E27FC236}">
                  <a16:creationId xmlns:a16="http://schemas.microsoft.com/office/drawing/2014/main" id="{B5090E2D-690C-26C2-C6DE-3023FB58723F}"/>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18784" y="1081921"/>
              <a:ext cx="2519261" cy="2180569"/>
            </a:xfrm>
            <a:prstGeom prst="rect">
              <a:avLst/>
            </a:prstGeom>
            <a:noFill/>
            <a:ln>
              <a:noFill/>
            </a:ln>
          </p:spPr>
        </p:pic>
        <p:pic>
          <p:nvPicPr>
            <p:cNvPr id="8" name="图片 7" descr="图表, 饼图&#10;&#10;AI 生成的内容可能不正确。">
              <a:extLst>
                <a:ext uri="{FF2B5EF4-FFF2-40B4-BE49-F238E27FC236}">
                  <a16:creationId xmlns:a16="http://schemas.microsoft.com/office/drawing/2014/main" id="{272BB67B-F506-AEC7-100F-5DA10B1281E2}"/>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569364" y="451392"/>
              <a:ext cx="2111810" cy="1977367"/>
            </a:xfrm>
            <a:prstGeom prst="rect">
              <a:avLst/>
            </a:prstGeom>
            <a:noFill/>
            <a:ln>
              <a:noFill/>
            </a:ln>
          </p:spPr>
        </p:pic>
        <p:pic>
          <p:nvPicPr>
            <p:cNvPr id="9" name="图片 8" descr="图表, 饼图&#10;&#10;AI 生成的内容可能不正确。">
              <a:extLst>
                <a:ext uri="{FF2B5EF4-FFF2-40B4-BE49-F238E27FC236}">
                  <a16:creationId xmlns:a16="http://schemas.microsoft.com/office/drawing/2014/main" id="{996936D9-5723-B87D-EE02-DE731966E150}"/>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372277" y="451392"/>
              <a:ext cx="2087776" cy="1977368"/>
            </a:xfrm>
            <a:prstGeom prst="rect">
              <a:avLst/>
            </a:prstGeom>
            <a:noFill/>
            <a:ln>
              <a:noFill/>
            </a:ln>
          </p:spPr>
        </p:pic>
        <p:sp>
          <p:nvSpPr>
            <p:cNvPr id="11" name="文本框 10">
              <a:extLst>
                <a:ext uri="{FF2B5EF4-FFF2-40B4-BE49-F238E27FC236}">
                  <a16:creationId xmlns:a16="http://schemas.microsoft.com/office/drawing/2014/main" id="{BFA8D64F-44AF-9119-639C-5101A95B3434}"/>
                </a:ext>
              </a:extLst>
            </p:cNvPr>
            <p:cNvSpPr txBox="1"/>
            <p:nvPr/>
          </p:nvSpPr>
          <p:spPr>
            <a:xfrm>
              <a:off x="5372277" y="2617874"/>
              <a:ext cx="6096000" cy="2339102"/>
            </a:xfrm>
            <a:prstGeom prst="rect">
              <a:avLst/>
            </a:prstGeom>
            <a:noFill/>
          </p:spPr>
          <p:txBody>
            <a:bodyPr wrap="square">
              <a:spAutoFit/>
            </a:bodyPr>
            <a:lstStyle/>
            <a:p>
              <a:pPr>
                <a:buNone/>
              </a:pPr>
              <a:r>
                <a:rPr lang="en-US" altLang="zh-CN" sz="1600" b="1" dirty="0"/>
                <a:t>Figure 4.2.3.3: Event Classification Distribution</a:t>
              </a:r>
            </a:p>
            <a:p>
              <a:pPr>
                <a:buNone/>
              </a:pPr>
              <a:r>
                <a:rPr lang="en-US" altLang="zh-CN" sz="1600" b="1" dirty="0"/>
                <a:t>Drought Events (CDD)</a:t>
              </a:r>
            </a:p>
            <a:p>
              <a:pPr>
                <a:buFont typeface="Arial" panose="020B0604020202020204" pitchFamily="34" charset="0"/>
                <a:buChar char="•"/>
              </a:pPr>
              <a:r>
                <a:rPr lang="en-US" altLang="zh-CN" sz="1600" b="1" dirty="0"/>
                <a:t>Non-drought</a:t>
              </a:r>
              <a:r>
                <a:rPr lang="en-US" altLang="zh-CN" sz="1600" dirty="0"/>
                <a:t> (&lt;11 days): &gt;70%</a:t>
              </a:r>
            </a:p>
            <a:p>
              <a:pPr>
                <a:buFont typeface="Arial" panose="020B0604020202020204" pitchFamily="34" charset="0"/>
                <a:buChar char="•"/>
              </a:pPr>
              <a:r>
                <a:rPr lang="en-US" altLang="zh-CN" sz="1600" b="1" dirty="0"/>
                <a:t>Slight drought</a:t>
              </a:r>
              <a:r>
                <a:rPr lang="en-US" altLang="zh-CN" sz="1600" dirty="0"/>
                <a:t> (11-15 days): ~20%</a:t>
              </a:r>
            </a:p>
            <a:p>
              <a:pPr>
                <a:buFont typeface="Arial" panose="020B0604020202020204" pitchFamily="34" charset="0"/>
                <a:buChar char="•"/>
              </a:pPr>
              <a:r>
                <a:rPr lang="en-US" altLang="zh-CN" sz="1600" b="1" dirty="0"/>
                <a:t>Drought</a:t>
              </a:r>
              <a:r>
                <a:rPr lang="en-US" altLang="zh-CN" sz="1600" dirty="0"/>
                <a:t> (≥16 days): &lt;10%</a:t>
              </a:r>
            </a:p>
            <a:p>
              <a:pPr>
                <a:buNone/>
              </a:pPr>
              <a:r>
                <a:rPr lang="en-US" altLang="zh-CN" sz="1600" b="1" dirty="0"/>
                <a:t>Precipitation Events (Rx5Day)</a:t>
              </a:r>
            </a:p>
            <a:p>
              <a:pPr>
                <a:buFont typeface="Arial" panose="020B0604020202020204" pitchFamily="34" charset="0"/>
                <a:buChar char="•"/>
              </a:pPr>
              <a:r>
                <a:rPr lang="en-US" altLang="zh-CN" sz="1600" b="1" dirty="0"/>
                <a:t>Slight flood</a:t>
              </a:r>
              <a:r>
                <a:rPr lang="en-US" altLang="zh-CN" sz="1600" dirty="0"/>
                <a:t> (50-99mm): Highest frequency</a:t>
              </a:r>
            </a:p>
            <a:p>
              <a:pPr>
                <a:buFont typeface="Arial" panose="020B0604020202020204" pitchFamily="34" charset="0"/>
                <a:buChar char="•"/>
              </a:pPr>
              <a:r>
                <a:rPr lang="en-US" altLang="zh-CN" sz="1600" b="1" dirty="0"/>
                <a:t>Non-flood</a:t>
              </a:r>
              <a:r>
                <a:rPr lang="en-US" altLang="zh-CN" sz="1600" dirty="0"/>
                <a:t> (&lt;50mm): Moderate frequency</a:t>
              </a:r>
            </a:p>
            <a:p>
              <a:pPr>
                <a:buFont typeface="Arial" panose="020B0604020202020204" pitchFamily="34" charset="0"/>
                <a:buChar char="•"/>
              </a:pPr>
              <a:r>
                <a:rPr lang="en-US" altLang="zh-CN" sz="1600" b="1" dirty="0"/>
                <a:t>Flood</a:t>
              </a:r>
              <a:r>
                <a:rPr lang="en-US" altLang="zh-CN" sz="1600" dirty="0"/>
                <a:t> (≥100mm): Lowest frequency</a:t>
              </a:r>
            </a:p>
          </p:txBody>
        </p:sp>
      </p:grpSp>
    </p:spTree>
    <p:extLst>
      <p:ext uri="{BB962C8B-B14F-4D97-AF65-F5344CB8AC3E}">
        <p14:creationId xmlns:p14="http://schemas.microsoft.com/office/powerpoint/2010/main" val="37097110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3C0F5-484D-CDB2-0D85-809E5A9EE6E1}"/>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D8A37342-B009-4955-A5FA-F6FC3F43BEEF}"/>
              </a:ext>
            </a:extLst>
          </p:cNvPr>
          <p:cNvSpPr txBox="1"/>
          <p:nvPr/>
        </p:nvSpPr>
        <p:spPr>
          <a:xfrm>
            <a:off x="238760" y="159005"/>
            <a:ext cx="8702040" cy="584775"/>
          </a:xfrm>
          <a:prstGeom prst="rect">
            <a:avLst/>
          </a:prstGeom>
          <a:noFill/>
        </p:spPr>
        <p:txBody>
          <a:bodyPr wrap="square">
            <a:spAutoFit/>
          </a:bodyPr>
          <a:lstStyle/>
          <a:p>
            <a:r>
              <a:rPr lang="en-GB" altLang="zh-CN" sz="3200" dirty="0"/>
              <a:t>Data preprocessing (EDA)</a:t>
            </a:r>
            <a:endParaRPr lang="zh-CN" altLang="en-US" sz="2800" b="1" dirty="0"/>
          </a:p>
        </p:txBody>
      </p:sp>
      <p:grpSp>
        <p:nvGrpSpPr>
          <p:cNvPr id="13" name="组合 12">
            <a:extLst>
              <a:ext uri="{FF2B5EF4-FFF2-40B4-BE49-F238E27FC236}">
                <a16:creationId xmlns:a16="http://schemas.microsoft.com/office/drawing/2014/main" id="{6CCF4EBE-2E4D-D73C-55BF-777CC002547F}"/>
              </a:ext>
            </a:extLst>
          </p:cNvPr>
          <p:cNvGrpSpPr/>
          <p:nvPr/>
        </p:nvGrpSpPr>
        <p:grpSpPr>
          <a:xfrm>
            <a:off x="395249" y="95024"/>
            <a:ext cx="11796751" cy="6667951"/>
            <a:chOff x="156489" y="31044"/>
            <a:chExt cx="9707601" cy="5191125"/>
          </a:xfrm>
        </p:grpSpPr>
        <p:pic>
          <p:nvPicPr>
            <p:cNvPr id="2" name="图片 1" descr="图表&#10;&#10;AI 生成的内容可能不正确。">
              <a:extLst>
                <a:ext uri="{FF2B5EF4-FFF2-40B4-BE49-F238E27FC236}">
                  <a16:creationId xmlns:a16="http://schemas.microsoft.com/office/drawing/2014/main" id="{853EF54C-664B-D4AE-9ADD-48AC59DAFC2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8182" y="31044"/>
              <a:ext cx="5075908" cy="2626360"/>
            </a:xfrm>
            <a:prstGeom prst="rect">
              <a:avLst/>
            </a:prstGeom>
            <a:noFill/>
            <a:ln>
              <a:noFill/>
            </a:ln>
          </p:spPr>
        </p:pic>
        <p:pic>
          <p:nvPicPr>
            <p:cNvPr id="3" name="图片 2" descr="图表, 折线图, 直方图&#10;&#10;AI 生成的内容可能不正确。">
              <a:extLst>
                <a:ext uri="{FF2B5EF4-FFF2-40B4-BE49-F238E27FC236}">
                  <a16:creationId xmlns:a16="http://schemas.microsoft.com/office/drawing/2014/main" id="{EABEA90A-5F66-E5DA-E900-3553149AEE83}"/>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88180" y="2657404"/>
              <a:ext cx="5075909" cy="2564765"/>
            </a:xfrm>
            <a:prstGeom prst="rect">
              <a:avLst/>
            </a:prstGeom>
            <a:noFill/>
            <a:ln>
              <a:noFill/>
            </a:ln>
          </p:spPr>
        </p:pic>
        <p:sp>
          <p:nvSpPr>
            <p:cNvPr id="12" name="文本框 11">
              <a:extLst>
                <a:ext uri="{FF2B5EF4-FFF2-40B4-BE49-F238E27FC236}">
                  <a16:creationId xmlns:a16="http://schemas.microsoft.com/office/drawing/2014/main" id="{C1908AA8-FE78-F7B6-5901-F187644F9616}"/>
                </a:ext>
              </a:extLst>
            </p:cNvPr>
            <p:cNvSpPr txBox="1"/>
            <p:nvPr/>
          </p:nvSpPr>
          <p:spPr>
            <a:xfrm>
              <a:off x="156489" y="870454"/>
              <a:ext cx="4631690" cy="4031873"/>
            </a:xfrm>
            <a:prstGeom prst="rect">
              <a:avLst/>
            </a:prstGeom>
            <a:noFill/>
          </p:spPr>
          <p:txBody>
            <a:bodyPr wrap="square">
              <a:spAutoFit/>
            </a:bodyPr>
            <a:lstStyle/>
            <a:p>
              <a:pPr>
                <a:buNone/>
              </a:pPr>
              <a:r>
                <a:rPr lang="en-US" altLang="zh-CN" sz="1600" b="1" dirty="0"/>
                <a:t>Figure 4.2.3.4: China vs Malaysia Temporal Patterns</a:t>
              </a:r>
            </a:p>
            <a:p>
              <a:pPr>
                <a:buNone/>
              </a:pPr>
              <a:r>
                <a:rPr lang="en-US" altLang="zh-CN" sz="1600" b="1" dirty="0"/>
                <a:t>Consecutive Dry Days (CDD)</a:t>
              </a:r>
            </a:p>
            <a:p>
              <a:pPr>
                <a:buNone/>
              </a:pPr>
              <a:r>
                <a:rPr lang="en-US" altLang="zh-CN" sz="1600" b="1" dirty="0"/>
                <a:t>China:</a:t>
              </a:r>
              <a:endParaRPr lang="en-US" altLang="zh-CN" sz="1600" dirty="0"/>
            </a:p>
            <a:p>
              <a:pPr>
                <a:buFont typeface="Arial" panose="020B0604020202020204" pitchFamily="34" charset="0"/>
                <a:buChar char="•"/>
              </a:pPr>
              <a:r>
                <a:rPr lang="en-US" altLang="zh-CN" sz="1600" dirty="0"/>
                <a:t>Strong seasonal pattern: High in winter/spring, low in summer</a:t>
              </a:r>
            </a:p>
            <a:p>
              <a:pPr>
                <a:buFont typeface="Arial" panose="020B0604020202020204" pitchFamily="34" charset="0"/>
                <a:buChar char="•"/>
              </a:pPr>
              <a:r>
                <a:rPr lang="en-US" altLang="zh-CN" sz="1600" dirty="0"/>
                <a:t>Clear monsoon influence on drought cycles</a:t>
              </a:r>
            </a:p>
            <a:p>
              <a:pPr>
                <a:buNone/>
              </a:pPr>
              <a:r>
                <a:rPr lang="en-US" altLang="zh-CN" sz="1600" b="1" dirty="0"/>
                <a:t>Malaysia:</a:t>
              </a:r>
              <a:endParaRPr lang="en-US" altLang="zh-CN" sz="1600" dirty="0"/>
            </a:p>
            <a:p>
              <a:pPr>
                <a:buFont typeface="Arial" panose="020B0604020202020204" pitchFamily="34" charset="0"/>
                <a:buChar char="•"/>
              </a:pPr>
              <a:r>
                <a:rPr lang="en-US" altLang="zh-CN" sz="1600" dirty="0"/>
                <a:t>Consistently low and stable values</a:t>
              </a:r>
            </a:p>
            <a:p>
              <a:pPr>
                <a:buFont typeface="Arial" panose="020B0604020202020204" pitchFamily="34" charset="0"/>
                <a:buChar char="•"/>
              </a:pPr>
              <a:r>
                <a:rPr lang="en-US" altLang="zh-CN" sz="1600" dirty="0"/>
                <a:t>Minimal drought occurrence</a:t>
              </a:r>
            </a:p>
            <a:p>
              <a:pPr>
                <a:buNone/>
              </a:pPr>
              <a:r>
                <a:rPr lang="en-US" altLang="zh-CN" sz="1600" b="1" dirty="0"/>
                <a:t>Maximum 5-Day Precipitation (Rx5Day)</a:t>
              </a:r>
            </a:p>
            <a:p>
              <a:pPr>
                <a:buNone/>
              </a:pPr>
              <a:r>
                <a:rPr lang="en-US" altLang="zh-CN" sz="1600" b="1" dirty="0"/>
                <a:t>China:</a:t>
              </a:r>
              <a:endParaRPr lang="en-US" altLang="zh-CN" sz="1600" dirty="0"/>
            </a:p>
            <a:p>
              <a:pPr>
                <a:buFont typeface="Arial" panose="020B0604020202020204" pitchFamily="34" charset="0"/>
                <a:buChar char="•"/>
              </a:pPr>
              <a:r>
                <a:rPr lang="en-US" altLang="zh-CN" sz="1600" dirty="0"/>
                <a:t>Pronounced summer peaks (East Asian monsoon)</a:t>
              </a:r>
            </a:p>
            <a:p>
              <a:pPr>
                <a:buFont typeface="Arial" panose="020B0604020202020204" pitchFamily="34" charset="0"/>
                <a:buChar char="•"/>
              </a:pPr>
              <a:r>
                <a:rPr lang="en-US" altLang="zh-CN" sz="1600" dirty="0"/>
                <a:t>High seasonal variability</a:t>
              </a:r>
            </a:p>
            <a:p>
              <a:pPr>
                <a:buNone/>
              </a:pPr>
              <a:r>
                <a:rPr lang="en-US" altLang="zh-CN" sz="1600" b="1" dirty="0"/>
                <a:t>Malaysia:</a:t>
              </a:r>
              <a:endParaRPr lang="en-US" altLang="zh-CN" sz="1600" dirty="0"/>
            </a:p>
            <a:p>
              <a:pPr>
                <a:buFont typeface="Arial" panose="020B0604020202020204" pitchFamily="34" charset="0"/>
                <a:buChar char="•"/>
              </a:pPr>
              <a:r>
                <a:rPr lang="en-US" altLang="zh-CN" sz="1600" dirty="0"/>
                <a:t>Stable annual pattern with frequent intense events</a:t>
              </a:r>
            </a:p>
            <a:p>
              <a:pPr>
                <a:buFont typeface="Arial" panose="020B0604020202020204" pitchFamily="34" charset="0"/>
                <a:buChar char="•"/>
              </a:pPr>
              <a:r>
                <a:rPr lang="en-US" altLang="zh-CN" sz="1600" dirty="0"/>
                <a:t>Typical tropical monsoon characteristics</a:t>
              </a:r>
            </a:p>
          </p:txBody>
        </p:sp>
      </p:grpSp>
    </p:spTree>
    <p:extLst>
      <p:ext uri="{BB962C8B-B14F-4D97-AF65-F5344CB8AC3E}">
        <p14:creationId xmlns:p14="http://schemas.microsoft.com/office/powerpoint/2010/main" val="32424938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783BF-0361-8CDC-C144-5172D373095E}"/>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F00E4F42-F37E-0EAF-7383-2D30CBE16B25}"/>
              </a:ext>
            </a:extLst>
          </p:cNvPr>
          <p:cNvSpPr txBox="1"/>
          <p:nvPr/>
        </p:nvSpPr>
        <p:spPr>
          <a:xfrm>
            <a:off x="374226" y="139889"/>
            <a:ext cx="9119730" cy="584775"/>
          </a:xfrm>
          <a:prstGeom prst="rect">
            <a:avLst/>
          </a:prstGeom>
          <a:noFill/>
        </p:spPr>
        <p:txBody>
          <a:bodyPr wrap="square">
            <a:spAutoFit/>
          </a:bodyPr>
          <a:lstStyle/>
          <a:p>
            <a:r>
              <a:rPr lang="en-GB" altLang="zh-CN" sz="3200" dirty="0"/>
              <a:t>Data preprocessing (Variable Importance Assessment)</a:t>
            </a:r>
            <a:endParaRPr lang="zh-CN" altLang="en-US" sz="2800" b="1" dirty="0"/>
          </a:p>
        </p:txBody>
      </p:sp>
      <p:pic>
        <p:nvPicPr>
          <p:cNvPr id="3" name="图片 2" descr="图表, 条形图&#10;&#10;AI 生成的内容可能不正确。">
            <a:extLst>
              <a:ext uri="{FF2B5EF4-FFF2-40B4-BE49-F238E27FC236}">
                <a16:creationId xmlns:a16="http://schemas.microsoft.com/office/drawing/2014/main" id="{4CB0D009-C45B-FD46-E513-DEE8ACCF8C8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10178" y="1068740"/>
            <a:ext cx="5274310" cy="3343275"/>
          </a:xfrm>
          <a:prstGeom prst="rect">
            <a:avLst/>
          </a:prstGeom>
          <a:noFill/>
          <a:ln>
            <a:noFill/>
          </a:ln>
        </p:spPr>
      </p:pic>
      <p:pic>
        <p:nvPicPr>
          <p:cNvPr id="5" name="图片 4" descr="图表, 树状图&#10;&#10;AI 生成的内容可能不正确。">
            <a:extLst>
              <a:ext uri="{FF2B5EF4-FFF2-40B4-BE49-F238E27FC236}">
                <a16:creationId xmlns:a16="http://schemas.microsoft.com/office/drawing/2014/main" id="{3A607D83-1779-74CF-71D1-5B7DFBA0DFB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909226" y="1068740"/>
            <a:ext cx="3840480" cy="3343275"/>
          </a:xfrm>
          <a:prstGeom prst="rect">
            <a:avLst/>
          </a:prstGeom>
          <a:noFill/>
          <a:ln>
            <a:noFill/>
          </a:ln>
        </p:spPr>
      </p:pic>
      <p:sp>
        <p:nvSpPr>
          <p:cNvPr id="8" name="文本框 7">
            <a:extLst>
              <a:ext uri="{FF2B5EF4-FFF2-40B4-BE49-F238E27FC236}">
                <a16:creationId xmlns:a16="http://schemas.microsoft.com/office/drawing/2014/main" id="{BAB29383-C7CC-BAF1-007F-9C901197B070}"/>
              </a:ext>
            </a:extLst>
          </p:cNvPr>
          <p:cNvSpPr txBox="1"/>
          <p:nvPr/>
        </p:nvSpPr>
        <p:spPr>
          <a:xfrm>
            <a:off x="810178" y="4756091"/>
            <a:ext cx="6099048" cy="646331"/>
          </a:xfrm>
          <a:prstGeom prst="rect">
            <a:avLst/>
          </a:prstGeom>
          <a:noFill/>
        </p:spPr>
        <p:txBody>
          <a:bodyPr wrap="square">
            <a:spAutoFit/>
          </a:bodyPr>
          <a:lstStyle/>
          <a:p>
            <a:pPr marL="285750" indent="-285750">
              <a:buFont typeface="Arial" panose="020B0604020202020204" pitchFamily="34" charset="0"/>
              <a:buChar char="•"/>
            </a:pPr>
            <a:r>
              <a:rPr lang="en-US" altLang="zh-CN" dirty="0"/>
              <a:t>Identifies most predictive meteorological factors</a:t>
            </a:r>
          </a:p>
          <a:p>
            <a:pPr marL="285750" indent="-285750">
              <a:buFont typeface="Arial" panose="020B0604020202020204" pitchFamily="34" charset="0"/>
              <a:buChar char="•"/>
            </a:pPr>
            <a:r>
              <a:rPr lang="en-US" altLang="zh-CN" dirty="0"/>
              <a:t>Quantitative ranking for model input selection</a:t>
            </a:r>
          </a:p>
        </p:txBody>
      </p:sp>
      <p:sp>
        <p:nvSpPr>
          <p:cNvPr id="11" name="文本框 10">
            <a:extLst>
              <a:ext uri="{FF2B5EF4-FFF2-40B4-BE49-F238E27FC236}">
                <a16:creationId xmlns:a16="http://schemas.microsoft.com/office/drawing/2014/main" id="{979D36EB-E063-538E-11E4-9248EC371AC0}"/>
              </a:ext>
            </a:extLst>
          </p:cNvPr>
          <p:cNvSpPr txBox="1"/>
          <p:nvPr/>
        </p:nvSpPr>
        <p:spPr>
          <a:xfrm>
            <a:off x="6707124" y="4739014"/>
            <a:ext cx="6099048" cy="646331"/>
          </a:xfrm>
          <a:prstGeom prst="rect">
            <a:avLst/>
          </a:prstGeom>
          <a:noFill/>
        </p:spPr>
        <p:txBody>
          <a:bodyPr wrap="square">
            <a:spAutoFit/>
          </a:bodyPr>
          <a:lstStyle/>
          <a:p>
            <a:pPr marL="285750" indent="-285750">
              <a:buFont typeface="Arial" panose="020B0604020202020204" pitchFamily="34" charset="0"/>
              <a:buChar char="•"/>
            </a:pPr>
            <a:r>
              <a:rPr lang="en-US" altLang="zh-CN" dirty="0"/>
              <a:t>Visual representation of variable relationships</a:t>
            </a:r>
          </a:p>
          <a:p>
            <a:pPr marL="285750" indent="-285750">
              <a:buFont typeface="Arial" panose="020B0604020202020204" pitchFamily="34" charset="0"/>
              <a:buChar char="•"/>
            </a:pPr>
            <a:r>
              <a:rPr lang="en-US" altLang="zh-CN" dirty="0"/>
              <a:t>Supports feature selection strategy</a:t>
            </a:r>
            <a:endParaRPr lang="zh-CN" altLang="en-US" dirty="0"/>
          </a:p>
        </p:txBody>
      </p:sp>
    </p:spTree>
    <p:extLst>
      <p:ext uri="{BB962C8B-B14F-4D97-AF65-F5344CB8AC3E}">
        <p14:creationId xmlns:p14="http://schemas.microsoft.com/office/powerpoint/2010/main" val="25332704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F4F68-DF73-43BD-D6C8-83B567E71E33}"/>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C34BBD81-BF62-2F16-F984-4A82025BBB3C}"/>
              </a:ext>
            </a:extLst>
          </p:cNvPr>
          <p:cNvSpPr txBox="1"/>
          <p:nvPr/>
        </p:nvSpPr>
        <p:spPr>
          <a:xfrm>
            <a:off x="264498" y="0"/>
            <a:ext cx="9119730" cy="584775"/>
          </a:xfrm>
          <a:prstGeom prst="rect">
            <a:avLst/>
          </a:prstGeom>
          <a:noFill/>
        </p:spPr>
        <p:txBody>
          <a:bodyPr wrap="square">
            <a:spAutoFit/>
          </a:bodyPr>
          <a:lstStyle/>
          <a:p>
            <a:r>
              <a:rPr lang="en-GB" altLang="zh-CN" sz="3200" dirty="0"/>
              <a:t>CEEMDAN Decomposition Principle</a:t>
            </a:r>
            <a:endParaRPr lang="zh-CN" altLang="en-US" sz="2800" b="1" dirty="0"/>
          </a:p>
        </p:txBody>
      </p:sp>
      <p:sp>
        <p:nvSpPr>
          <p:cNvPr id="6" name="文本框 5">
            <a:extLst>
              <a:ext uri="{FF2B5EF4-FFF2-40B4-BE49-F238E27FC236}">
                <a16:creationId xmlns:a16="http://schemas.microsoft.com/office/drawing/2014/main" id="{26CD0F18-9B76-0D5D-09D1-72ED8E3F5F5F}"/>
              </a:ext>
            </a:extLst>
          </p:cNvPr>
          <p:cNvSpPr txBox="1"/>
          <p:nvPr/>
        </p:nvSpPr>
        <p:spPr>
          <a:xfrm>
            <a:off x="264498" y="584775"/>
            <a:ext cx="5971710" cy="3970318"/>
          </a:xfrm>
          <a:prstGeom prst="rect">
            <a:avLst/>
          </a:prstGeom>
          <a:noFill/>
        </p:spPr>
        <p:txBody>
          <a:bodyPr wrap="square">
            <a:spAutoFit/>
          </a:bodyPr>
          <a:lstStyle/>
          <a:p>
            <a:pPr>
              <a:buNone/>
            </a:pPr>
            <a:r>
              <a:rPr lang="en-GB" altLang="zh-CN" b="1" dirty="0"/>
              <a:t>Method Overview</a:t>
            </a:r>
          </a:p>
          <a:p>
            <a:pPr>
              <a:buNone/>
            </a:pPr>
            <a:endParaRPr lang="en-GB" altLang="zh-CN" b="1" dirty="0"/>
          </a:p>
          <a:p>
            <a:pPr>
              <a:buFont typeface="Arial" panose="020B0604020202020204" pitchFamily="34" charset="0"/>
              <a:buChar char="•"/>
            </a:pPr>
            <a:r>
              <a:rPr lang="en-GB" altLang="zh-CN" b="1" dirty="0"/>
              <a:t>Full Name</a:t>
            </a:r>
            <a:r>
              <a:rPr lang="en-GB" altLang="zh-CN" dirty="0"/>
              <a:t>: Complete Ensemble Empirical Mode Decomposition with Adaptive Noise</a:t>
            </a:r>
          </a:p>
          <a:p>
            <a:pPr>
              <a:buFont typeface="Arial" panose="020B0604020202020204" pitchFamily="34" charset="0"/>
              <a:buChar char="•"/>
            </a:pPr>
            <a:r>
              <a:rPr lang="en-GB" altLang="zh-CN" b="1" dirty="0"/>
              <a:t>Improvement</a:t>
            </a:r>
            <a:r>
              <a:rPr lang="en-GB" altLang="zh-CN" dirty="0"/>
              <a:t>: Advanced version of EMD and EEMD</a:t>
            </a:r>
          </a:p>
          <a:p>
            <a:pPr>
              <a:buFont typeface="Arial" panose="020B0604020202020204" pitchFamily="34" charset="0"/>
              <a:buChar char="•"/>
            </a:pPr>
            <a:r>
              <a:rPr lang="en-GB" altLang="zh-CN" b="1" dirty="0"/>
              <a:t>Key Innovation</a:t>
            </a:r>
            <a:r>
              <a:rPr lang="en-GB" altLang="zh-CN" dirty="0"/>
              <a:t>: Adaptive noise reduces mode aliasing</a:t>
            </a:r>
          </a:p>
          <a:p>
            <a:pPr>
              <a:buFont typeface="Arial" panose="020B0604020202020204" pitchFamily="34" charset="0"/>
              <a:buChar char="•"/>
            </a:pPr>
            <a:r>
              <a:rPr lang="en-GB" altLang="zh-CN" b="1" dirty="0"/>
              <a:t>Application</a:t>
            </a:r>
            <a:r>
              <a:rPr lang="en-GB" altLang="zh-CN" dirty="0"/>
              <a:t>: Nonlinear, nonstationary meteorological time series</a:t>
            </a:r>
          </a:p>
          <a:p>
            <a:pPr>
              <a:buFont typeface="Arial" panose="020B0604020202020204" pitchFamily="34" charset="0"/>
              <a:buChar char="•"/>
            </a:pPr>
            <a:endParaRPr lang="en-GB" altLang="zh-CN" dirty="0"/>
          </a:p>
          <a:p>
            <a:pPr>
              <a:buNone/>
            </a:pPr>
            <a:r>
              <a:rPr lang="en-GB" altLang="zh-CN" b="1" dirty="0"/>
              <a:t>Target Variables</a:t>
            </a:r>
          </a:p>
          <a:p>
            <a:pPr>
              <a:buFont typeface="Arial" panose="020B0604020202020204" pitchFamily="34" charset="0"/>
              <a:buChar char="•"/>
            </a:pPr>
            <a:r>
              <a:rPr lang="en-GB" altLang="zh-CN" b="1" dirty="0"/>
              <a:t>CDD</a:t>
            </a:r>
            <a:r>
              <a:rPr lang="en-GB" altLang="zh-CN" dirty="0"/>
              <a:t>: Consecutive dry days (drought metric)</a:t>
            </a:r>
          </a:p>
          <a:p>
            <a:pPr>
              <a:buFont typeface="Arial" panose="020B0604020202020204" pitchFamily="34" charset="0"/>
              <a:buChar char="•"/>
            </a:pPr>
            <a:r>
              <a:rPr lang="en-GB" altLang="zh-CN" b="1" dirty="0"/>
              <a:t>Rx5Day</a:t>
            </a:r>
            <a:r>
              <a:rPr lang="en-GB" altLang="zh-CN" dirty="0"/>
              <a:t>: Maximum 5-day precipitation (extreme rainfall metric)</a:t>
            </a:r>
          </a:p>
          <a:p>
            <a:pPr>
              <a:buNone/>
            </a:pPr>
            <a:endParaRPr lang="en-GB" altLang="zh-CN" b="1" dirty="0"/>
          </a:p>
        </p:txBody>
      </p:sp>
      <p:sp>
        <p:nvSpPr>
          <p:cNvPr id="9" name="文本框 8">
            <a:extLst>
              <a:ext uri="{FF2B5EF4-FFF2-40B4-BE49-F238E27FC236}">
                <a16:creationId xmlns:a16="http://schemas.microsoft.com/office/drawing/2014/main" id="{B1D0D3C9-7D53-8A93-73E2-4D8D90BFDC5F}"/>
              </a:ext>
            </a:extLst>
          </p:cNvPr>
          <p:cNvSpPr txBox="1"/>
          <p:nvPr/>
        </p:nvSpPr>
        <p:spPr>
          <a:xfrm>
            <a:off x="6220290" y="584775"/>
            <a:ext cx="5971710" cy="6186309"/>
          </a:xfrm>
          <a:prstGeom prst="rect">
            <a:avLst/>
          </a:prstGeom>
          <a:noFill/>
        </p:spPr>
        <p:txBody>
          <a:bodyPr wrap="square">
            <a:spAutoFit/>
          </a:bodyPr>
          <a:lstStyle/>
          <a:p>
            <a:pPr>
              <a:buNone/>
            </a:pPr>
            <a:r>
              <a:rPr lang="en-GB" altLang="zh-CN" b="1" dirty="0"/>
              <a:t>Decomposition Process</a:t>
            </a:r>
          </a:p>
          <a:p>
            <a:pPr>
              <a:buNone/>
            </a:pPr>
            <a:r>
              <a:rPr lang="en-GB" altLang="zh-CN" b="1" dirty="0"/>
              <a:t>Step 1: Noise Addition</a:t>
            </a:r>
          </a:p>
          <a:p>
            <a:pPr>
              <a:buFont typeface="Arial" panose="020B0604020202020204" pitchFamily="34" charset="0"/>
              <a:buChar char="•"/>
            </a:pPr>
            <a:r>
              <a:rPr lang="en-GB" altLang="zh-CN" dirty="0"/>
              <a:t>Add Gaussian white noise to original signal</a:t>
            </a:r>
          </a:p>
          <a:p>
            <a:pPr>
              <a:buFont typeface="Arial" panose="020B0604020202020204" pitchFamily="34" charset="0"/>
              <a:buChar char="•"/>
            </a:pPr>
            <a:r>
              <a:rPr lang="en-GB" altLang="zh-CN" dirty="0"/>
              <a:t>Create multiple noisy signals for ensemble processing</a:t>
            </a:r>
          </a:p>
          <a:p>
            <a:pPr>
              <a:buFont typeface="Arial" panose="020B0604020202020204" pitchFamily="34" charset="0"/>
              <a:buChar char="•"/>
            </a:pPr>
            <a:endParaRPr lang="en-GB" altLang="zh-CN" dirty="0"/>
          </a:p>
          <a:p>
            <a:pPr>
              <a:buNone/>
            </a:pPr>
            <a:r>
              <a:rPr lang="en-GB" altLang="zh-CN" b="1" dirty="0"/>
              <a:t>Step 2: EMD &amp; Averaging</a:t>
            </a:r>
          </a:p>
          <a:p>
            <a:pPr>
              <a:buFont typeface="Arial" panose="020B0604020202020204" pitchFamily="34" charset="0"/>
              <a:buChar char="•"/>
            </a:pPr>
            <a:r>
              <a:rPr lang="en-GB" altLang="zh-CN" dirty="0"/>
              <a:t>Apply EMD to each noisy signal</a:t>
            </a:r>
          </a:p>
          <a:p>
            <a:pPr>
              <a:buFont typeface="Arial" panose="020B0604020202020204" pitchFamily="34" charset="0"/>
              <a:buChar char="•"/>
            </a:pPr>
            <a:r>
              <a:rPr lang="en-GB" altLang="zh-CN" dirty="0"/>
              <a:t>Calculate mean of first IMF components</a:t>
            </a:r>
          </a:p>
          <a:p>
            <a:pPr>
              <a:buFont typeface="Arial" panose="020B0604020202020204" pitchFamily="34" charset="0"/>
              <a:buChar char="•"/>
            </a:pPr>
            <a:r>
              <a:rPr lang="en-GB" altLang="zh-CN" dirty="0"/>
              <a:t>Compute residual for next iteration</a:t>
            </a:r>
          </a:p>
          <a:p>
            <a:pPr>
              <a:buFont typeface="Arial" panose="020B0604020202020204" pitchFamily="34" charset="0"/>
              <a:buChar char="•"/>
            </a:pPr>
            <a:endParaRPr lang="en-GB" altLang="zh-CN" dirty="0"/>
          </a:p>
          <a:p>
            <a:pPr>
              <a:buNone/>
            </a:pPr>
            <a:r>
              <a:rPr lang="en-GB" altLang="zh-CN" b="1" dirty="0"/>
              <a:t>Step 3: Iterative Decomposition</a:t>
            </a:r>
          </a:p>
          <a:p>
            <a:pPr>
              <a:buFont typeface="Arial" panose="020B0604020202020204" pitchFamily="34" charset="0"/>
              <a:buChar char="•"/>
            </a:pPr>
            <a:r>
              <a:rPr lang="en-GB" altLang="zh-CN" dirty="0"/>
              <a:t>Add adaptive noise to residual</a:t>
            </a:r>
          </a:p>
          <a:p>
            <a:pPr>
              <a:buFont typeface="Arial" panose="020B0604020202020204" pitchFamily="34" charset="0"/>
              <a:buChar char="•"/>
            </a:pPr>
            <a:r>
              <a:rPr lang="en-GB" altLang="zh-CN" dirty="0"/>
              <a:t>Extract subsequent IMF components</a:t>
            </a:r>
          </a:p>
          <a:p>
            <a:pPr>
              <a:buFont typeface="Arial" panose="020B0604020202020204" pitchFamily="34" charset="0"/>
              <a:buChar char="•"/>
            </a:pPr>
            <a:r>
              <a:rPr lang="en-GB" altLang="zh-CN" dirty="0"/>
              <a:t>Update residual for next round</a:t>
            </a:r>
          </a:p>
          <a:p>
            <a:pPr>
              <a:buFont typeface="Arial" panose="020B0604020202020204" pitchFamily="34" charset="0"/>
              <a:buChar char="•"/>
            </a:pPr>
            <a:endParaRPr lang="en-GB" altLang="zh-CN" dirty="0"/>
          </a:p>
          <a:p>
            <a:pPr>
              <a:buNone/>
            </a:pPr>
            <a:r>
              <a:rPr lang="en-GB" altLang="zh-CN" b="1" dirty="0"/>
              <a:t>Step 4: Termination</a:t>
            </a:r>
          </a:p>
          <a:p>
            <a:pPr>
              <a:buFont typeface="Arial" panose="020B0604020202020204" pitchFamily="34" charset="0"/>
              <a:buChar char="•"/>
            </a:pPr>
            <a:r>
              <a:rPr lang="en-GB" altLang="zh-CN" dirty="0"/>
              <a:t>Continue until monotonic condition met</a:t>
            </a:r>
          </a:p>
          <a:p>
            <a:pPr>
              <a:buFont typeface="Arial" panose="020B0604020202020204" pitchFamily="34" charset="0"/>
              <a:buChar char="•"/>
            </a:pPr>
            <a:r>
              <a:rPr lang="en-GB" altLang="zh-CN" dirty="0"/>
              <a:t>Obtain all IMF components and final residual</a:t>
            </a:r>
          </a:p>
          <a:p>
            <a:pPr>
              <a:buFont typeface="Arial" panose="020B0604020202020204" pitchFamily="34" charset="0"/>
              <a:buChar char="•"/>
            </a:pPr>
            <a:endParaRPr lang="en-GB" altLang="zh-CN" dirty="0"/>
          </a:p>
          <a:p>
            <a:pPr>
              <a:buNone/>
            </a:pPr>
            <a:r>
              <a:rPr lang="en-GB" altLang="zh-CN" b="1" dirty="0"/>
              <a:t>Step 5: Signal Reconstruction</a:t>
            </a:r>
          </a:p>
          <a:p>
            <a:pPr>
              <a:buFont typeface="Arial" panose="020B0604020202020204" pitchFamily="34" charset="0"/>
              <a:buChar char="•"/>
            </a:pPr>
            <a:r>
              <a:rPr lang="en-GB" altLang="zh-CN" b="1" dirty="0"/>
              <a:t>Formula</a:t>
            </a:r>
            <a:r>
              <a:rPr lang="en-GB" altLang="zh-CN" dirty="0"/>
              <a:t>: Original signal = </a:t>
            </a:r>
            <a:r>
              <a:rPr lang="el-GR" altLang="zh-CN" dirty="0"/>
              <a:t>Σ(</a:t>
            </a:r>
            <a:r>
              <a:rPr lang="en-GB" altLang="zh-CN" dirty="0"/>
              <a:t>IMF components) + Final residual</a:t>
            </a:r>
          </a:p>
          <a:p>
            <a:pPr>
              <a:buFont typeface="Arial" panose="020B0604020202020204" pitchFamily="34" charset="0"/>
              <a:buChar char="•"/>
            </a:pPr>
            <a:r>
              <a:rPr lang="en-GB" altLang="zh-CN" dirty="0"/>
              <a:t>Enables multi-scale feature extraction</a:t>
            </a:r>
          </a:p>
        </p:txBody>
      </p:sp>
      <mc:AlternateContent xmlns:mc="http://schemas.openxmlformats.org/markup-compatibility/2006">
        <mc:Choice xmlns:a14="http://schemas.microsoft.com/office/drawing/2010/main" Requires="a14">
          <p:sp>
            <p:nvSpPr>
              <p:cNvPr id="12" name="文本框 11">
                <a:extLst>
                  <a:ext uri="{FF2B5EF4-FFF2-40B4-BE49-F238E27FC236}">
                    <a16:creationId xmlns:a16="http://schemas.microsoft.com/office/drawing/2014/main" id="{7B885882-C4A7-9578-C2BC-760E77D0A081}"/>
                  </a:ext>
                </a:extLst>
              </p:cNvPr>
              <p:cNvSpPr txBox="1"/>
              <p:nvPr/>
            </p:nvSpPr>
            <p:spPr>
              <a:xfrm>
                <a:off x="-438912" y="4810226"/>
                <a:ext cx="6108192" cy="6592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latin typeface="Cambria Math" panose="02040503050406030204" pitchFamily="18" charset="0"/>
                            </a:rPr>
                          </m:ctrlPr>
                        </m:sSubPr>
                        <m:e>
                          <m:r>
                            <a:rPr lang="zh-CN" altLang="en-US" i="1">
                              <a:latin typeface="Cambria Math" panose="02040503050406030204" pitchFamily="18" charset="0"/>
                            </a:rPr>
                            <m:t>𝑐</m:t>
                          </m:r>
                        </m:e>
                        <m:sub>
                          <m:r>
                            <a:rPr lang="zh-CN" altLang="en-US" i="1">
                              <a:latin typeface="Cambria Math" panose="02040503050406030204" pitchFamily="18" charset="0"/>
                            </a:rPr>
                            <m:t>𝑗</m:t>
                          </m:r>
                          <m:r>
                            <a:rPr lang="zh-CN" altLang="en-US" i="0">
                              <a:latin typeface="Cambria Math" panose="02040503050406030204" pitchFamily="18" charset="0"/>
                            </a:rPr>
                            <m:t>+1</m:t>
                          </m:r>
                        </m:sub>
                      </m:sSub>
                      <m:d>
                        <m:dPr>
                          <m:ctrlPr>
                            <a:rPr lang="zh-CN" altLang="en-US" i="1">
                              <a:latin typeface="Cambria Math" panose="02040503050406030204" pitchFamily="18" charset="0"/>
                            </a:rPr>
                          </m:ctrlPr>
                        </m:dPr>
                        <m:e>
                          <m:r>
                            <a:rPr lang="zh-CN" altLang="en-US" i="1">
                              <a:latin typeface="Cambria Math" panose="02040503050406030204" pitchFamily="18" charset="0"/>
                            </a:rPr>
                            <m:t>𝑡</m:t>
                          </m:r>
                        </m:e>
                      </m:d>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m:t>
                          </m:r>
                        </m:num>
                        <m:den>
                          <m:r>
                            <a:rPr lang="zh-CN" altLang="en-US" i="1">
                              <a:latin typeface="Cambria Math" panose="02040503050406030204" pitchFamily="18" charset="0"/>
                            </a:rPr>
                            <m:t>𝑁</m:t>
                          </m:r>
                        </m:den>
                      </m:f>
                      <m:nary>
                        <m:naryPr>
                          <m:chr m:val="∑"/>
                          <m:limLoc m:val="subSup"/>
                          <m:ctrlPr>
                            <a:rPr lang="zh-CN" altLang="en-US" i="1">
                              <a:latin typeface="Cambria Math" panose="02040503050406030204" pitchFamily="18" charset="0"/>
                            </a:rPr>
                          </m:ctrlPr>
                        </m:naryPr>
                        <m:sub>
                          <m:r>
                            <a:rPr lang="zh-CN" altLang="en-US" i="1">
                              <a:latin typeface="Cambria Math" panose="02040503050406030204" pitchFamily="18" charset="0"/>
                            </a:rPr>
                            <m:t>𝑖</m:t>
                          </m:r>
                          <m:r>
                            <a:rPr lang="zh-CN" altLang="en-US" i="0">
                              <a:latin typeface="Cambria Math" panose="02040503050406030204" pitchFamily="18" charset="0"/>
                            </a:rPr>
                            <m:t>=1</m:t>
                          </m:r>
                        </m:sub>
                        <m:sup>
                          <m:r>
                            <a:rPr lang="zh-CN" altLang="en-US" i="1">
                              <a:latin typeface="Cambria Math" panose="02040503050406030204" pitchFamily="18" charset="0"/>
                            </a:rPr>
                            <m:t>𝑁</m:t>
                          </m:r>
                        </m:sup>
                        <m:e>
                          <m:sSub>
                            <m:sSubPr>
                              <m:ctrlPr>
                                <a:rPr lang="zh-CN" altLang="en-US" i="1">
                                  <a:latin typeface="Cambria Math" panose="02040503050406030204" pitchFamily="18" charset="0"/>
                                </a:rPr>
                              </m:ctrlPr>
                            </m:sSubPr>
                            <m:e>
                              <m:r>
                                <a:rPr lang="zh-CN" altLang="en-US" i="1">
                                  <a:latin typeface="Cambria Math" panose="02040503050406030204" pitchFamily="18" charset="0"/>
                                </a:rPr>
                                <m:t>𝐸</m:t>
                              </m:r>
                            </m:e>
                            <m:sub>
                              <m:r>
                                <a:rPr lang="zh-CN" altLang="en-US" i="0">
                                  <a:latin typeface="Cambria Math" panose="02040503050406030204" pitchFamily="18" charset="0"/>
                                </a:rPr>
                                <m:t>1</m:t>
                              </m:r>
                            </m:sub>
                          </m:sSub>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𝑟</m:t>
                                  </m:r>
                                </m:e>
                                <m:sub>
                                  <m:r>
                                    <a:rPr lang="zh-CN" altLang="en-US" i="1">
                                      <a:latin typeface="Cambria Math" panose="02040503050406030204" pitchFamily="18" charset="0"/>
                                    </a:rPr>
                                    <m:t>𝑗</m:t>
                                  </m:r>
                                </m:sub>
                              </m:sSub>
                              <m:d>
                                <m:dPr>
                                  <m:ctrlPr>
                                    <a:rPr lang="zh-CN" altLang="en-US" i="1">
                                      <a:latin typeface="Cambria Math" panose="02040503050406030204" pitchFamily="18" charset="0"/>
                                    </a:rPr>
                                  </m:ctrlPr>
                                </m:dPr>
                                <m:e>
                                  <m:r>
                                    <a:rPr lang="zh-CN" altLang="en-US" i="1">
                                      <a:latin typeface="Cambria Math" panose="02040503050406030204" pitchFamily="18" charset="0"/>
                                    </a:rPr>
                                    <m:t>𝑡</m:t>
                                  </m:r>
                                </m:e>
                              </m:d>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m:rPr>
                                      <m:sty m:val="p"/>
                                    </m:rPr>
                                    <a:rPr lang="zh-CN" altLang="en-US" i="0">
                                      <a:latin typeface="Cambria Math" panose="02040503050406030204" pitchFamily="18" charset="0"/>
                                    </a:rPr>
                                    <m:t>ε</m:t>
                                  </m:r>
                                </m:e>
                                <m:sub>
                                  <m:r>
                                    <a:rPr lang="zh-CN" altLang="en-US" i="1">
                                      <a:latin typeface="Cambria Math" panose="02040503050406030204" pitchFamily="18" charset="0"/>
                                    </a:rPr>
                                    <m:t>𝑗</m:t>
                                  </m:r>
                                </m:sub>
                              </m:sSub>
                              <m:sSub>
                                <m:sSubPr>
                                  <m:ctrlPr>
                                    <a:rPr lang="zh-CN" altLang="en-US" i="1">
                                      <a:latin typeface="Cambria Math" panose="02040503050406030204" pitchFamily="18" charset="0"/>
                                    </a:rPr>
                                  </m:ctrlPr>
                                </m:sSubPr>
                                <m:e>
                                  <m:r>
                                    <a:rPr lang="zh-CN" altLang="en-US" i="1">
                                      <a:latin typeface="Cambria Math" panose="02040503050406030204" pitchFamily="18" charset="0"/>
                                    </a:rPr>
                                    <m:t>𝐸</m:t>
                                  </m:r>
                                </m:e>
                                <m:sub>
                                  <m:r>
                                    <a:rPr lang="zh-CN" altLang="en-US" i="1">
                                      <a:latin typeface="Cambria Math" panose="02040503050406030204" pitchFamily="18" charset="0"/>
                                    </a:rPr>
                                    <m:t>𝑗</m:t>
                                  </m:r>
                                </m:sub>
                              </m:sSub>
                              <m:d>
                                <m:dPr>
                                  <m:ctrlPr>
                                    <a:rPr lang="zh-CN" altLang="en-US" i="1">
                                      <a:latin typeface="Cambria Math" panose="02040503050406030204" pitchFamily="18" charset="0"/>
                                    </a:rPr>
                                  </m:ctrlPr>
                                </m:dPr>
                                <m:e>
                                  <m:sSup>
                                    <m:sSupPr>
                                      <m:ctrlPr>
                                        <a:rPr lang="zh-CN" altLang="en-US" i="1">
                                          <a:latin typeface="Cambria Math" panose="02040503050406030204" pitchFamily="18" charset="0"/>
                                        </a:rPr>
                                      </m:ctrlPr>
                                    </m:sSupPr>
                                    <m:e>
                                      <m:r>
                                        <m:rPr>
                                          <m:sty m:val="p"/>
                                        </m:rPr>
                                        <a:rPr lang="zh-CN" altLang="en-US" i="0">
                                          <a:latin typeface="Cambria Math" panose="02040503050406030204" pitchFamily="18" charset="0"/>
                                        </a:rPr>
                                        <m:t>ω</m:t>
                                      </m:r>
                                    </m:e>
                                    <m:sup>
                                      <m:r>
                                        <a:rPr lang="zh-CN" altLang="en-US" i="1">
                                          <a:latin typeface="Cambria Math" panose="02040503050406030204" pitchFamily="18" charset="0"/>
                                        </a:rPr>
                                        <m:t>𝑖</m:t>
                                      </m:r>
                                    </m:sup>
                                  </m:sSup>
                                  <m:d>
                                    <m:dPr>
                                      <m:ctrlPr>
                                        <a:rPr lang="zh-CN" altLang="en-US" i="1">
                                          <a:latin typeface="Cambria Math" panose="02040503050406030204" pitchFamily="18" charset="0"/>
                                        </a:rPr>
                                      </m:ctrlPr>
                                    </m:dPr>
                                    <m:e>
                                      <m:r>
                                        <a:rPr lang="zh-CN" altLang="en-US" i="1">
                                          <a:latin typeface="Cambria Math" panose="02040503050406030204" pitchFamily="18" charset="0"/>
                                        </a:rPr>
                                        <m:t>𝑡</m:t>
                                      </m:r>
                                    </m:e>
                                  </m:d>
                                </m:e>
                              </m:d>
                            </m:e>
                          </m:d>
                        </m:e>
                      </m:nary>
                    </m:oMath>
                  </m:oMathPara>
                </a14:m>
                <a:endParaRPr lang="zh-CN" altLang="en-US" dirty="0"/>
              </a:p>
            </p:txBody>
          </p:sp>
        </mc:Choice>
        <mc:Fallback>
          <p:sp>
            <p:nvSpPr>
              <p:cNvPr id="12" name="文本框 11">
                <a:extLst>
                  <a:ext uri="{FF2B5EF4-FFF2-40B4-BE49-F238E27FC236}">
                    <a16:creationId xmlns:a16="http://schemas.microsoft.com/office/drawing/2014/main" id="{7B885882-C4A7-9578-C2BC-760E77D0A081}"/>
                  </a:ext>
                </a:extLst>
              </p:cNvPr>
              <p:cNvSpPr txBox="1">
                <a:spLocks noRot="1" noChangeAspect="1" noMove="1" noResize="1" noEditPoints="1" noAdjustHandles="1" noChangeArrowheads="1" noChangeShapeType="1" noTextEdit="1"/>
              </p:cNvSpPr>
              <p:nvPr/>
            </p:nvSpPr>
            <p:spPr>
              <a:xfrm>
                <a:off x="-438912" y="4810226"/>
                <a:ext cx="6108192" cy="659283"/>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a:extLst>
                  <a:ext uri="{FF2B5EF4-FFF2-40B4-BE49-F238E27FC236}">
                    <a16:creationId xmlns:a16="http://schemas.microsoft.com/office/drawing/2014/main" id="{47B7EF54-E619-8566-54F2-CC8EDE5FA7AF}"/>
                  </a:ext>
                </a:extLst>
              </p:cNvPr>
              <p:cNvSpPr txBox="1"/>
              <p:nvPr/>
            </p:nvSpPr>
            <p:spPr>
              <a:xfrm>
                <a:off x="-1170432" y="5614006"/>
                <a:ext cx="6327648" cy="65921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𝑦</m:t>
                      </m:r>
                      <m:d>
                        <m:dPr>
                          <m:ctrlPr>
                            <a:rPr lang="zh-CN" altLang="en-US" i="1">
                              <a:latin typeface="Cambria Math" panose="02040503050406030204" pitchFamily="18" charset="0"/>
                            </a:rPr>
                          </m:ctrlPr>
                        </m:dPr>
                        <m:e>
                          <m:r>
                            <a:rPr lang="zh-CN" altLang="en-US" i="1">
                              <a:latin typeface="Cambria Math" panose="02040503050406030204" pitchFamily="18" charset="0"/>
                            </a:rPr>
                            <m:t>𝑡</m:t>
                          </m:r>
                        </m:e>
                      </m:d>
                      <m:r>
                        <a:rPr lang="zh-CN" altLang="en-US" i="0">
                          <a:latin typeface="Cambria Math" panose="02040503050406030204" pitchFamily="18" charset="0"/>
                        </a:rPr>
                        <m:t>=</m:t>
                      </m:r>
                      <m:nary>
                        <m:naryPr>
                          <m:chr m:val="∑"/>
                          <m:limLoc m:val="subSup"/>
                          <m:ctrlPr>
                            <a:rPr lang="zh-CN" altLang="en-US" i="1">
                              <a:latin typeface="Cambria Math" panose="02040503050406030204" pitchFamily="18" charset="0"/>
                            </a:rPr>
                          </m:ctrlPr>
                        </m:naryPr>
                        <m:sub>
                          <m:r>
                            <a:rPr lang="zh-CN" altLang="en-US" i="1">
                              <a:latin typeface="Cambria Math" panose="02040503050406030204" pitchFamily="18" charset="0"/>
                            </a:rPr>
                            <m:t>𝑚</m:t>
                          </m:r>
                          <m:r>
                            <a:rPr lang="zh-CN" altLang="en-US" i="0">
                              <a:latin typeface="Cambria Math" panose="02040503050406030204" pitchFamily="18" charset="0"/>
                            </a:rPr>
                            <m:t>=1</m:t>
                          </m:r>
                        </m:sub>
                        <m:sup>
                          <m:r>
                            <a:rPr lang="zh-CN" altLang="en-US" i="1">
                              <a:latin typeface="Cambria Math" panose="02040503050406030204" pitchFamily="18" charset="0"/>
                            </a:rPr>
                            <m:t>𝑀</m:t>
                          </m:r>
                        </m:sup>
                        <m:e>
                          <m:sSub>
                            <m:sSubPr>
                              <m:ctrlPr>
                                <a:rPr lang="zh-CN" altLang="en-US" i="1">
                                  <a:latin typeface="Cambria Math" panose="02040503050406030204" pitchFamily="18" charset="0"/>
                                </a:rPr>
                              </m:ctrlPr>
                            </m:sSubPr>
                            <m:e>
                              <m:r>
                                <a:rPr lang="zh-CN" altLang="en-US" i="1">
                                  <a:latin typeface="Cambria Math" panose="02040503050406030204" pitchFamily="18" charset="0"/>
                                </a:rPr>
                                <m:t>𝑐</m:t>
                              </m:r>
                            </m:e>
                            <m:sub>
                              <m:r>
                                <a:rPr lang="zh-CN" altLang="en-US" i="1">
                                  <a:latin typeface="Cambria Math" panose="02040503050406030204" pitchFamily="18" charset="0"/>
                                </a:rPr>
                                <m:t>𝑚</m:t>
                              </m:r>
                            </m:sub>
                          </m:sSub>
                          <m:d>
                            <m:dPr>
                              <m:ctrlPr>
                                <a:rPr lang="zh-CN" altLang="en-US" i="1">
                                  <a:latin typeface="Cambria Math" panose="02040503050406030204" pitchFamily="18" charset="0"/>
                                </a:rPr>
                              </m:ctrlPr>
                            </m:dPr>
                            <m:e>
                              <m:r>
                                <a:rPr lang="zh-CN" altLang="en-US" i="1">
                                  <a:latin typeface="Cambria Math" panose="02040503050406030204" pitchFamily="18" charset="0"/>
                                </a:rPr>
                                <m:t>𝑡</m:t>
                              </m:r>
                            </m:e>
                          </m:d>
                        </m:e>
                      </m:nary>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𝑟</m:t>
                          </m:r>
                        </m:e>
                        <m:sub>
                          <m:r>
                            <a:rPr lang="zh-CN" altLang="en-US" i="1">
                              <a:latin typeface="Cambria Math" panose="02040503050406030204" pitchFamily="18" charset="0"/>
                            </a:rPr>
                            <m:t>𝑀</m:t>
                          </m:r>
                        </m:sub>
                      </m:sSub>
                      <m:d>
                        <m:dPr>
                          <m:ctrlPr>
                            <a:rPr lang="zh-CN" altLang="en-US" i="1">
                              <a:latin typeface="Cambria Math" panose="02040503050406030204" pitchFamily="18" charset="0"/>
                            </a:rPr>
                          </m:ctrlPr>
                        </m:dPr>
                        <m:e>
                          <m:r>
                            <a:rPr lang="zh-CN" altLang="en-US" i="1">
                              <a:latin typeface="Cambria Math" panose="02040503050406030204" pitchFamily="18" charset="0"/>
                            </a:rPr>
                            <m:t>𝑡</m:t>
                          </m:r>
                        </m:e>
                      </m:d>
                    </m:oMath>
                  </m:oMathPara>
                </a14:m>
                <a:endParaRPr lang="zh-CN" altLang="en-US" dirty="0"/>
              </a:p>
            </p:txBody>
          </p:sp>
        </mc:Choice>
        <mc:Fallback>
          <p:sp>
            <p:nvSpPr>
              <p:cNvPr id="14" name="文本框 13">
                <a:extLst>
                  <a:ext uri="{FF2B5EF4-FFF2-40B4-BE49-F238E27FC236}">
                    <a16:creationId xmlns:a16="http://schemas.microsoft.com/office/drawing/2014/main" id="{47B7EF54-E619-8566-54F2-CC8EDE5FA7AF}"/>
                  </a:ext>
                </a:extLst>
              </p:cNvPr>
              <p:cNvSpPr txBox="1">
                <a:spLocks noRot="1" noChangeAspect="1" noMove="1" noResize="1" noEditPoints="1" noAdjustHandles="1" noChangeArrowheads="1" noChangeShapeType="1" noTextEdit="1"/>
              </p:cNvSpPr>
              <p:nvPr/>
            </p:nvSpPr>
            <p:spPr>
              <a:xfrm>
                <a:off x="-1170432" y="5614006"/>
                <a:ext cx="6327648" cy="659219"/>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23663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E4BAD-0351-68C5-00BC-F90D90A538E1}"/>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ECFA4A95-DD32-B50E-3C1D-BFE4AC24FF0C}"/>
              </a:ext>
            </a:extLst>
          </p:cNvPr>
          <p:cNvSpPr txBox="1"/>
          <p:nvPr/>
        </p:nvSpPr>
        <p:spPr>
          <a:xfrm>
            <a:off x="325679" y="149580"/>
            <a:ext cx="9688394" cy="584775"/>
          </a:xfrm>
          <a:prstGeom prst="rect">
            <a:avLst/>
          </a:prstGeom>
          <a:noFill/>
        </p:spPr>
        <p:txBody>
          <a:bodyPr wrap="square">
            <a:spAutoFit/>
          </a:bodyPr>
          <a:lstStyle/>
          <a:p>
            <a:r>
              <a:rPr lang="en-GB" altLang="zh-CN" sz="3200" dirty="0"/>
              <a:t>Climate target variable decomposition implementation</a:t>
            </a:r>
            <a:endParaRPr lang="zh-CN" altLang="en-US" sz="2800" b="1" dirty="0"/>
          </a:p>
        </p:txBody>
      </p:sp>
      <p:grpSp>
        <p:nvGrpSpPr>
          <p:cNvPr id="15" name="组合 14">
            <a:extLst>
              <a:ext uri="{FF2B5EF4-FFF2-40B4-BE49-F238E27FC236}">
                <a16:creationId xmlns:a16="http://schemas.microsoft.com/office/drawing/2014/main" id="{E9ED0760-DCF0-9AF2-22FC-11E4B2DB6024}"/>
              </a:ext>
            </a:extLst>
          </p:cNvPr>
          <p:cNvGrpSpPr/>
          <p:nvPr/>
        </p:nvGrpSpPr>
        <p:grpSpPr>
          <a:xfrm>
            <a:off x="5462955" y="797232"/>
            <a:ext cx="8006860" cy="5950043"/>
            <a:chOff x="5181599" y="82062"/>
            <a:chExt cx="7737231" cy="6551797"/>
          </a:xfrm>
        </p:grpSpPr>
        <p:pic>
          <p:nvPicPr>
            <p:cNvPr id="2" name="图片 1" descr="图表, 直方图&#10;&#10;AI 生成的内容可能不正确。">
              <a:extLst>
                <a:ext uri="{FF2B5EF4-FFF2-40B4-BE49-F238E27FC236}">
                  <a16:creationId xmlns:a16="http://schemas.microsoft.com/office/drawing/2014/main" id="{4DA5EBD0-F643-32D6-0600-1943ABAEA81D}"/>
                </a:ext>
              </a:extLst>
            </p:cNvPr>
            <p:cNvPicPr>
              <a:picLocks noChangeAspect="1"/>
            </p:cNvPicPr>
            <p:nvPr/>
          </p:nvPicPr>
          <p:blipFill>
            <a:blip r:embed="rId3"/>
            <a:stretch>
              <a:fillRect/>
            </a:stretch>
          </p:blipFill>
          <p:spPr>
            <a:xfrm>
              <a:off x="7127630" y="82062"/>
              <a:ext cx="4103078" cy="2871067"/>
            </a:xfrm>
            <a:prstGeom prst="rect">
              <a:avLst/>
            </a:prstGeom>
          </p:spPr>
        </p:pic>
        <p:pic>
          <p:nvPicPr>
            <p:cNvPr id="3" name="图片 2" descr="图表&#10;&#10;AI 生成的内容可能不正确。">
              <a:extLst>
                <a:ext uri="{FF2B5EF4-FFF2-40B4-BE49-F238E27FC236}">
                  <a16:creationId xmlns:a16="http://schemas.microsoft.com/office/drawing/2014/main" id="{6070D429-288B-E4CB-FA70-1F38F3C33F68}"/>
                </a:ext>
              </a:extLst>
            </p:cNvPr>
            <p:cNvPicPr>
              <a:picLocks noChangeAspect="1"/>
            </p:cNvPicPr>
            <p:nvPr/>
          </p:nvPicPr>
          <p:blipFill>
            <a:blip r:embed="rId4"/>
            <a:stretch>
              <a:fillRect/>
            </a:stretch>
          </p:blipFill>
          <p:spPr>
            <a:xfrm>
              <a:off x="7127630" y="3381543"/>
              <a:ext cx="4192126" cy="2979811"/>
            </a:xfrm>
            <a:prstGeom prst="rect">
              <a:avLst/>
            </a:prstGeom>
          </p:spPr>
        </p:pic>
        <p:sp>
          <p:nvSpPr>
            <p:cNvPr id="7" name="文本框 6">
              <a:extLst>
                <a:ext uri="{FF2B5EF4-FFF2-40B4-BE49-F238E27FC236}">
                  <a16:creationId xmlns:a16="http://schemas.microsoft.com/office/drawing/2014/main" id="{18E81C07-281B-CC99-C096-D04A9BB2F839}"/>
                </a:ext>
              </a:extLst>
            </p:cNvPr>
            <p:cNvSpPr txBox="1"/>
            <p:nvPr/>
          </p:nvSpPr>
          <p:spPr>
            <a:xfrm>
              <a:off x="5181599" y="2953129"/>
              <a:ext cx="7737231" cy="313356"/>
            </a:xfrm>
            <a:prstGeom prst="rect">
              <a:avLst/>
            </a:prstGeom>
            <a:noFill/>
          </p:spPr>
          <p:txBody>
            <a:bodyPr wrap="square">
              <a:spAutoFit/>
            </a:bodyPr>
            <a:lstStyle/>
            <a:p>
              <a:pPr algn="ctr">
                <a:lnSpc>
                  <a:spcPct val="150000"/>
                </a:lnSpc>
                <a:buNone/>
              </a:pPr>
              <a:r>
                <a:rPr lang="en-US" altLang="zh-CN" sz="1100" i="1" dirty="0">
                  <a:effectLst/>
                  <a:latin typeface="Arial" panose="020B0604020202020204" pitchFamily="34" charset="0"/>
                  <a:ea typeface="等线" panose="02010600030101010101" pitchFamily="2" charset="-122"/>
                  <a:cs typeface="宋体" panose="02010600030101010101" pitchFamily="2" charset="-122"/>
                </a:rPr>
                <a:t>Figure 4.3.2.1 </a:t>
              </a:r>
              <a:r>
                <a:rPr lang="en-US" altLang="zh-CN" sz="1100" i="1" dirty="0">
                  <a:effectLst/>
                  <a:latin typeface="Arial" panose="020B0604020202020204" pitchFamily="34" charset="0"/>
                  <a:ea typeface="宋体" panose="02010600030101010101" pitchFamily="2" charset="-122"/>
                  <a:cs typeface="宋体" panose="02010600030101010101" pitchFamily="2" charset="-122"/>
                </a:rPr>
                <a:t>CEEMDAN Decomposition for Cdd of China</a:t>
              </a:r>
              <a:endParaRPr lang="zh-CN" altLang="zh-CN" sz="11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10" name="文本框 9">
              <a:extLst>
                <a:ext uri="{FF2B5EF4-FFF2-40B4-BE49-F238E27FC236}">
                  <a16:creationId xmlns:a16="http://schemas.microsoft.com/office/drawing/2014/main" id="{C64B3FFC-45A2-5AA1-6016-2B38C7A159CF}"/>
                </a:ext>
              </a:extLst>
            </p:cNvPr>
            <p:cNvSpPr txBox="1"/>
            <p:nvPr/>
          </p:nvSpPr>
          <p:spPr>
            <a:xfrm>
              <a:off x="5949462" y="6318965"/>
              <a:ext cx="6459414" cy="314894"/>
            </a:xfrm>
            <a:prstGeom prst="rect">
              <a:avLst/>
            </a:prstGeom>
            <a:noFill/>
          </p:spPr>
          <p:txBody>
            <a:bodyPr wrap="square">
              <a:spAutoFit/>
            </a:bodyPr>
            <a:lstStyle>
              <a:defPPr>
                <a:defRPr lang="zh-CN"/>
              </a:defPPr>
              <a:lvl1pPr algn="ctr">
                <a:lnSpc>
                  <a:spcPct val="150000"/>
                </a:lnSpc>
                <a:buNone/>
                <a:defRPr sz="1100" i="1">
                  <a:effectLst/>
                  <a:latin typeface="Arial" panose="020B0604020202020204" pitchFamily="34" charset="0"/>
                  <a:ea typeface="等线" panose="02010600030101010101" pitchFamily="2" charset="-122"/>
                  <a:cs typeface="宋体" panose="02010600030101010101" pitchFamily="2" charset="-122"/>
                </a:defRPr>
              </a:lvl1pPr>
            </a:lstStyle>
            <a:p>
              <a:r>
                <a:rPr lang="en-US" altLang="zh-CN" dirty="0"/>
                <a:t>Figure 4.3.2.2 CEEMDAN Decomposition for Rx5day of Malaysia</a:t>
              </a:r>
              <a:endParaRPr lang="zh-CN" altLang="zh-CN" dirty="0"/>
            </a:p>
          </p:txBody>
        </p:sp>
      </p:grpSp>
      <p:sp>
        <p:nvSpPr>
          <p:cNvPr id="13" name="文本框 12">
            <a:extLst>
              <a:ext uri="{FF2B5EF4-FFF2-40B4-BE49-F238E27FC236}">
                <a16:creationId xmlns:a16="http://schemas.microsoft.com/office/drawing/2014/main" id="{E15F05EB-FA1F-CCC6-B55F-DC2789547CA4}"/>
              </a:ext>
            </a:extLst>
          </p:cNvPr>
          <p:cNvSpPr txBox="1"/>
          <p:nvPr/>
        </p:nvSpPr>
        <p:spPr>
          <a:xfrm>
            <a:off x="530106" y="1283309"/>
            <a:ext cx="6808540" cy="1569660"/>
          </a:xfrm>
          <a:prstGeom prst="rect">
            <a:avLst/>
          </a:prstGeom>
          <a:noFill/>
        </p:spPr>
        <p:txBody>
          <a:bodyPr wrap="square">
            <a:spAutoFit/>
          </a:bodyPr>
          <a:lstStyle/>
          <a:p>
            <a:r>
              <a:rPr lang="en-US" altLang="zh-CN" sz="2400" dirty="0"/>
              <a:t>The original complex climate signal is decomposed into multiple intrinsic mode functions (IMFs) and a single residual trend term, with each IMF representing oscillations at distinct temporal scales. </a:t>
            </a:r>
            <a:endParaRPr lang="zh-CN" altLang="en-US" sz="2400" dirty="0"/>
          </a:p>
        </p:txBody>
      </p:sp>
      <p:sp>
        <p:nvSpPr>
          <p:cNvPr id="17" name="文本框 16">
            <a:extLst>
              <a:ext uri="{FF2B5EF4-FFF2-40B4-BE49-F238E27FC236}">
                <a16:creationId xmlns:a16="http://schemas.microsoft.com/office/drawing/2014/main" id="{006AD3EF-F12A-37E1-51DD-A055FFEE5700}"/>
              </a:ext>
            </a:extLst>
          </p:cNvPr>
          <p:cNvSpPr txBox="1"/>
          <p:nvPr/>
        </p:nvSpPr>
        <p:spPr>
          <a:xfrm>
            <a:off x="530106" y="3301200"/>
            <a:ext cx="6424246" cy="2308324"/>
          </a:xfrm>
          <a:prstGeom prst="rect">
            <a:avLst/>
          </a:prstGeom>
          <a:noFill/>
        </p:spPr>
        <p:txBody>
          <a:bodyPr wrap="square">
            <a:spAutoFit/>
          </a:bodyPr>
          <a:lstStyle/>
          <a:p>
            <a:pPr>
              <a:buNone/>
            </a:pPr>
            <a:r>
              <a:rPr lang="en-US" altLang="zh-CN" sz="2400" b="1" dirty="0"/>
              <a:t>High-frequency IMFs (imf1 - imf3):</a:t>
            </a:r>
            <a:endParaRPr lang="en-US" altLang="zh-CN" sz="2400" dirty="0"/>
          </a:p>
          <a:p>
            <a:pPr>
              <a:buFont typeface="Arial" panose="020B0604020202020204" pitchFamily="34" charset="0"/>
              <a:buChar char="•"/>
            </a:pPr>
            <a:r>
              <a:rPr lang="en-US" altLang="zh-CN" sz="2400" dirty="0"/>
              <a:t>Short-term climate fluctuations (months to 1 year)</a:t>
            </a:r>
          </a:p>
          <a:p>
            <a:pPr>
              <a:buNone/>
            </a:pPr>
            <a:r>
              <a:rPr lang="en-US" altLang="zh-CN" sz="2400" b="1" dirty="0"/>
              <a:t>Mid-frequency IMFs (imf4 - imf6):</a:t>
            </a:r>
            <a:endParaRPr lang="en-US" altLang="zh-CN" sz="2400" dirty="0"/>
          </a:p>
          <a:p>
            <a:pPr>
              <a:buFont typeface="Arial" panose="020B0604020202020204" pitchFamily="34" charset="0"/>
              <a:buChar char="•"/>
            </a:pPr>
            <a:r>
              <a:rPr lang="en-US" altLang="zh-CN" sz="2400" dirty="0"/>
              <a:t>Interannual variability (2-5 years)</a:t>
            </a:r>
          </a:p>
          <a:p>
            <a:pPr>
              <a:buNone/>
            </a:pPr>
            <a:r>
              <a:rPr lang="en-US" altLang="zh-CN" sz="2400" b="1" dirty="0"/>
              <a:t>Low-frequency IMFs (imf7 and above):</a:t>
            </a:r>
            <a:endParaRPr lang="en-US" altLang="zh-CN" sz="2400" dirty="0"/>
          </a:p>
          <a:p>
            <a:pPr>
              <a:buFont typeface="Arial" panose="020B0604020202020204" pitchFamily="34" charset="0"/>
              <a:buChar char="•"/>
            </a:pPr>
            <a:r>
              <a:rPr lang="en-US" altLang="zh-CN" sz="2400" dirty="0"/>
              <a:t>Long-term trends and large-scale patterns</a:t>
            </a:r>
          </a:p>
        </p:txBody>
      </p:sp>
    </p:spTree>
    <p:extLst>
      <p:ext uri="{BB962C8B-B14F-4D97-AF65-F5344CB8AC3E}">
        <p14:creationId xmlns:p14="http://schemas.microsoft.com/office/powerpoint/2010/main" val="39338099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38508-FCBA-8702-CFCD-5BDC0CBA9598}"/>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DD39EB2A-A830-D13E-B99C-4CA80D1AA30C}"/>
              </a:ext>
            </a:extLst>
          </p:cNvPr>
          <p:cNvSpPr txBox="1"/>
          <p:nvPr/>
        </p:nvSpPr>
        <p:spPr>
          <a:xfrm>
            <a:off x="440344" y="443568"/>
            <a:ext cx="9119730" cy="584775"/>
          </a:xfrm>
          <a:prstGeom prst="rect">
            <a:avLst/>
          </a:prstGeom>
          <a:noFill/>
        </p:spPr>
        <p:txBody>
          <a:bodyPr wrap="square">
            <a:spAutoFit/>
          </a:bodyPr>
          <a:lstStyle/>
          <a:p>
            <a:r>
              <a:rPr lang="en-GB" altLang="zh-CN" sz="3200" dirty="0"/>
              <a:t>CNN 1D Principle &amp; Structure</a:t>
            </a:r>
          </a:p>
        </p:txBody>
      </p:sp>
      <p:sp>
        <p:nvSpPr>
          <p:cNvPr id="3" name="文本框 2">
            <a:extLst>
              <a:ext uri="{FF2B5EF4-FFF2-40B4-BE49-F238E27FC236}">
                <a16:creationId xmlns:a16="http://schemas.microsoft.com/office/drawing/2014/main" id="{BAD03B23-7356-71FD-9E42-FFFBAE00CB23}"/>
              </a:ext>
            </a:extLst>
          </p:cNvPr>
          <p:cNvSpPr txBox="1"/>
          <p:nvPr/>
        </p:nvSpPr>
        <p:spPr>
          <a:xfrm>
            <a:off x="550984" y="1322817"/>
            <a:ext cx="8135816" cy="4924425"/>
          </a:xfrm>
          <a:prstGeom prst="rect">
            <a:avLst/>
          </a:prstGeom>
          <a:noFill/>
        </p:spPr>
        <p:txBody>
          <a:bodyPr wrap="square">
            <a:spAutoFit/>
          </a:bodyPr>
          <a:lstStyle/>
          <a:p>
            <a:pPr>
              <a:buNone/>
            </a:pPr>
            <a:r>
              <a:rPr lang="en-GB" altLang="zh-CN" sz="2000" b="1" dirty="0"/>
              <a:t>Why CNN for Time Series?</a:t>
            </a:r>
          </a:p>
          <a:p>
            <a:pPr>
              <a:buFont typeface="Arial" panose="020B0604020202020204" pitchFamily="34" charset="0"/>
              <a:buChar char="•"/>
            </a:pPr>
            <a:r>
              <a:rPr lang="en-GB" altLang="zh-CN" b="1" dirty="0"/>
              <a:t>Local Pattern Detection</a:t>
            </a:r>
            <a:r>
              <a:rPr lang="en-GB" altLang="zh-CN" dirty="0"/>
              <a:t>: Captures short-term dependencies</a:t>
            </a:r>
          </a:p>
          <a:p>
            <a:pPr>
              <a:buFont typeface="Arial" panose="020B0604020202020204" pitchFamily="34" charset="0"/>
              <a:buChar char="•"/>
            </a:pPr>
            <a:r>
              <a:rPr lang="en-GB" altLang="zh-CN" b="1" dirty="0"/>
              <a:t>Parameter Efficiency</a:t>
            </a:r>
            <a:r>
              <a:rPr lang="en-GB" altLang="zh-CN" dirty="0"/>
              <a:t>: Sharing mechanism reduces complexity</a:t>
            </a:r>
          </a:p>
          <a:p>
            <a:pPr>
              <a:buFont typeface="Arial" panose="020B0604020202020204" pitchFamily="34" charset="0"/>
              <a:buChar char="•"/>
            </a:pPr>
            <a:r>
              <a:rPr lang="en-GB" altLang="zh-CN" b="1" dirty="0"/>
              <a:t>Computational Advantage</a:t>
            </a:r>
            <a:r>
              <a:rPr lang="en-GB" altLang="zh-CN" dirty="0"/>
              <a:t>: Improved performance</a:t>
            </a:r>
          </a:p>
          <a:p>
            <a:pPr>
              <a:buFont typeface="Arial" panose="020B0604020202020204" pitchFamily="34" charset="0"/>
              <a:buChar char="•"/>
            </a:pPr>
            <a:endParaRPr lang="en-GB" altLang="zh-CN" dirty="0"/>
          </a:p>
          <a:p>
            <a:pPr>
              <a:buNone/>
            </a:pPr>
            <a:r>
              <a:rPr lang="en-GB" altLang="zh-CN" b="1" dirty="0"/>
              <a:t>Core Components</a:t>
            </a:r>
          </a:p>
          <a:p>
            <a:pPr>
              <a:buNone/>
            </a:pPr>
            <a:endParaRPr lang="en-GB" altLang="zh-CN" b="1" dirty="0"/>
          </a:p>
          <a:p>
            <a:pPr>
              <a:buNone/>
            </a:pPr>
            <a:r>
              <a:rPr lang="en-GB" altLang="zh-CN" b="1" dirty="0"/>
              <a:t>Conv1D Layer</a:t>
            </a:r>
          </a:p>
          <a:p>
            <a:pPr>
              <a:buFont typeface="Arial" panose="020B0604020202020204" pitchFamily="34" charset="0"/>
              <a:buChar char="•"/>
            </a:pPr>
            <a:r>
              <a:rPr lang="en-GB" altLang="zh-CN" dirty="0"/>
              <a:t>Slides kernel along time dimension</a:t>
            </a:r>
          </a:p>
          <a:p>
            <a:pPr>
              <a:buFont typeface="Arial" panose="020B0604020202020204" pitchFamily="34" charset="0"/>
              <a:buChar char="•"/>
            </a:pPr>
            <a:r>
              <a:rPr lang="en-GB" altLang="zh-CN" dirty="0"/>
              <a:t>Extracts local temporal features</a:t>
            </a:r>
          </a:p>
          <a:p>
            <a:pPr>
              <a:buNone/>
            </a:pPr>
            <a:r>
              <a:rPr lang="en-GB" altLang="zh-CN" b="1" dirty="0"/>
              <a:t>Pooling Layer</a:t>
            </a:r>
          </a:p>
          <a:p>
            <a:pPr>
              <a:buFont typeface="Arial" panose="020B0604020202020204" pitchFamily="34" charset="0"/>
              <a:buChar char="•"/>
            </a:pPr>
            <a:r>
              <a:rPr lang="en-GB" altLang="zh-CN" dirty="0" err="1"/>
              <a:t>Downsampling</a:t>
            </a:r>
            <a:r>
              <a:rPr lang="en-GB" altLang="zh-CN" dirty="0"/>
              <a:t> with feature preservation</a:t>
            </a:r>
          </a:p>
          <a:p>
            <a:pPr>
              <a:buFont typeface="Arial" panose="020B0604020202020204" pitchFamily="34" charset="0"/>
              <a:buChar char="•"/>
            </a:pPr>
            <a:r>
              <a:rPr lang="en-GB" altLang="zh-CN" dirty="0"/>
              <a:t>Max pooling highlights key patterns</a:t>
            </a:r>
          </a:p>
          <a:p>
            <a:pPr>
              <a:buNone/>
            </a:pPr>
            <a:r>
              <a:rPr lang="en-GB" altLang="zh-CN" b="1" dirty="0"/>
              <a:t>Activation (</a:t>
            </a:r>
            <a:r>
              <a:rPr lang="en-GB" altLang="zh-CN" b="1" dirty="0" err="1"/>
              <a:t>ReLU</a:t>
            </a:r>
            <a:r>
              <a:rPr lang="en-GB" altLang="zh-CN" b="1" dirty="0"/>
              <a:t>)</a:t>
            </a:r>
          </a:p>
          <a:p>
            <a:pPr>
              <a:buFont typeface="Arial" panose="020B0604020202020204" pitchFamily="34" charset="0"/>
              <a:buChar char="•"/>
            </a:pPr>
            <a:r>
              <a:rPr lang="en-GB" altLang="zh-CN" dirty="0"/>
              <a:t>Non-linearity: f(x) = max(0, x)</a:t>
            </a:r>
          </a:p>
          <a:p>
            <a:pPr>
              <a:buFont typeface="Arial" panose="020B0604020202020204" pitchFamily="34" charset="0"/>
              <a:buChar char="•"/>
            </a:pPr>
            <a:r>
              <a:rPr lang="en-GB" altLang="zh-CN" dirty="0"/>
              <a:t>Prevents gradient vanishing</a:t>
            </a:r>
          </a:p>
          <a:p>
            <a:pPr>
              <a:buFont typeface="Arial" panose="020B0604020202020204" pitchFamily="34" charset="0"/>
              <a:buChar char="•"/>
            </a:pPr>
            <a:endParaRPr lang="en-GB" altLang="zh-CN" dirty="0"/>
          </a:p>
        </p:txBody>
      </p:sp>
      <p:grpSp>
        <p:nvGrpSpPr>
          <p:cNvPr id="8" name="组合 7">
            <a:extLst>
              <a:ext uri="{FF2B5EF4-FFF2-40B4-BE49-F238E27FC236}">
                <a16:creationId xmlns:a16="http://schemas.microsoft.com/office/drawing/2014/main" id="{CCCDA427-E232-0EEC-575B-F6C98A9B22B7}"/>
              </a:ext>
            </a:extLst>
          </p:cNvPr>
          <p:cNvGrpSpPr/>
          <p:nvPr/>
        </p:nvGrpSpPr>
        <p:grpSpPr>
          <a:xfrm>
            <a:off x="6398456" y="2898673"/>
            <a:ext cx="6096000" cy="2863751"/>
            <a:chOff x="6398456" y="2898673"/>
            <a:chExt cx="6096000" cy="2863751"/>
          </a:xfrm>
        </p:grpSpPr>
        <p:pic>
          <p:nvPicPr>
            <p:cNvPr id="5" name="图片 4" descr="Futureinternet 16 00014 g001">
              <a:extLst>
                <a:ext uri="{FF2B5EF4-FFF2-40B4-BE49-F238E27FC236}">
                  <a16:creationId xmlns:a16="http://schemas.microsoft.com/office/drawing/2014/main" id="{85B57A0E-AB65-797A-A99C-DE39556C5B3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98456" y="2898673"/>
              <a:ext cx="5242560" cy="2217420"/>
            </a:xfrm>
            <a:prstGeom prst="rect">
              <a:avLst/>
            </a:prstGeom>
            <a:noFill/>
            <a:ln>
              <a:noFill/>
            </a:ln>
          </p:spPr>
        </p:pic>
        <p:sp>
          <p:nvSpPr>
            <p:cNvPr id="7" name="文本框 6">
              <a:extLst>
                <a:ext uri="{FF2B5EF4-FFF2-40B4-BE49-F238E27FC236}">
                  <a16:creationId xmlns:a16="http://schemas.microsoft.com/office/drawing/2014/main" id="{39D59F47-9989-1DFF-9952-B214DF3B00AA}"/>
                </a:ext>
              </a:extLst>
            </p:cNvPr>
            <p:cNvSpPr txBox="1"/>
            <p:nvPr/>
          </p:nvSpPr>
          <p:spPr>
            <a:xfrm>
              <a:off x="6398456" y="5116093"/>
              <a:ext cx="6096000" cy="646331"/>
            </a:xfrm>
            <a:prstGeom prst="rect">
              <a:avLst/>
            </a:prstGeom>
            <a:noFill/>
          </p:spPr>
          <p:txBody>
            <a:bodyPr wrap="square">
              <a:spAutoFit/>
            </a:bodyPr>
            <a:lstStyle/>
            <a:p>
              <a:pPr>
                <a:buNone/>
              </a:pPr>
              <a:r>
                <a:rPr lang="en-GB" altLang="zh-CN" b="1" dirty="0"/>
                <a:t>Architecture Flow</a:t>
              </a:r>
            </a:p>
            <a:p>
              <a:pPr>
                <a:buNone/>
              </a:pPr>
              <a:r>
                <a:rPr lang="en-GB" altLang="zh-CN" b="1" dirty="0"/>
                <a:t>Input → Conv1D → Pooling → Flatten → Dense → Output</a:t>
              </a:r>
              <a:endParaRPr lang="en-GB" altLang="zh-CN" dirty="0"/>
            </a:p>
          </p:txBody>
        </p:sp>
      </p:grpSp>
    </p:spTree>
    <p:extLst>
      <p:ext uri="{BB962C8B-B14F-4D97-AF65-F5344CB8AC3E}">
        <p14:creationId xmlns:p14="http://schemas.microsoft.com/office/powerpoint/2010/main" val="38822731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4067C-7D41-E7BA-5795-40E3CE56F4EC}"/>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C2BCC5C5-1BFF-B097-307E-0EC9715EF24B}"/>
              </a:ext>
            </a:extLst>
          </p:cNvPr>
          <p:cNvSpPr txBox="1"/>
          <p:nvPr/>
        </p:nvSpPr>
        <p:spPr>
          <a:xfrm>
            <a:off x="434166" y="244807"/>
            <a:ext cx="9119730" cy="584775"/>
          </a:xfrm>
          <a:prstGeom prst="rect">
            <a:avLst/>
          </a:prstGeom>
          <a:noFill/>
        </p:spPr>
        <p:txBody>
          <a:bodyPr wrap="square">
            <a:spAutoFit/>
          </a:bodyPr>
          <a:lstStyle/>
          <a:p>
            <a:r>
              <a:rPr lang="en-GB" altLang="zh-CN" sz="3200" dirty="0"/>
              <a:t>CNN Application in Extreme Climate Prediction</a:t>
            </a:r>
            <a:endParaRPr lang="zh-CN" altLang="en-US" sz="2800" b="1" dirty="0"/>
          </a:p>
        </p:txBody>
      </p:sp>
      <mc:AlternateContent xmlns:mc="http://schemas.openxmlformats.org/markup-compatibility/2006">
        <mc:Choice xmlns:a14="http://schemas.microsoft.com/office/drawing/2010/main" Requires="a14">
          <p:sp>
            <p:nvSpPr>
              <p:cNvPr id="11" name="文本框 10">
                <a:extLst>
                  <a:ext uri="{FF2B5EF4-FFF2-40B4-BE49-F238E27FC236}">
                    <a16:creationId xmlns:a16="http://schemas.microsoft.com/office/drawing/2014/main" id="{93F5294B-8A79-497F-E9F9-C425555F49F3}"/>
                  </a:ext>
                </a:extLst>
              </p:cNvPr>
              <p:cNvSpPr txBox="1"/>
              <p:nvPr/>
            </p:nvSpPr>
            <p:spPr>
              <a:xfrm>
                <a:off x="-1090245" y="4855157"/>
                <a:ext cx="6893168" cy="7146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latin typeface="Cambria Math" panose="02040503050406030204" pitchFamily="18" charset="0"/>
                            </a:rPr>
                          </m:ctrlPr>
                        </m:sSubPr>
                        <m:e>
                          <m:r>
                            <a:rPr lang="zh-CN" altLang="en-US" i="1">
                              <a:latin typeface="Cambria Math" panose="02040503050406030204" pitchFamily="18" charset="0"/>
                            </a:rPr>
                            <m:t>𝑦</m:t>
                          </m:r>
                        </m:e>
                        <m:sub>
                          <m:r>
                            <a:rPr lang="zh-CN" altLang="en-US" i="1">
                              <a:latin typeface="Cambria Math" panose="02040503050406030204" pitchFamily="18" charset="0"/>
                            </a:rPr>
                            <m:t>𝑖</m:t>
                          </m:r>
                        </m:sub>
                      </m:sSub>
                      <m:r>
                        <a:rPr lang="zh-CN" altLang="en-US" i="0">
                          <a:latin typeface="Cambria Math" panose="02040503050406030204" pitchFamily="18" charset="0"/>
                        </a:rPr>
                        <m:t>=</m:t>
                      </m:r>
                      <m:r>
                        <m:rPr>
                          <m:sty m:val="p"/>
                        </m:rPr>
                        <a:rPr lang="zh-CN" altLang="en-US" i="0">
                          <a:latin typeface="Cambria Math" panose="02040503050406030204" pitchFamily="18" charset="0"/>
                        </a:rPr>
                        <m:t>σ</m:t>
                      </m:r>
                      <m:d>
                        <m:dPr>
                          <m:ctrlPr>
                            <a:rPr lang="zh-CN" altLang="en-US" i="1">
                              <a:latin typeface="Cambria Math" panose="02040503050406030204" pitchFamily="18" charset="0"/>
                            </a:rPr>
                          </m:ctrlPr>
                        </m:dPr>
                        <m:e>
                          <m:nary>
                            <m:naryPr>
                              <m:chr m:val="∑"/>
                              <m:limLoc m:val="subSup"/>
                              <m:ctrlPr>
                                <a:rPr lang="zh-CN" altLang="en-US" i="1">
                                  <a:latin typeface="Cambria Math" panose="02040503050406030204" pitchFamily="18" charset="0"/>
                                </a:rPr>
                              </m:ctrlPr>
                            </m:naryPr>
                            <m:sub>
                              <m:r>
                                <a:rPr lang="zh-CN" altLang="en-US" i="1">
                                  <a:latin typeface="Cambria Math" panose="02040503050406030204" pitchFamily="18" charset="0"/>
                                </a:rPr>
                                <m:t>𝑗</m:t>
                              </m:r>
                              <m:r>
                                <a:rPr lang="zh-CN" altLang="en-US" i="0">
                                  <a:latin typeface="Cambria Math" panose="02040503050406030204" pitchFamily="18" charset="0"/>
                                </a:rPr>
                                <m:t>=0</m:t>
                              </m:r>
                            </m:sub>
                            <m:sup>
                              <m:r>
                                <a:rPr lang="zh-CN" altLang="en-US" i="1">
                                  <a:latin typeface="Cambria Math" panose="02040503050406030204" pitchFamily="18" charset="0"/>
                                </a:rPr>
                                <m:t>𝑘</m:t>
                              </m:r>
                              <m:r>
                                <a:rPr lang="zh-CN" altLang="en-US" i="0">
                                  <a:latin typeface="Cambria Math" panose="02040503050406030204" pitchFamily="18" charset="0"/>
                                </a:rPr>
                                <m:t>−1</m:t>
                              </m:r>
                            </m:sup>
                            <m:e>
                              <m:sSub>
                                <m:sSubPr>
                                  <m:ctrlPr>
                                    <a:rPr lang="zh-CN" altLang="en-US" i="1">
                                      <a:latin typeface="Cambria Math" panose="02040503050406030204" pitchFamily="18" charset="0"/>
                                    </a:rPr>
                                  </m:ctrlPr>
                                </m:sSubPr>
                                <m:e>
                                  <m:r>
                                    <a:rPr lang="zh-CN" altLang="en-US" i="1">
                                      <a:latin typeface="Cambria Math" panose="02040503050406030204" pitchFamily="18" charset="0"/>
                                    </a:rPr>
                                    <m:t>𝑤</m:t>
                                  </m:r>
                                </m:e>
                                <m:sub>
                                  <m:r>
                                    <a:rPr lang="zh-CN" altLang="en-US" i="1">
                                      <a:latin typeface="Cambria Math" panose="02040503050406030204" pitchFamily="18" charset="0"/>
                                    </a:rPr>
                                    <m:t>𝑗</m:t>
                                  </m:r>
                                </m:sub>
                              </m:sSub>
                            </m:e>
                          </m:nary>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𝑖</m:t>
                              </m:r>
                              <m:r>
                                <a:rPr lang="zh-CN" altLang="en-US" i="0">
                                  <a:latin typeface="Cambria Math" panose="02040503050406030204" pitchFamily="18" charset="0"/>
                                </a:rPr>
                                <m:t>+</m:t>
                              </m:r>
                              <m:r>
                                <a:rPr lang="zh-CN" altLang="en-US" i="1">
                                  <a:latin typeface="Cambria Math" panose="02040503050406030204" pitchFamily="18" charset="0"/>
                                </a:rPr>
                                <m:t>𝑗</m:t>
                              </m:r>
                            </m:sub>
                          </m:sSub>
                          <m:r>
                            <a:rPr lang="zh-CN" altLang="en-US" i="0">
                              <a:latin typeface="Cambria Math" panose="02040503050406030204" pitchFamily="18" charset="0"/>
                            </a:rPr>
                            <m:t>+</m:t>
                          </m:r>
                          <m:r>
                            <a:rPr lang="zh-CN" altLang="en-US" i="1">
                              <a:latin typeface="Cambria Math" panose="02040503050406030204" pitchFamily="18" charset="0"/>
                            </a:rPr>
                            <m:t>𝑏</m:t>
                          </m:r>
                        </m:e>
                      </m:d>
                    </m:oMath>
                  </m:oMathPara>
                </a14:m>
                <a:endParaRPr lang="zh-CN" altLang="en-US" dirty="0"/>
              </a:p>
            </p:txBody>
          </p:sp>
        </mc:Choice>
        <mc:Fallback>
          <p:sp>
            <p:nvSpPr>
              <p:cNvPr id="11" name="文本框 10">
                <a:extLst>
                  <a:ext uri="{FF2B5EF4-FFF2-40B4-BE49-F238E27FC236}">
                    <a16:creationId xmlns:a16="http://schemas.microsoft.com/office/drawing/2014/main" id="{93F5294B-8A79-497F-E9F9-C425555F49F3}"/>
                  </a:ext>
                </a:extLst>
              </p:cNvPr>
              <p:cNvSpPr txBox="1">
                <a:spLocks noRot="1" noChangeAspect="1" noMove="1" noResize="1" noEditPoints="1" noAdjustHandles="1" noChangeArrowheads="1" noChangeShapeType="1" noTextEdit="1"/>
              </p:cNvSpPr>
              <p:nvPr/>
            </p:nvSpPr>
            <p:spPr>
              <a:xfrm>
                <a:off x="-1090245" y="4855157"/>
                <a:ext cx="6893168" cy="714683"/>
              </a:xfrm>
              <a:prstGeom prst="rect">
                <a:avLst/>
              </a:prstGeom>
              <a:blipFill>
                <a:blip r:embed="rId3"/>
                <a:stretch>
                  <a:fillRect/>
                </a:stretch>
              </a:blipFill>
            </p:spPr>
            <p:txBody>
              <a:bodyPr/>
              <a:lstStyle/>
              <a:p>
                <a:r>
                  <a:rPr lang="zh-CN" altLang="en-US">
                    <a:noFill/>
                  </a:rPr>
                  <a:t> </a:t>
                </a:r>
              </a:p>
            </p:txBody>
          </p:sp>
        </mc:Fallback>
      </mc:AlternateContent>
      <p:grpSp>
        <p:nvGrpSpPr>
          <p:cNvPr id="14" name="组合 13">
            <a:extLst>
              <a:ext uri="{FF2B5EF4-FFF2-40B4-BE49-F238E27FC236}">
                <a16:creationId xmlns:a16="http://schemas.microsoft.com/office/drawing/2014/main" id="{B7505678-8E5B-6AEE-56BD-9194470F6219}"/>
              </a:ext>
            </a:extLst>
          </p:cNvPr>
          <p:cNvGrpSpPr/>
          <p:nvPr/>
        </p:nvGrpSpPr>
        <p:grpSpPr>
          <a:xfrm>
            <a:off x="792036" y="1288160"/>
            <a:ext cx="13389861" cy="4003880"/>
            <a:chOff x="229328" y="1206367"/>
            <a:chExt cx="12534076" cy="3416320"/>
          </a:xfrm>
        </p:grpSpPr>
        <p:sp>
          <p:nvSpPr>
            <p:cNvPr id="7" name="文本框 6">
              <a:extLst>
                <a:ext uri="{FF2B5EF4-FFF2-40B4-BE49-F238E27FC236}">
                  <a16:creationId xmlns:a16="http://schemas.microsoft.com/office/drawing/2014/main" id="{1E04CD37-D340-B415-2926-1EE477CA5E94}"/>
                </a:ext>
              </a:extLst>
            </p:cNvPr>
            <p:cNvSpPr txBox="1"/>
            <p:nvPr/>
          </p:nvSpPr>
          <p:spPr>
            <a:xfrm>
              <a:off x="229328" y="1206367"/>
              <a:ext cx="6096000" cy="3416320"/>
            </a:xfrm>
            <a:prstGeom prst="rect">
              <a:avLst/>
            </a:prstGeom>
            <a:noFill/>
          </p:spPr>
          <p:txBody>
            <a:bodyPr wrap="square">
              <a:spAutoFit/>
            </a:bodyPr>
            <a:lstStyle/>
            <a:p>
              <a:pPr>
                <a:buNone/>
              </a:pPr>
              <a:r>
                <a:rPr lang="en-GB" altLang="zh-CN" b="1" dirty="0"/>
                <a:t>Implementation Steps</a:t>
              </a:r>
            </a:p>
            <a:p>
              <a:pPr>
                <a:buNone/>
              </a:pPr>
              <a:endParaRPr lang="en-GB" altLang="zh-CN" b="1" dirty="0"/>
            </a:p>
            <a:p>
              <a:pPr>
                <a:buNone/>
              </a:pPr>
              <a:r>
                <a:rPr lang="en-GB" altLang="zh-CN" b="1" dirty="0"/>
                <a:t>1. Input Preprocessing</a:t>
              </a:r>
            </a:p>
            <a:p>
              <a:pPr>
                <a:buFont typeface="Arial" panose="020B0604020202020204" pitchFamily="34" charset="0"/>
                <a:buChar char="•"/>
              </a:pPr>
              <a:r>
                <a:rPr lang="en-GB" altLang="zh-CN" b="1" dirty="0"/>
                <a:t>Variables</a:t>
              </a:r>
              <a:r>
                <a:rPr lang="en-GB" altLang="zh-CN" dirty="0"/>
                <a:t>: pr, </a:t>
              </a:r>
              <a:r>
                <a:rPr lang="en-GB" altLang="zh-CN" dirty="0" err="1"/>
                <a:t>tasmax</a:t>
              </a:r>
              <a:r>
                <a:rPr lang="en-GB" altLang="zh-CN" dirty="0"/>
                <a:t>, </a:t>
              </a:r>
              <a:r>
                <a:rPr lang="en-GB" altLang="zh-CN" dirty="0" err="1"/>
                <a:t>tasmin</a:t>
              </a:r>
              <a:r>
                <a:rPr lang="en-GB" altLang="zh-CN" dirty="0"/>
                <a:t>, </a:t>
              </a:r>
              <a:r>
                <a:rPr lang="en-GB" altLang="zh-CN" dirty="0" err="1"/>
                <a:t>tas</a:t>
              </a:r>
              <a:r>
                <a:rPr lang="en-GB" altLang="zh-CN" dirty="0"/>
                <a:t> → 3D tensor</a:t>
              </a:r>
            </a:p>
            <a:p>
              <a:pPr>
                <a:buFont typeface="Arial" panose="020B0604020202020204" pitchFamily="34" charset="0"/>
                <a:buChar char="•"/>
              </a:pPr>
              <a:r>
                <a:rPr lang="en-GB" altLang="zh-CN" b="1" dirty="0"/>
                <a:t>Time Steps</a:t>
              </a:r>
              <a:r>
                <a:rPr lang="en-GB" altLang="zh-CN" dirty="0"/>
                <a:t>: 5 (short-term patterns)</a:t>
              </a:r>
            </a:p>
            <a:p>
              <a:pPr>
                <a:buFont typeface="Arial" panose="020B0604020202020204" pitchFamily="34" charset="0"/>
                <a:buChar char="•"/>
              </a:pPr>
              <a:endParaRPr lang="en-GB" altLang="zh-CN" dirty="0"/>
            </a:p>
            <a:p>
              <a:pPr>
                <a:buNone/>
              </a:pPr>
              <a:r>
                <a:rPr lang="en-GB" altLang="zh-CN" b="1" dirty="0"/>
                <a:t>2. Convolution Layer</a:t>
              </a:r>
            </a:p>
            <a:p>
              <a:pPr>
                <a:buFont typeface="Arial" panose="020B0604020202020204" pitchFamily="34" charset="0"/>
                <a:buChar char="•"/>
              </a:pPr>
              <a:r>
                <a:rPr lang="en-GB" altLang="zh-CN" b="1" dirty="0"/>
                <a:t>32 kernels</a:t>
              </a:r>
              <a:r>
                <a:rPr lang="en-GB" altLang="zh-CN" dirty="0"/>
                <a:t>, kernel size = 2</a:t>
              </a:r>
            </a:p>
            <a:p>
              <a:pPr>
                <a:buFont typeface="Arial" panose="020B0604020202020204" pitchFamily="34" charset="0"/>
                <a:buChar char="•"/>
              </a:pPr>
              <a:r>
                <a:rPr lang="en-GB" altLang="zh-CN" b="1" dirty="0" err="1"/>
                <a:t>ReLU</a:t>
              </a:r>
              <a:r>
                <a:rPr lang="en-GB" altLang="zh-CN" b="1" dirty="0"/>
                <a:t> activation</a:t>
              </a:r>
              <a:endParaRPr lang="en-GB" altLang="zh-CN" dirty="0"/>
            </a:p>
            <a:p>
              <a:pPr>
                <a:buFont typeface="Arial" panose="020B0604020202020204" pitchFamily="34" charset="0"/>
                <a:buChar char="•"/>
              </a:pPr>
              <a:r>
                <a:rPr lang="en-GB" altLang="zh-CN" dirty="0"/>
                <a:t>Extracts adjacent time step patterns</a:t>
              </a:r>
            </a:p>
            <a:p>
              <a:pPr>
                <a:buFont typeface="Arial" panose="020B0604020202020204" pitchFamily="34" charset="0"/>
                <a:buChar char="•"/>
              </a:pPr>
              <a:endParaRPr lang="en-GB" altLang="zh-CN" dirty="0"/>
            </a:p>
            <a:p>
              <a:pPr>
                <a:buNone/>
              </a:pPr>
              <a:endParaRPr lang="en-GB" altLang="zh-CN" dirty="0"/>
            </a:p>
          </p:txBody>
        </p:sp>
        <p:sp>
          <p:nvSpPr>
            <p:cNvPr id="13" name="文本框 12">
              <a:extLst>
                <a:ext uri="{FF2B5EF4-FFF2-40B4-BE49-F238E27FC236}">
                  <a16:creationId xmlns:a16="http://schemas.microsoft.com/office/drawing/2014/main" id="{D0163DD4-A278-28F0-5CE8-B79CD0BF4707}"/>
                </a:ext>
              </a:extLst>
            </p:cNvPr>
            <p:cNvSpPr txBox="1"/>
            <p:nvPr/>
          </p:nvSpPr>
          <p:spPr>
            <a:xfrm>
              <a:off x="5934712" y="1648427"/>
              <a:ext cx="6828692" cy="2308324"/>
            </a:xfrm>
            <a:prstGeom prst="rect">
              <a:avLst/>
            </a:prstGeom>
            <a:noFill/>
          </p:spPr>
          <p:txBody>
            <a:bodyPr wrap="square">
              <a:spAutoFit/>
            </a:bodyPr>
            <a:lstStyle/>
            <a:p>
              <a:pPr>
                <a:buNone/>
              </a:pPr>
              <a:r>
                <a:rPr lang="en-GB" altLang="zh-CN" b="1" dirty="0"/>
                <a:t>3. Max Pooling</a:t>
              </a:r>
            </a:p>
            <a:p>
              <a:pPr>
                <a:buFont typeface="Arial" panose="020B0604020202020204" pitchFamily="34" charset="0"/>
                <a:buChar char="•"/>
              </a:pPr>
              <a:r>
                <a:rPr lang="en-GB" altLang="zh-CN" b="1" dirty="0"/>
                <a:t>Pool size</a:t>
              </a:r>
              <a:r>
                <a:rPr lang="en-GB" altLang="zh-CN" dirty="0"/>
                <a:t>: 2</a:t>
              </a:r>
            </a:p>
            <a:p>
              <a:pPr>
                <a:buFont typeface="Arial" panose="020B0604020202020204" pitchFamily="34" charset="0"/>
                <a:buChar char="•"/>
              </a:pPr>
              <a:r>
                <a:rPr lang="en-GB" altLang="zh-CN" dirty="0"/>
                <a:t>Enhances extreme feature sensitivity</a:t>
              </a:r>
            </a:p>
            <a:p>
              <a:pPr>
                <a:buFont typeface="Arial" panose="020B0604020202020204" pitchFamily="34" charset="0"/>
                <a:buChar char="•"/>
              </a:pPr>
              <a:endParaRPr lang="en-GB" altLang="zh-CN" dirty="0"/>
            </a:p>
            <a:p>
              <a:pPr>
                <a:buNone/>
              </a:pPr>
              <a:r>
                <a:rPr lang="en-GB" altLang="zh-CN" b="1" dirty="0"/>
                <a:t>4. Reshaping</a:t>
              </a:r>
            </a:p>
            <a:p>
              <a:pPr>
                <a:buFont typeface="Arial" panose="020B0604020202020204" pitchFamily="34" charset="0"/>
                <a:buChar char="•"/>
              </a:pPr>
              <a:r>
                <a:rPr lang="en-GB" altLang="zh-CN" b="1" dirty="0"/>
                <a:t>Output</a:t>
              </a:r>
              <a:r>
                <a:rPr lang="en-GB" altLang="zh-CN" dirty="0"/>
                <a:t>: [</a:t>
              </a:r>
              <a:r>
                <a:rPr lang="en-GB" altLang="zh-CN" dirty="0" err="1"/>
                <a:t>batch_size</a:t>
              </a:r>
              <a:r>
                <a:rPr lang="en-GB" altLang="zh-CN" dirty="0"/>
                <a:t>, </a:t>
              </a:r>
              <a:r>
                <a:rPr lang="en-GB" altLang="zh-CN" dirty="0" err="1"/>
                <a:t>time_steps</a:t>
              </a:r>
              <a:r>
                <a:rPr lang="en-GB" altLang="zh-CN" dirty="0"/>
                <a:t>, features]</a:t>
              </a:r>
            </a:p>
            <a:p>
              <a:pPr>
                <a:buFont typeface="Arial" panose="020B0604020202020204" pitchFamily="34" charset="0"/>
                <a:buChar char="•"/>
              </a:pPr>
              <a:r>
                <a:rPr lang="en-GB" altLang="zh-CN" b="1" dirty="0"/>
                <a:t>Dimension</a:t>
              </a:r>
              <a:r>
                <a:rPr lang="en-GB" altLang="zh-CN" dirty="0"/>
                <a:t>: (-1, 32)</a:t>
              </a:r>
            </a:p>
            <a:p>
              <a:pPr>
                <a:buFont typeface="Arial" panose="020B0604020202020204" pitchFamily="34" charset="0"/>
                <a:buChar char="•"/>
              </a:pPr>
              <a:r>
                <a:rPr lang="en-GB" altLang="zh-CN" dirty="0"/>
                <a:t>Prepares input for LSTM</a:t>
              </a:r>
              <a:endParaRPr lang="zh-CN" altLang="en-US" dirty="0"/>
            </a:p>
          </p:txBody>
        </p:sp>
      </p:grpSp>
    </p:spTree>
    <p:extLst>
      <p:ext uri="{BB962C8B-B14F-4D97-AF65-F5344CB8AC3E}">
        <p14:creationId xmlns:p14="http://schemas.microsoft.com/office/powerpoint/2010/main" val="31016796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2E928-8939-00D5-03FD-CAC9FE0C7A85}"/>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D80A456B-EAD7-5D89-AB5F-AAB8E5E33A1C}"/>
              </a:ext>
            </a:extLst>
          </p:cNvPr>
          <p:cNvSpPr txBox="1"/>
          <p:nvPr/>
        </p:nvSpPr>
        <p:spPr>
          <a:xfrm>
            <a:off x="276221" y="328246"/>
            <a:ext cx="9119730" cy="584775"/>
          </a:xfrm>
          <a:prstGeom prst="rect">
            <a:avLst/>
          </a:prstGeom>
          <a:noFill/>
        </p:spPr>
        <p:txBody>
          <a:bodyPr wrap="square">
            <a:spAutoFit/>
          </a:bodyPr>
          <a:lstStyle/>
          <a:p>
            <a:r>
              <a:rPr lang="en-GB" altLang="zh-CN" sz="3200" dirty="0"/>
              <a:t>Model Training and Optimization</a:t>
            </a:r>
            <a:endParaRPr lang="zh-CN" altLang="en-US" sz="2800" b="1" dirty="0"/>
          </a:p>
        </p:txBody>
      </p:sp>
      <p:sp>
        <p:nvSpPr>
          <p:cNvPr id="3" name="文本框 2">
            <a:extLst>
              <a:ext uri="{FF2B5EF4-FFF2-40B4-BE49-F238E27FC236}">
                <a16:creationId xmlns:a16="http://schemas.microsoft.com/office/drawing/2014/main" id="{611D907B-99B7-21AF-D2AD-C73977458409}"/>
              </a:ext>
            </a:extLst>
          </p:cNvPr>
          <p:cNvSpPr txBox="1"/>
          <p:nvPr/>
        </p:nvSpPr>
        <p:spPr>
          <a:xfrm>
            <a:off x="609600" y="1362615"/>
            <a:ext cx="6096000" cy="3970318"/>
          </a:xfrm>
          <a:prstGeom prst="rect">
            <a:avLst/>
          </a:prstGeom>
          <a:noFill/>
        </p:spPr>
        <p:txBody>
          <a:bodyPr wrap="square">
            <a:spAutoFit/>
          </a:bodyPr>
          <a:lstStyle/>
          <a:p>
            <a:pPr>
              <a:buNone/>
            </a:pPr>
            <a:r>
              <a:rPr lang="en-GB" altLang="zh-CN" b="1" dirty="0"/>
              <a:t>Architecture</a:t>
            </a:r>
            <a:r>
              <a:rPr lang="zh-CN" altLang="en-US" b="1" dirty="0"/>
              <a:t>：</a:t>
            </a:r>
            <a:endParaRPr lang="en-GB" altLang="zh-CN" b="1" dirty="0"/>
          </a:p>
          <a:p>
            <a:pPr>
              <a:buNone/>
            </a:pPr>
            <a:r>
              <a:rPr lang="en-GB" altLang="zh-CN" b="1" dirty="0"/>
              <a:t>End-to-end</a:t>
            </a:r>
            <a:r>
              <a:rPr lang="en-GB" altLang="zh-CN" dirty="0"/>
              <a:t>: CNN → LSTM sequential connection</a:t>
            </a:r>
          </a:p>
          <a:p>
            <a:pPr>
              <a:buNone/>
            </a:pPr>
            <a:r>
              <a:rPr lang="en-GB" altLang="zh-CN" b="1" dirty="0"/>
              <a:t>Training Configuration</a:t>
            </a:r>
          </a:p>
          <a:p>
            <a:pPr>
              <a:buNone/>
            </a:pPr>
            <a:endParaRPr lang="en-GB" altLang="zh-CN" b="1" dirty="0"/>
          </a:p>
          <a:p>
            <a:pPr>
              <a:buNone/>
            </a:pPr>
            <a:endParaRPr lang="en-GB" altLang="zh-CN" b="1" dirty="0"/>
          </a:p>
          <a:p>
            <a:pPr>
              <a:buNone/>
            </a:pPr>
            <a:r>
              <a:rPr lang="en-GB" altLang="zh-CN" b="1" dirty="0"/>
              <a:t>Optimizer</a:t>
            </a:r>
          </a:p>
          <a:p>
            <a:pPr>
              <a:buFont typeface="Arial" panose="020B0604020202020204" pitchFamily="34" charset="0"/>
              <a:buChar char="•"/>
            </a:pPr>
            <a:r>
              <a:rPr lang="en-GB" altLang="zh-CN" b="1" dirty="0"/>
              <a:t>Adam algorithm</a:t>
            </a:r>
            <a:endParaRPr lang="en-GB" altLang="zh-CN" dirty="0"/>
          </a:p>
          <a:p>
            <a:r>
              <a:rPr lang="en-GB" altLang="zh-CN" dirty="0"/>
              <a:t>Adaptive learning rate adjustment</a:t>
            </a:r>
          </a:p>
          <a:p>
            <a:pPr>
              <a:buNone/>
            </a:pPr>
            <a:endParaRPr lang="en-GB" altLang="zh-CN" b="1" dirty="0"/>
          </a:p>
          <a:p>
            <a:pPr>
              <a:buNone/>
            </a:pPr>
            <a:endParaRPr lang="en-GB" altLang="zh-CN" b="1" dirty="0"/>
          </a:p>
          <a:p>
            <a:pPr>
              <a:buNone/>
            </a:pPr>
            <a:r>
              <a:rPr lang="en-GB" altLang="zh-CN" b="1" dirty="0"/>
              <a:t>Training Parameters</a:t>
            </a:r>
          </a:p>
          <a:p>
            <a:pPr>
              <a:buFont typeface="Arial" panose="020B0604020202020204" pitchFamily="34" charset="0"/>
              <a:buChar char="•"/>
            </a:pPr>
            <a:r>
              <a:rPr lang="en-GB" altLang="zh-CN" b="1" dirty="0"/>
              <a:t>Batch size</a:t>
            </a:r>
            <a:r>
              <a:rPr lang="en-GB" altLang="zh-CN" dirty="0"/>
              <a:t>: 32 (efficiency-stability balance)</a:t>
            </a:r>
          </a:p>
          <a:p>
            <a:pPr>
              <a:buFont typeface="Arial" panose="020B0604020202020204" pitchFamily="34" charset="0"/>
              <a:buChar char="•"/>
            </a:pPr>
            <a:r>
              <a:rPr lang="en-GB" altLang="zh-CN" b="1" dirty="0"/>
              <a:t>Epochs</a:t>
            </a:r>
            <a:r>
              <a:rPr lang="en-GB" altLang="zh-CN" dirty="0"/>
              <a:t>: 100 (full pattern capture)</a:t>
            </a:r>
          </a:p>
          <a:p>
            <a:pPr>
              <a:buFont typeface="Arial" panose="020B0604020202020204" pitchFamily="34" charset="0"/>
              <a:buChar char="•"/>
            </a:pPr>
            <a:endParaRPr lang="en-GB" altLang="zh-CN" dirty="0"/>
          </a:p>
        </p:txBody>
      </p:sp>
      <p:sp>
        <p:nvSpPr>
          <p:cNvPr id="6" name="文本框 5">
            <a:extLst>
              <a:ext uri="{FF2B5EF4-FFF2-40B4-BE49-F238E27FC236}">
                <a16:creationId xmlns:a16="http://schemas.microsoft.com/office/drawing/2014/main" id="{81A5E1BC-A09B-26F7-879C-3BFB4DEC546B}"/>
              </a:ext>
            </a:extLst>
          </p:cNvPr>
          <p:cNvSpPr txBox="1"/>
          <p:nvPr/>
        </p:nvSpPr>
        <p:spPr>
          <a:xfrm>
            <a:off x="5627077" y="1362615"/>
            <a:ext cx="6096000" cy="4247317"/>
          </a:xfrm>
          <a:prstGeom prst="rect">
            <a:avLst/>
          </a:prstGeom>
          <a:noFill/>
        </p:spPr>
        <p:txBody>
          <a:bodyPr wrap="square">
            <a:spAutoFit/>
          </a:bodyPr>
          <a:lstStyle/>
          <a:p>
            <a:pPr>
              <a:buNone/>
            </a:pPr>
            <a:r>
              <a:rPr lang="en-GB" altLang="zh-CN" b="1" dirty="0"/>
              <a:t>Hierarchical Learning Strategy</a:t>
            </a:r>
            <a:r>
              <a:rPr lang="zh-CN" altLang="en-US" b="1" dirty="0"/>
              <a:t>：</a:t>
            </a:r>
            <a:endParaRPr lang="en-GB" altLang="zh-CN" b="1" dirty="0"/>
          </a:p>
          <a:p>
            <a:pPr>
              <a:buNone/>
            </a:pPr>
            <a:endParaRPr lang="en-GB" altLang="zh-CN" b="1" dirty="0"/>
          </a:p>
          <a:p>
            <a:pPr>
              <a:buNone/>
            </a:pPr>
            <a:r>
              <a:rPr lang="en-GB" altLang="zh-CN" b="1" dirty="0"/>
              <a:t>CNN Module</a:t>
            </a:r>
          </a:p>
          <a:p>
            <a:pPr>
              <a:buFont typeface="Arial" panose="020B0604020202020204" pitchFamily="34" charset="0"/>
              <a:buChar char="•"/>
            </a:pPr>
            <a:r>
              <a:rPr lang="en-GB" altLang="zh-CN" dirty="0"/>
              <a:t>Extracts short-term meteorological fluctuation patterns</a:t>
            </a:r>
          </a:p>
          <a:p>
            <a:pPr>
              <a:buFont typeface="Arial" panose="020B0604020202020204" pitchFamily="34" charset="0"/>
              <a:buChar char="•"/>
            </a:pPr>
            <a:r>
              <a:rPr lang="en-GB" altLang="zh-CN" dirty="0"/>
              <a:t>Provides refined feature representations</a:t>
            </a:r>
          </a:p>
          <a:p>
            <a:pPr>
              <a:buFont typeface="Arial" panose="020B0604020202020204" pitchFamily="34" charset="0"/>
              <a:buChar char="•"/>
            </a:pPr>
            <a:endParaRPr lang="en-GB" altLang="zh-CN" dirty="0"/>
          </a:p>
          <a:p>
            <a:pPr>
              <a:buNone/>
            </a:pPr>
            <a:r>
              <a:rPr lang="en-GB" altLang="zh-CN" b="1" dirty="0"/>
              <a:t>LSTM Integration</a:t>
            </a:r>
          </a:p>
          <a:p>
            <a:pPr>
              <a:buFont typeface="Arial" panose="020B0604020202020204" pitchFamily="34" charset="0"/>
              <a:buChar char="•"/>
            </a:pPr>
            <a:r>
              <a:rPr lang="en-GB" altLang="zh-CN" dirty="0"/>
              <a:t>Receives enhanced CNN features</a:t>
            </a:r>
          </a:p>
          <a:p>
            <a:pPr>
              <a:buFont typeface="Arial" panose="020B0604020202020204" pitchFamily="34" charset="0"/>
              <a:buChar char="•"/>
            </a:pPr>
            <a:r>
              <a:rPr lang="en-GB" altLang="zh-CN" dirty="0"/>
              <a:t>Processes temporal dependencies</a:t>
            </a:r>
          </a:p>
          <a:p>
            <a:pPr>
              <a:buFont typeface="Arial" panose="020B0604020202020204" pitchFamily="34" charset="0"/>
              <a:buChar char="•"/>
            </a:pPr>
            <a:endParaRPr lang="en-GB" altLang="zh-CN" dirty="0"/>
          </a:p>
          <a:p>
            <a:pPr>
              <a:buNone/>
            </a:pPr>
            <a:r>
              <a:rPr lang="en-GB" altLang="zh-CN" b="1" dirty="0"/>
              <a:t>Key Advantages</a:t>
            </a:r>
          </a:p>
          <a:p>
            <a:pPr>
              <a:buFont typeface="Arial" panose="020B0604020202020204" pitchFamily="34" charset="0"/>
              <a:buChar char="•"/>
            </a:pPr>
            <a:r>
              <a:rPr lang="en-GB" altLang="zh-CN" b="1" dirty="0"/>
              <a:t>Effective feature extraction</a:t>
            </a:r>
            <a:r>
              <a:rPr lang="en-GB" altLang="zh-CN" dirty="0"/>
              <a:t>: Short-term pattern capture</a:t>
            </a:r>
          </a:p>
          <a:p>
            <a:pPr>
              <a:buFont typeface="Arial" panose="020B0604020202020204" pitchFamily="34" charset="0"/>
              <a:buChar char="•"/>
            </a:pPr>
            <a:r>
              <a:rPr lang="en-GB" altLang="zh-CN" b="1" dirty="0"/>
              <a:t>Enhanced accuracy</a:t>
            </a:r>
            <a:r>
              <a:rPr lang="en-GB" altLang="zh-CN" dirty="0"/>
              <a:t>: Improved extreme climate event prediction</a:t>
            </a:r>
          </a:p>
          <a:p>
            <a:pPr>
              <a:buFont typeface="Arial" panose="020B0604020202020204" pitchFamily="34" charset="0"/>
              <a:buChar char="•"/>
            </a:pPr>
            <a:r>
              <a:rPr lang="en-GB" altLang="zh-CN" b="1" dirty="0"/>
              <a:t>Hierarchical learning</a:t>
            </a:r>
            <a:r>
              <a:rPr lang="en-GB" altLang="zh-CN" dirty="0"/>
              <a:t>: Multi-level feature processing</a:t>
            </a:r>
          </a:p>
        </p:txBody>
      </p:sp>
    </p:spTree>
    <p:extLst>
      <p:ext uri="{BB962C8B-B14F-4D97-AF65-F5344CB8AC3E}">
        <p14:creationId xmlns:p14="http://schemas.microsoft.com/office/powerpoint/2010/main" val="650399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2CCC6-68BC-117D-F66D-004EECDAC972}"/>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A286CE9A-B25C-FF4C-A742-EF6D6337FBDF}"/>
              </a:ext>
            </a:extLst>
          </p:cNvPr>
          <p:cNvSpPr txBox="1"/>
          <p:nvPr/>
        </p:nvSpPr>
        <p:spPr>
          <a:xfrm>
            <a:off x="264498" y="0"/>
            <a:ext cx="9119730" cy="584775"/>
          </a:xfrm>
          <a:prstGeom prst="rect">
            <a:avLst/>
          </a:prstGeom>
          <a:noFill/>
        </p:spPr>
        <p:txBody>
          <a:bodyPr wrap="square">
            <a:spAutoFit/>
          </a:bodyPr>
          <a:lstStyle/>
          <a:p>
            <a:r>
              <a:rPr lang="en-GB" altLang="zh-CN" sz="3200" dirty="0"/>
              <a:t>LSTM </a:t>
            </a:r>
            <a:r>
              <a:rPr lang="en-GB" altLang="zh-CN" sz="3200" dirty="0" err="1"/>
              <a:t>Modeling</a:t>
            </a:r>
            <a:r>
              <a:rPr lang="en-GB" altLang="zh-CN" sz="3200" dirty="0"/>
              <a:t> in CEEMDAN-CNN-LSTM</a:t>
            </a:r>
            <a:endParaRPr lang="zh-CN" altLang="en-US" sz="2800" b="1" dirty="0"/>
          </a:p>
        </p:txBody>
      </p:sp>
      <p:pic>
        <p:nvPicPr>
          <p:cNvPr id="2" name="图片 1" descr="LSTM and GRU Neural Networks as Models of Dynamical Processes Used in  Predictive Control: A Comparison of Models Developed for Two Chemical  Reactors">
            <a:extLst>
              <a:ext uri="{FF2B5EF4-FFF2-40B4-BE49-F238E27FC236}">
                <a16:creationId xmlns:a16="http://schemas.microsoft.com/office/drawing/2014/main" id="{754DBB45-F4AA-9399-CD7B-8D5551F700C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07687" y="672661"/>
            <a:ext cx="4953082" cy="2820621"/>
          </a:xfrm>
          <a:prstGeom prst="rect">
            <a:avLst/>
          </a:prstGeom>
          <a:noFill/>
          <a:ln>
            <a:noFill/>
          </a:ln>
        </p:spPr>
      </p:pic>
      <p:sp>
        <p:nvSpPr>
          <p:cNvPr id="5" name="文本框 4">
            <a:extLst>
              <a:ext uri="{FF2B5EF4-FFF2-40B4-BE49-F238E27FC236}">
                <a16:creationId xmlns:a16="http://schemas.microsoft.com/office/drawing/2014/main" id="{207BF350-AC75-E5B4-24A5-34584DFF4F40}"/>
              </a:ext>
            </a:extLst>
          </p:cNvPr>
          <p:cNvSpPr txBox="1"/>
          <p:nvPr/>
        </p:nvSpPr>
        <p:spPr>
          <a:xfrm>
            <a:off x="331231" y="672661"/>
            <a:ext cx="6808123" cy="6186309"/>
          </a:xfrm>
          <a:prstGeom prst="rect">
            <a:avLst/>
          </a:prstGeom>
          <a:noFill/>
        </p:spPr>
        <p:txBody>
          <a:bodyPr wrap="square">
            <a:spAutoFit/>
          </a:bodyPr>
          <a:lstStyle/>
          <a:p>
            <a:pPr>
              <a:buNone/>
            </a:pPr>
            <a:r>
              <a:rPr lang="en-GB" altLang="zh-CN" b="1" dirty="0"/>
              <a:t>Implementation Process</a:t>
            </a:r>
          </a:p>
          <a:p>
            <a:pPr>
              <a:buNone/>
            </a:pPr>
            <a:r>
              <a:rPr lang="en-GB" altLang="zh-CN" b="1" dirty="0"/>
              <a:t>1. Feature Reception</a:t>
            </a:r>
          </a:p>
          <a:p>
            <a:pPr>
              <a:buFont typeface="Arial" panose="020B0604020202020204" pitchFamily="34" charset="0"/>
              <a:buChar char="•"/>
            </a:pPr>
            <a:r>
              <a:rPr lang="en-GB" altLang="zh-CN" b="1" dirty="0"/>
              <a:t>Input</a:t>
            </a:r>
            <a:r>
              <a:rPr lang="en-GB" altLang="zh-CN" dirty="0"/>
              <a:t>: CNN pooling layer output</a:t>
            </a:r>
          </a:p>
          <a:p>
            <a:pPr>
              <a:buFont typeface="Arial" panose="020B0604020202020204" pitchFamily="34" charset="0"/>
              <a:buChar char="•"/>
            </a:pPr>
            <a:r>
              <a:rPr lang="en-GB" altLang="zh-CN" b="1" dirty="0"/>
              <a:t>Dimension</a:t>
            </a:r>
            <a:r>
              <a:rPr lang="en-GB" altLang="zh-CN" dirty="0"/>
              <a:t>: (-1, 32) after Reshape layer</a:t>
            </a:r>
          </a:p>
          <a:p>
            <a:pPr>
              <a:buFont typeface="Arial" panose="020B0604020202020204" pitchFamily="34" charset="0"/>
              <a:buChar char="•"/>
            </a:pPr>
            <a:r>
              <a:rPr lang="en-GB" altLang="zh-CN" b="1" dirty="0"/>
              <a:t>Feature count</a:t>
            </a:r>
            <a:r>
              <a:rPr lang="en-GB" altLang="zh-CN" dirty="0"/>
              <a:t>: 32 (matches CNN kernels)</a:t>
            </a:r>
          </a:p>
          <a:p>
            <a:pPr>
              <a:buFont typeface="Arial" panose="020B0604020202020204" pitchFamily="34" charset="0"/>
              <a:buChar char="•"/>
            </a:pPr>
            <a:endParaRPr lang="en-GB" altLang="zh-CN" dirty="0"/>
          </a:p>
          <a:p>
            <a:pPr>
              <a:buNone/>
            </a:pPr>
            <a:r>
              <a:rPr lang="en-GB" altLang="zh-CN" b="1" dirty="0"/>
              <a:t>2. LSTM Configuration</a:t>
            </a:r>
          </a:p>
          <a:p>
            <a:pPr>
              <a:buFont typeface="Arial" panose="020B0604020202020204" pitchFamily="34" charset="0"/>
              <a:buChar char="•"/>
            </a:pPr>
            <a:r>
              <a:rPr lang="en-GB" altLang="zh-CN" b="1" dirty="0"/>
              <a:t>Architecture</a:t>
            </a:r>
            <a:r>
              <a:rPr lang="en-GB" altLang="zh-CN" dirty="0"/>
              <a:t>: Single-layer LSTM</a:t>
            </a:r>
          </a:p>
          <a:p>
            <a:pPr>
              <a:buFont typeface="Arial" panose="020B0604020202020204" pitchFamily="34" charset="0"/>
              <a:buChar char="•"/>
            </a:pPr>
            <a:r>
              <a:rPr lang="en-GB" altLang="zh-CN" b="1" dirty="0"/>
              <a:t>Hidden units</a:t>
            </a:r>
            <a:r>
              <a:rPr lang="en-GB" altLang="zh-CN" dirty="0"/>
              <a:t>: 128</a:t>
            </a:r>
          </a:p>
          <a:p>
            <a:pPr>
              <a:buFont typeface="Arial" panose="020B0604020202020204" pitchFamily="34" charset="0"/>
              <a:buChar char="•"/>
            </a:pPr>
            <a:r>
              <a:rPr lang="en-GB" altLang="zh-CN" b="1" dirty="0"/>
              <a:t>Activation</a:t>
            </a:r>
            <a:r>
              <a:rPr lang="en-GB" altLang="zh-CN" dirty="0"/>
              <a:t>: SELU (Scaled Exponential Linear Unit)</a:t>
            </a:r>
          </a:p>
          <a:p>
            <a:pPr>
              <a:buFont typeface="Arial" panose="020B0604020202020204" pitchFamily="34" charset="0"/>
              <a:buChar char="•"/>
            </a:pPr>
            <a:r>
              <a:rPr lang="en-GB" altLang="zh-CN" b="1" dirty="0"/>
              <a:t>Advantage</a:t>
            </a:r>
            <a:r>
              <a:rPr lang="en-GB" altLang="zh-CN" dirty="0"/>
              <a:t>: Self-normalizing, stable gradient propagation</a:t>
            </a:r>
          </a:p>
          <a:p>
            <a:pPr>
              <a:buFont typeface="Arial" panose="020B0604020202020204" pitchFamily="34" charset="0"/>
              <a:buChar char="•"/>
            </a:pPr>
            <a:endParaRPr lang="en-GB" altLang="zh-CN" dirty="0"/>
          </a:p>
          <a:p>
            <a:pPr>
              <a:buNone/>
            </a:pPr>
            <a:r>
              <a:rPr lang="en-GB" altLang="zh-CN" b="1" dirty="0"/>
              <a:t>3. Sequence Processing</a:t>
            </a:r>
          </a:p>
          <a:p>
            <a:pPr>
              <a:buFont typeface="Arial" panose="020B0604020202020204" pitchFamily="34" charset="0"/>
              <a:buChar char="•"/>
            </a:pPr>
            <a:r>
              <a:rPr lang="en-GB" altLang="zh-CN" b="1" dirty="0"/>
              <a:t>Setting</a:t>
            </a:r>
            <a:r>
              <a:rPr lang="en-GB" altLang="zh-CN" dirty="0"/>
              <a:t>: </a:t>
            </a:r>
            <a:r>
              <a:rPr lang="en-GB" altLang="zh-CN" dirty="0" err="1"/>
              <a:t>return_sequences</a:t>
            </a:r>
            <a:r>
              <a:rPr lang="en-GB" altLang="zh-CN" dirty="0"/>
              <a:t>=False</a:t>
            </a:r>
          </a:p>
          <a:p>
            <a:pPr>
              <a:buFont typeface="Arial" panose="020B0604020202020204" pitchFamily="34" charset="0"/>
              <a:buChar char="•"/>
            </a:pPr>
            <a:r>
              <a:rPr lang="en-GB" altLang="zh-CN" b="1" dirty="0"/>
              <a:t>Function</a:t>
            </a:r>
            <a:r>
              <a:rPr lang="en-GB" altLang="zh-CN" dirty="0"/>
              <a:t>: Returns final time step output only</a:t>
            </a:r>
          </a:p>
          <a:p>
            <a:pPr>
              <a:buFont typeface="Arial" panose="020B0604020202020204" pitchFamily="34" charset="0"/>
              <a:buChar char="•"/>
            </a:pPr>
            <a:r>
              <a:rPr lang="en-GB" altLang="zh-CN" b="1" dirty="0"/>
              <a:t>Output</a:t>
            </a:r>
            <a:r>
              <a:rPr lang="en-GB" altLang="zh-CN" dirty="0"/>
              <a:t>: (</a:t>
            </a:r>
            <a:r>
              <a:rPr lang="en-GB" altLang="zh-CN" dirty="0" err="1"/>
              <a:t>batch_size</a:t>
            </a:r>
            <a:r>
              <a:rPr lang="en-GB" altLang="zh-CN" dirty="0"/>
              <a:t>, 128)</a:t>
            </a:r>
          </a:p>
          <a:p>
            <a:pPr>
              <a:buFont typeface="Arial" panose="020B0604020202020204" pitchFamily="34" charset="0"/>
              <a:buChar char="•"/>
            </a:pPr>
            <a:r>
              <a:rPr lang="en-GB" altLang="zh-CN" b="1" dirty="0"/>
              <a:t>Purpose</a:t>
            </a:r>
            <a:r>
              <a:rPr lang="en-GB" altLang="zh-CN" dirty="0"/>
              <a:t>: Single-step prediction tasks</a:t>
            </a:r>
          </a:p>
          <a:p>
            <a:pPr>
              <a:buFont typeface="Arial" panose="020B0604020202020204" pitchFamily="34" charset="0"/>
              <a:buChar char="•"/>
            </a:pPr>
            <a:endParaRPr lang="en-GB" altLang="zh-CN" dirty="0"/>
          </a:p>
          <a:p>
            <a:pPr>
              <a:buNone/>
            </a:pPr>
            <a:r>
              <a:rPr lang="en-GB" altLang="zh-CN" b="1" dirty="0"/>
              <a:t>4. Output Mapping</a:t>
            </a:r>
          </a:p>
          <a:p>
            <a:pPr>
              <a:buFont typeface="Arial" panose="020B0604020202020204" pitchFamily="34" charset="0"/>
              <a:buChar char="•"/>
            </a:pPr>
            <a:r>
              <a:rPr lang="en-GB" altLang="zh-CN" b="1" dirty="0"/>
              <a:t>Layer</a:t>
            </a:r>
            <a:r>
              <a:rPr lang="en-GB" altLang="zh-CN" dirty="0"/>
              <a:t>: Fully connected (Dense)</a:t>
            </a:r>
          </a:p>
          <a:p>
            <a:pPr>
              <a:buFont typeface="Arial" panose="020B0604020202020204" pitchFamily="34" charset="0"/>
              <a:buChar char="•"/>
            </a:pPr>
            <a:r>
              <a:rPr lang="en-GB" altLang="zh-CN" b="1" dirty="0"/>
              <a:t>Output dimension</a:t>
            </a:r>
            <a:r>
              <a:rPr lang="en-GB" altLang="zh-CN" dirty="0"/>
              <a:t>: 1 (single IMF component prediction)</a:t>
            </a:r>
          </a:p>
          <a:p>
            <a:pPr>
              <a:buFont typeface="Arial" panose="020B0604020202020204" pitchFamily="34" charset="0"/>
              <a:buChar char="•"/>
            </a:pPr>
            <a:r>
              <a:rPr lang="en-GB" altLang="zh-CN" b="1" dirty="0"/>
              <a:t>Final step</a:t>
            </a:r>
            <a:r>
              <a:rPr lang="en-GB" altLang="zh-CN" dirty="0"/>
              <a:t>: Aggregate all IMF predictions → complete target variable</a:t>
            </a:r>
          </a:p>
        </p:txBody>
      </p:sp>
      <p:sp>
        <p:nvSpPr>
          <p:cNvPr id="7" name="文本框 6">
            <a:extLst>
              <a:ext uri="{FF2B5EF4-FFF2-40B4-BE49-F238E27FC236}">
                <a16:creationId xmlns:a16="http://schemas.microsoft.com/office/drawing/2014/main" id="{3E1D1C1F-FF6F-0822-87BE-23E4B6D905D2}"/>
              </a:ext>
            </a:extLst>
          </p:cNvPr>
          <p:cNvSpPr txBox="1"/>
          <p:nvPr/>
        </p:nvSpPr>
        <p:spPr>
          <a:xfrm>
            <a:off x="6907687" y="4130097"/>
            <a:ext cx="6096000" cy="1200329"/>
          </a:xfrm>
          <a:prstGeom prst="rect">
            <a:avLst/>
          </a:prstGeom>
          <a:noFill/>
        </p:spPr>
        <p:txBody>
          <a:bodyPr wrap="square">
            <a:spAutoFit/>
          </a:bodyPr>
          <a:lstStyle/>
          <a:p>
            <a:pPr>
              <a:buNone/>
            </a:pPr>
            <a:r>
              <a:rPr lang="en-US" altLang="zh-CN" b="1" dirty="0"/>
              <a:t>Key Benefits</a:t>
            </a:r>
          </a:p>
          <a:p>
            <a:pPr>
              <a:buFont typeface="Arial" panose="020B0604020202020204" pitchFamily="34" charset="0"/>
              <a:buChar char="•"/>
            </a:pPr>
            <a:r>
              <a:rPr lang="en-US" altLang="zh-CN" dirty="0"/>
              <a:t>Effective temporal dependency capture</a:t>
            </a:r>
          </a:p>
          <a:p>
            <a:pPr>
              <a:buFont typeface="Arial" panose="020B0604020202020204" pitchFamily="34" charset="0"/>
              <a:buChar char="•"/>
            </a:pPr>
            <a:r>
              <a:rPr lang="en-US" altLang="zh-CN" dirty="0"/>
              <a:t>Stable training with SELU activation</a:t>
            </a:r>
          </a:p>
          <a:p>
            <a:pPr>
              <a:buFont typeface="Arial" panose="020B0604020202020204" pitchFamily="34" charset="0"/>
              <a:buChar char="•"/>
            </a:pPr>
            <a:r>
              <a:rPr lang="en-US" altLang="zh-CN" dirty="0"/>
              <a:t>Optimized for meteorological nonlinear patterns</a:t>
            </a:r>
          </a:p>
        </p:txBody>
      </p:sp>
    </p:spTree>
    <p:extLst>
      <p:ext uri="{BB962C8B-B14F-4D97-AF65-F5344CB8AC3E}">
        <p14:creationId xmlns:p14="http://schemas.microsoft.com/office/powerpoint/2010/main" val="42649496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0606F-9544-D978-B2E9-A8B41200E7E6}"/>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0A206810-2B13-E765-1F7E-5738756F3826}"/>
              </a:ext>
            </a:extLst>
          </p:cNvPr>
          <p:cNvSpPr txBox="1"/>
          <p:nvPr/>
        </p:nvSpPr>
        <p:spPr>
          <a:xfrm>
            <a:off x="331232" y="181174"/>
            <a:ext cx="9119730" cy="584775"/>
          </a:xfrm>
          <a:prstGeom prst="rect">
            <a:avLst/>
          </a:prstGeom>
          <a:noFill/>
        </p:spPr>
        <p:txBody>
          <a:bodyPr wrap="square">
            <a:spAutoFit/>
          </a:bodyPr>
          <a:lstStyle/>
          <a:p>
            <a:r>
              <a:rPr lang="en-GB" altLang="zh-CN" sz="3200" dirty="0"/>
              <a:t>LSTM </a:t>
            </a:r>
            <a:r>
              <a:rPr lang="en-GB" altLang="zh-CN" sz="3200" dirty="0" err="1"/>
              <a:t>Modeling</a:t>
            </a:r>
            <a:r>
              <a:rPr lang="en-GB" altLang="zh-CN" sz="3200" dirty="0"/>
              <a:t> in CEEMDAN-LSTM</a:t>
            </a:r>
            <a:endParaRPr lang="zh-CN" altLang="en-US" sz="2800" b="1" dirty="0"/>
          </a:p>
        </p:txBody>
      </p:sp>
      <p:pic>
        <p:nvPicPr>
          <p:cNvPr id="2" name="图片 1" descr="LSTM and GRU Neural Networks as Models of Dynamical Processes Used in  Predictive Control: A Comparison of Models Developed for Two Chemical  Reactors">
            <a:extLst>
              <a:ext uri="{FF2B5EF4-FFF2-40B4-BE49-F238E27FC236}">
                <a16:creationId xmlns:a16="http://schemas.microsoft.com/office/drawing/2014/main" id="{EBB48265-2DAC-CFB3-D37F-1DCC8FC4716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31840" y="947125"/>
            <a:ext cx="4953082" cy="2820621"/>
          </a:xfrm>
          <a:prstGeom prst="rect">
            <a:avLst/>
          </a:prstGeom>
          <a:noFill/>
          <a:ln>
            <a:noFill/>
          </a:ln>
        </p:spPr>
      </p:pic>
      <p:sp>
        <p:nvSpPr>
          <p:cNvPr id="5" name="文本框 4">
            <a:extLst>
              <a:ext uri="{FF2B5EF4-FFF2-40B4-BE49-F238E27FC236}">
                <a16:creationId xmlns:a16="http://schemas.microsoft.com/office/drawing/2014/main" id="{47A7FEBC-E988-5FF9-2181-5479837814F3}"/>
              </a:ext>
            </a:extLst>
          </p:cNvPr>
          <p:cNvSpPr txBox="1"/>
          <p:nvPr/>
        </p:nvSpPr>
        <p:spPr>
          <a:xfrm>
            <a:off x="331232" y="1052245"/>
            <a:ext cx="5553753" cy="5078313"/>
          </a:xfrm>
          <a:prstGeom prst="rect">
            <a:avLst/>
          </a:prstGeom>
          <a:noFill/>
        </p:spPr>
        <p:txBody>
          <a:bodyPr wrap="square">
            <a:spAutoFit/>
          </a:bodyPr>
          <a:lstStyle/>
          <a:p>
            <a:r>
              <a:rPr lang="en-GB" altLang="zh-CN" b="1" dirty="0"/>
              <a:t>Implementation Process</a:t>
            </a:r>
          </a:p>
          <a:p>
            <a:endParaRPr lang="en-GB" altLang="zh-CN" b="1" dirty="0"/>
          </a:p>
          <a:p>
            <a:r>
              <a:rPr lang="en-GB" altLang="zh-CN" b="1" dirty="0"/>
              <a:t>1: Feature Input</a:t>
            </a:r>
          </a:p>
          <a:p>
            <a:pPr marL="285750" indent="-285750">
              <a:buFont typeface="Arial" panose="020B0604020202020204" pitchFamily="34" charset="0"/>
              <a:buChar char="•"/>
            </a:pPr>
            <a:r>
              <a:rPr lang="en-GB" altLang="zh-CN" b="1" dirty="0"/>
              <a:t>CEEMDAN-LSTM</a:t>
            </a:r>
            <a:r>
              <a:rPr lang="en-GB" altLang="zh-CN" dirty="0"/>
              <a:t>: 3D tensor [</a:t>
            </a:r>
            <a:r>
              <a:rPr lang="en-GB" altLang="zh-CN" dirty="0" err="1"/>
              <a:t>batch_size</a:t>
            </a:r>
            <a:r>
              <a:rPr lang="en-GB" altLang="zh-CN" dirty="0"/>
              <a:t>, </a:t>
            </a:r>
            <a:r>
              <a:rPr lang="en-GB" altLang="zh-CN" dirty="0" err="1"/>
              <a:t>time_steps</a:t>
            </a:r>
            <a:r>
              <a:rPr lang="en-GB" altLang="zh-CN" dirty="0"/>
              <a:t>, features] directly</a:t>
            </a:r>
          </a:p>
          <a:p>
            <a:pPr marL="285750" indent="-285750">
              <a:buFont typeface="Arial" panose="020B0604020202020204" pitchFamily="34" charset="0"/>
              <a:buChar char="•"/>
            </a:pPr>
            <a:r>
              <a:rPr lang="en-GB" altLang="zh-CN" b="1" dirty="0"/>
              <a:t>CNN-LSTM</a:t>
            </a:r>
            <a:r>
              <a:rPr lang="en-GB" altLang="zh-CN" dirty="0"/>
              <a:t>: CNN pooling output → Reshape → (-1, 32)</a:t>
            </a:r>
          </a:p>
          <a:p>
            <a:endParaRPr lang="en-GB" altLang="zh-CN" dirty="0"/>
          </a:p>
          <a:p>
            <a:r>
              <a:rPr lang="en-GB" altLang="zh-CN" b="1" dirty="0"/>
              <a:t>2: LSTM Configuration</a:t>
            </a:r>
          </a:p>
          <a:p>
            <a:pPr marL="285750" indent="-285750">
              <a:buFont typeface="Arial" panose="020B0604020202020204" pitchFamily="34" charset="0"/>
              <a:buChar char="•"/>
            </a:pPr>
            <a:r>
              <a:rPr lang="en-GB" altLang="zh-CN" b="1" dirty="0"/>
              <a:t>CEEMDAN-LSTM</a:t>
            </a:r>
            <a:r>
              <a:rPr lang="en-GB" altLang="zh-CN" dirty="0"/>
              <a:t>: 128 units, tanh/sigmoid activation</a:t>
            </a:r>
          </a:p>
          <a:p>
            <a:pPr marL="285750" indent="-285750">
              <a:buFont typeface="Arial" panose="020B0604020202020204" pitchFamily="34" charset="0"/>
              <a:buChar char="•"/>
            </a:pPr>
            <a:r>
              <a:rPr lang="en-GB" altLang="zh-CN" b="1" dirty="0"/>
              <a:t>CNN-LSTM</a:t>
            </a:r>
            <a:r>
              <a:rPr lang="en-GB" altLang="zh-CN" dirty="0"/>
              <a:t>: 128 units, SELU activation</a:t>
            </a:r>
          </a:p>
          <a:p>
            <a:pPr marL="285750" indent="-285750">
              <a:buFont typeface="Arial" panose="020B0604020202020204" pitchFamily="34" charset="0"/>
              <a:buChar char="•"/>
            </a:pPr>
            <a:endParaRPr lang="en-GB" altLang="zh-CN" dirty="0"/>
          </a:p>
          <a:p>
            <a:r>
              <a:rPr lang="en-GB" altLang="zh-CN" b="1" dirty="0"/>
              <a:t>3: Sequence Processing</a:t>
            </a:r>
          </a:p>
          <a:p>
            <a:pPr marL="285750" indent="-285750">
              <a:buFont typeface="Arial" panose="020B0604020202020204" pitchFamily="34" charset="0"/>
              <a:buChar char="•"/>
            </a:pPr>
            <a:r>
              <a:rPr lang="en-US" altLang="zh-CN" dirty="0"/>
              <a:t>R</a:t>
            </a:r>
            <a:r>
              <a:rPr lang="en-GB" altLang="zh-CN" dirty="0" err="1"/>
              <a:t>eturn_sequences</a:t>
            </a:r>
            <a:r>
              <a:rPr lang="en-GB" altLang="zh-CN" dirty="0"/>
              <a:t>=False, final time step output</a:t>
            </a:r>
          </a:p>
          <a:p>
            <a:endParaRPr lang="en-GB" altLang="zh-CN" dirty="0"/>
          </a:p>
          <a:p>
            <a:r>
              <a:rPr lang="en-GB" altLang="zh-CN" b="1" dirty="0"/>
              <a:t>4: Output Strategy</a:t>
            </a:r>
          </a:p>
          <a:p>
            <a:pPr marL="285750" indent="-285750">
              <a:buFont typeface="Arial" panose="020B0604020202020204" pitchFamily="34" charset="0"/>
              <a:buChar char="•"/>
            </a:pPr>
            <a:r>
              <a:rPr lang="en-GB" altLang="zh-CN" b="1" dirty="0"/>
              <a:t>CEEMDAN-LSTM</a:t>
            </a:r>
            <a:r>
              <a:rPr lang="en-GB" altLang="zh-CN" dirty="0"/>
              <a:t>: Individual models per IMF component, parallel training</a:t>
            </a:r>
          </a:p>
          <a:p>
            <a:pPr marL="285750" indent="-285750">
              <a:buFont typeface="Arial" panose="020B0604020202020204" pitchFamily="34" charset="0"/>
              <a:buChar char="•"/>
            </a:pPr>
            <a:r>
              <a:rPr lang="en-GB" altLang="zh-CN" b="1" dirty="0"/>
              <a:t>CNN-LSTM</a:t>
            </a:r>
            <a:r>
              <a:rPr lang="en-GB" altLang="zh-CN" dirty="0"/>
              <a:t>: Single model, Dense layer mapping</a:t>
            </a:r>
          </a:p>
        </p:txBody>
      </p:sp>
      <p:sp>
        <p:nvSpPr>
          <p:cNvPr id="7" name="文本框 6">
            <a:extLst>
              <a:ext uri="{FF2B5EF4-FFF2-40B4-BE49-F238E27FC236}">
                <a16:creationId xmlns:a16="http://schemas.microsoft.com/office/drawing/2014/main" id="{0024125D-EF07-4105-E0C8-4A1166C92374}"/>
              </a:ext>
            </a:extLst>
          </p:cNvPr>
          <p:cNvSpPr txBox="1"/>
          <p:nvPr/>
        </p:nvSpPr>
        <p:spPr>
          <a:xfrm>
            <a:off x="6477096" y="4277169"/>
            <a:ext cx="5714904" cy="1754326"/>
          </a:xfrm>
          <a:prstGeom prst="rect">
            <a:avLst/>
          </a:prstGeom>
          <a:noFill/>
        </p:spPr>
        <p:txBody>
          <a:bodyPr wrap="square">
            <a:spAutoFit/>
          </a:bodyPr>
          <a:lstStyle/>
          <a:p>
            <a:r>
              <a:rPr lang="en-US" altLang="zh-CN" b="1" dirty="0"/>
              <a:t>Key Advantages</a:t>
            </a:r>
          </a:p>
          <a:p>
            <a:r>
              <a:rPr lang="en-US" altLang="zh-CN" b="1" dirty="0"/>
              <a:t>Computational efficiency</a:t>
            </a:r>
            <a:r>
              <a:rPr lang="en-US" altLang="zh-CN" dirty="0"/>
              <a:t>: No CNN preprocessing overhead</a:t>
            </a:r>
          </a:p>
          <a:p>
            <a:r>
              <a:rPr lang="en-US" altLang="zh-CN" b="1" dirty="0"/>
              <a:t>Divide-and-conquer</a:t>
            </a:r>
            <a:r>
              <a:rPr lang="en-US" altLang="zh-CN" dirty="0"/>
              <a:t>: Independent IMF modeling reduces complexity</a:t>
            </a:r>
          </a:p>
          <a:p>
            <a:r>
              <a:rPr lang="en-US" altLang="zh-CN" b="1" dirty="0"/>
              <a:t>Direct feature learning</a:t>
            </a:r>
            <a:r>
              <a:rPr lang="en-US" altLang="zh-CN" dirty="0"/>
              <a:t>: Temporal dependencies from raw data</a:t>
            </a:r>
          </a:p>
        </p:txBody>
      </p:sp>
    </p:spTree>
    <p:extLst>
      <p:ext uri="{BB962C8B-B14F-4D97-AF65-F5344CB8AC3E}">
        <p14:creationId xmlns:p14="http://schemas.microsoft.com/office/powerpoint/2010/main" val="29971627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7E0C2-F6EC-2070-9E89-C84C6AC57928}"/>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6B358614-955C-C8D1-9CC0-33487C2B4EE7}"/>
              </a:ext>
            </a:extLst>
          </p:cNvPr>
          <p:cNvSpPr txBox="1"/>
          <p:nvPr/>
        </p:nvSpPr>
        <p:spPr>
          <a:xfrm>
            <a:off x="498960" y="316523"/>
            <a:ext cx="9119730" cy="584775"/>
          </a:xfrm>
          <a:prstGeom prst="rect">
            <a:avLst/>
          </a:prstGeom>
          <a:noFill/>
        </p:spPr>
        <p:txBody>
          <a:bodyPr wrap="square">
            <a:spAutoFit/>
          </a:bodyPr>
          <a:lstStyle/>
          <a:p>
            <a:r>
              <a:rPr lang="en-GB" altLang="zh-CN" sz="3200" dirty="0"/>
              <a:t>Classification</a:t>
            </a:r>
            <a:endParaRPr lang="zh-CN" altLang="en-US" sz="2800" b="1" dirty="0"/>
          </a:p>
        </p:txBody>
      </p:sp>
      <p:sp>
        <p:nvSpPr>
          <p:cNvPr id="6" name="文本框 5">
            <a:extLst>
              <a:ext uri="{FF2B5EF4-FFF2-40B4-BE49-F238E27FC236}">
                <a16:creationId xmlns:a16="http://schemas.microsoft.com/office/drawing/2014/main" id="{82AD3671-DF55-CD69-E238-0A55C88822E8}"/>
              </a:ext>
            </a:extLst>
          </p:cNvPr>
          <p:cNvSpPr txBox="1"/>
          <p:nvPr/>
        </p:nvSpPr>
        <p:spPr>
          <a:xfrm>
            <a:off x="1113693" y="1216942"/>
            <a:ext cx="6096000" cy="5324535"/>
          </a:xfrm>
          <a:prstGeom prst="rect">
            <a:avLst/>
          </a:prstGeom>
          <a:noFill/>
        </p:spPr>
        <p:txBody>
          <a:bodyPr wrap="square">
            <a:spAutoFit/>
          </a:bodyPr>
          <a:lstStyle/>
          <a:p>
            <a:pPr>
              <a:buNone/>
            </a:pPr>
            <a:r>
              <a:rPr lang="en-US" altLang="zh-CN" sz="2000" b="1" dirty="0"/>
              <a:t>Continuous predictions → Discrete risk categories</a:t>
            </a:r>
            <a:r>
              <a:rPr lang="en-US" altLang="zh-CN" sz="2000" dirty="0"/>
              <a:t> </a:t>
            </a:r>
            <a:r>
              <a:rPr lang="en-US" altLang="zh-CN" sz="2000" b="1" dirty="0"/>
              <a:t>Purpose</a:t>
            </a:r>
            <a:r>
              <a:rPr lang="en-US" altLang="zh-CN" sz="2000" dirty="0"/>
              <a:t>: Evaluate extreme climate event classification performance</a:t>
            </a:r>
          </a:p>
          <a:p>
            <a:pPr>
              <a:buNone/>
            </a:pPr>
            <a:endParaRPr lang="en-US" altLang="zh-CN" sz="2000" dirty="0"/>
          </a:p>
          <a:p>
            <a:pPr>
              <a:buNone/>
            </a:pPr>
            <a:r>
              <a:rPr lang="en-US" altLang="zh-CN" sz="2000" b="1" dirty="0"/>
              <a:t>CDD Drought Classification</a:t>
            </a:r>
          </a:p>
          <a:p>
            <a:pPr>
              <a:buNone/>
            </a:pPr>
            <a:r>
              <a:rPr lang="en-US" altLang="zh-CN" sz="2000" b="1" dirty="0"/>
              <a:t>Threshold Rules</a:t>
            </a:r>
          </a:p>
          <a:p>
            <a:pPr>
              <a:buNone/>
            </a:pPr>
            <a:endParaRPr lang="en-US" altLang="zh-CN" sz="2000" b="1" dirty="0"/>
          </a:p>
          <a:p>
            <a:pPr>
              <a:buFont typeface="Arial" panose="020B0604020202020204" pitchFamily="34" charset="0"/>
              <a:buChar char="•"/>
            </a:pPr>
            <a:r>
              <a:rPr lang="en-US" altLang="zh-CN" sz="2000" b="1" dirty="0"/>
              <a:t>Non-drought</a:t>
            </a:r>
            <a:r>
              <a:rPr lang="en-US" altLang="zh-CN" sz="2000" dirty="0"/>
              <a:t> (Class 0): &lt;11 days</a:t>
            </a:r>
          </a:p>
          <a:p>
            <a:pPr>
              <a:buFont typeface="Arial" panose="020B0604020202020204" pitchFamily="34" charset="0"/>
              <a:buChar char="•"/>
            </a:pPr>
            <a:r>
              <a:rPr lang="en-US" altLang="zh-CN" sz="2000" b="1" dirty="0"/>
              <a:t>Mild drought</a:t>
            </a:r>
            <a:r>
              <a:rPr lang="en-US" altLang="zh-CN" sz="2000" dirty="0"/>
              <a:t> (Class 1): 11-15 days</a:t>
            </a:r>
          </a:p>
          <a:p>
            <a:pPr>
              <a:buFont typeface="Arial" panose="020B0604020202020204" pitchFamily="34" charset="0"/>
              <a:buChar char="•"/>
            </a:pPr>
            <a:r>
              <a:rPr lang="en-US" altLang="zh-CN" sz="2000" b="1" dirty="0"/>
              <a:t>Drought</a:t>
            </a:r>
            <a:r>
              <a:rPr lang="en-US" altLang="zh-CN" sz="2000" dirty="0"/>
              <a:t> (Class 2): ≥16 days</a:t>
            </a:r>
          </a:p>
          <a:p>
            <a:pPr>
              <a:buFont typeface="Arial" panose="020B0604020202020204" pitchFamily="34" charset="0"/>
              <a:buChar char="•"/>
            </a:pPr>
            <a:endParaRPr lang="en-US" altLang="zh-CN" sz="2000" dirty="0"/>
          </a:p>
          <a:p>
            <a:pPr>
              <a:buNone/>
            </a:pPr>
            <a:r>
              <a:rPr lang="en-US" altLang="zh-CN" sz="2000" b="1" dirty="0"/>
              <a:t>Rx5Day Flood Classification</a:t>
            </a:r>
          </a:p>
          <a:p>
            <a:pPr>
              <a:buNone/>
            </a:pPr>
            <a:r>
              <a:rPr lang="en-US" altLang="zh-CN" sz="2000" b="1" dirty="0"/>
              <a:t>Threshold Rules</a:t>
            </a:r>
          </a:p>
          <a:p>
            <a:pPr>
              <a:buNone/>
            </a:pPr>
            <a:endParaRPr lang="en-US" altLang="zh-CN" sz="2000" b="1" dirty="0"/>
          </a:p>
          <a:p>
            <a:pPr>
              <a:buFont typeface="Arial" panose="020B0604020202020204" pitchFamily="34" charset="0"/>
              <a:buChar char="•"/>
            </a:pPr>
            <a:r>
              <a:rPr lang="en-US" altLang="zh-CN" sz="2000" b="1" dirty="0"/>
              <a:t>Non-flood</a:t>
            </a:r>
            <a:r>
              <a:rPr lang="en-US" altLang="zh-CN" sz="2000" dirty="0"/>
              <a:t> (Class 0): &lt;50 mm</a:t>
            </a:r>
          </a:p>
          <a:p>
            <a:pPr>
              <a:buFont typeface="Arial" panose="020B0604020202020204" pitchFamily="34" charset="0"/>
              <a:buChar char="•"/>
            </a:pPr>
            <a:r>
              <a:rPr lang="en-US" altLang="zh-CN" sz="2000" b="1" dirty="0"/>
              <a:t>Minor flood</a:t>
            </a:r>
            <a:r>
              <a:rPr lang="en-US" altLang="zh-CN" sz="2000" dirty="0"/>
              <a:t> (Class 1): 50-100 mm</a:t>
            </a:r>
          </a:p>
          <a:p>
            <a:pPr>
              <a:buFont typeface="Arial" panose="020B0604020202020204" pitchFamily="34" charset="0"/>
              <a:buChar char="•"/>
            </a:pPr>
            <a:r>
              <a:rPr lang="en-US" altLang="zh-CN" sz="2000" b="1" dirty="0"/>
              <a:t>Flood</a:t>
            </a:r>
            <a:r>
              <a:rPr lang="en-US" altLang="zh-CN" sz="2000" dirty="0"/>
              <a:t> (Class 2): ≥100 mm</a:t>
            </a:r>
          </a:p>
        </p:txBody>
      </p:sp>
      <p:pic>
        <p:nvPicPr>
          <p:cNvPr id="17410" name="Picture 2" descr="Getting started with Classification ...">
            <a:extLst>
              <a:ext uri="{FF2B5EF4-FFF2-40B4-BE49-F238E27FC236}">
                <a16:creationId xmlns:a16="http://schemas.microsoft.com/office/drawing/2014/main" id="{83293D94-737A-05B7-4F7B-E1288D5C84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508738"/>
            <a:ext cx="5531463" cy="23706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52823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3F500-CC66-D311-A799-E6400EB7DF85}"/>
            </a:ext>
          </a:extLst>
        </p:cNvPr>
        <p:cNvGrpSpPr/>
        <p:nvPr/>
      </p:nvGrpSpPr>
      <p:grpSpPr>
        <a:xfrm>
          <a:off x="0" y="0"/>
          <a:ext cx="0" cy="0"/>
          <a:chOff x="0" y="0"/>
          <a:chExt cx="0" cy="0"/>
        </a:xfrm>
      </p:grpSpPr>
      <p:sp>
        <p:nvSpPr>
          <p:cNvPr id="5" name="半闭框 4">
            <a:extLst>
              <a:ext uri="{FF2B5EF4-FFF2-40B4-BE49-F238E27FC236}">
                <a16:creationId xmlns:a16="http://schemas.microsoft.com/office/drawing/2014/main" id="{AAB2D1CE-9F73-4549-CFDB-1138372C7A12}"/>
              </a:ext>
            </a:extLst>
          </p:cNvPr>
          <p:cNvSpPr/>
          <p:nvPr/>
        </p:nvSpPr>
        <p:spPr>
          <a:xfrm>
            <a:off x="0" y="285115"/>
            <a:ext cx="914400" cy="914400"/>
          </a:xfrm>
          <a:prstGeom prst="halfFrame">
            <a:avLst/>
          </a:prstGeom>
          <a:solidFill>
            <a:srgbClr val="1F2E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汉仪宋韵朗黑W" panose="00020600040101010101" charset="-122"/>
              <a:ea typeface="汉仪宋韵朗黑W" panose="00020600040101010101" charset="-122"/>
              <a:cs typeface="汉仪宋韵朗黑W" panose="00020600040101010101" charset="-122"/>
            </a:endParaRPr>
          </a:p>
        </p:txBody>
      </p:sp>
      <p:sp>
        <p:nvSpPr>
          <p:cNvPr id="7" name="矩形 6">
            <a:extLst>
              <a:ext uri="{FF2B5EF4-FFF2-40B4-BE49-F238E27FC236}">
                <a16:creationId xmlns:a16="http://schemas.microsoft.com/office/drawing/2014/main" id="{6EC98308-790B-CCD1-63C3-CC6B0C733C76}"/>
              </a:ext>
            </a:extLst>
          </p:cNvPr>
          <p:cNvSpPr/>
          <p:nvPr/>
        </p:nvSpPr>
        <p:spPr>
          <a:xfrm flipH="1">
            <a:off x="3944620" y="285115"/>
            <a:ext cx="7998460" cy="231140"/>
          </a:xfrm>
          <a:prstGeom prst="rect">
            <a:avLst/>
          </a:prstGeom>
          <a:solidFill>
            <a:srgbClr val="1F2E3F"/>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宋韵朗黑W" panose="00020600040101010101" charset="-122"/>
              <a:ea typeface="汉仪宋韵朗黑W" panose="00020600040101010101" charset="-122"/>
              <a:cs typeface="汉仪宋韵朗黑W" panose="00020600040101010101" charset="-122"/>
            </a:endParaRPr>
          </a:p>
        </p:txBody>
      </p:sp>
      <p:sp>
        <p:nvSpPr>
          <p:cNvPr id="8" name="矩形 7">
            <a:extLst>
              <a:ext uri="{FF2B5EF4-FFF2-40B4-BE49-F238E27FC236}">
                <a16:creationId xmlns:a16="http://schemas.microsoft.com/office/drawing/2014/main" id="{2D2E2365-E35A-F67B-C508-1F3948048998}"/>
              </a:ext>
            </a:extLst>
          </p:cNvPr>
          <p:cNvSpPr/>
          <p:nvPr/>
        </p:nvSpPr>
        <p:spPr>
          <a:xfrm flipH="1">
            <a:off x="0" y="6337300"/>
            <a:ext cx="7998460" cy="231140"/>
          </a:xfrm>
          <a:prstGeom prst="rect">
            <a:avLst/>
          </a:prstGeom>
          <a:solidFill>
            <a:srgbClr val="1F2E3F"/>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宋韵朗黑W" panose="00020600040101010101" charset="-122"/>
              <a:ea typeface="汉仪宋韵朗黑W" panose="00020600040101010101" charset="-122"/>
              <a:cs typeface="汉仪宋韵朗黑W" panose="00020600040101010101" charset="-122"/>
            </a:endParaRPr>
          </a:p>
        </p:txBody>
      </p:sp>
      <p:sp>
        <p:nvSpPr>
          <p:cNvPr id="9" name="半闭框 8">
            <a:extLst>
              <a:ext uri="{FF2B5EF4-FFF2-40B4-BE49-F238E27FC236}">
                <a16:creationId xmlns:a16="http://schemas.microsoft.com/office/drawing/2014/main" id="{6AB5DD1B-AB06-2538-9101-DF4A68031889}"/>
              </a:ext>
            </a:extLst>
          </p:cNvPr>
          <p:cNvSpPr/>
          <p:nvPr/>
        </p:nvSpPr>
        <p:spPr>
          <a:xfrm rot="5400000" flipH="1">
            <a:off x="11028680" y="5738495"/>
            <a:ext cx="914400" cy="914400"/>
          </a:xfrm>
          <a:prstGeom prst="halfFrame">
            <a:avLst/>
          </a:prstGeom>
          <a:solidFill>
            <a:srgbClr val="1F2E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汉仪宋韵朗黑W" panose="00020600040101010101" charset="-122"/>
              <a:ea typeface="汉仪宋韵朗黑W" panose="00020600040101010101" charset="-122"/>
              <a:cs typeface="汉仪宋韵朗黑W" panose="00020600040101010101" charset="-122"/>
            </a:endParaRPr>
          </a:p>
        </p:txBody>
      </p:sp>
      <p:sp>
        <p:nvSpPr>
          <p:cNvPr id="2" name="文本框 1">
            <a:extLst>
              <a:ext uri="{FF2B5EF4-FFF2-40B4-BE49-F238E27FC236}">
                <a16:creationId xmlns:a16="http://schemas.microsoft.com/office/drawing/2014/main" id="{25BBA6AB-B895-FE23-1BB5-655DF56E356C}"/>
              </a:ext>
            </a:extLst>
          </p:cNvPr>
          <p:cNvSpPr txBox="1"/>
          <p:nvPr/>
        </p:nvSpPr>
        <p:spPr>
          <a:xfrm>
            <a:off x="1326188" y="2711876"/>
            <a:ext cx="4171935" cy="1569660"/>
          </a:xfrm>
          <a:prstGeom prst="rect">
            <a:avLst/>
          </a:prstGeom>
          <a:noFill/>
        </p:spPr>
        <p:txBody>
          <a:bodyPr wrap="square" rtlCol="0">
            <a:spAutoFit/>
          </a:bodyPr>
          <a:lstStyle/>
          <a:p>
            <a:r>
              <a:rPr lang="en-US" altLang="zh-CN" sz="4800" b="1" dirty="0"/>
              <a:t>RESULT AND INSIGHT</a:t>
            </a:r>
            <a:endParaRPr lang="zh-CN" altLang="en-US" sz="3600" b="1" dirty="0"/>
          </a:p>
        </p:txBody>
      </p:sp>
      <p:pic>
        <p:nvPicPr>
          <p:cNvPr id="18436" name="Picture 4" descr="Marketing Insights Trends to Drive Results">
            <a:extLst>
              <a:ext uri="{FF2B5EF4-FFF2-40B4-BE49-F238E27FC236}">
                <a16:creationId xmlns:a16="http://schemas.microsoft.com/office/drawing/2014/main" id="{B4816FFE-7C90-A683-A431-0CF4D7EA33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9338" y="1987403"/>
            <a:ext cx="5029342" cy="28787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32169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9BDF7-F9B3-1E87-B87F-FACE16BEE2FD}"/>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EBBC9353-34F6-AAB6-346B-432D5894F3E3}"/>
              </a:ext>
            </a:extLst>
          </p:cNvPr>
          <p:cNvSpPr txBox="1"/>
          <p:nvPr/>
        </p:nvSpPr>
        <p:spPr>
          <a:xfrm>
            <a:off x="498960" y="316523"/>
            <a:ext cx="9119730" cy="584775"/>
          </a:xfrm>
          <a:prstGeom prst="rect">
            <a:avLst/>
          </a:prstGeom>
          <a:noFill/>
        </p:spPr>
        <p:txBody>
          <a:bodyPr wrap="square">
            <a:spAutoFit/>
          </a:bodyPr>
          <a:lstStyle/>
          <a:p>
            <a:r>
              <a:rPr lang="en-US" altLang="zh-CN" sz="3200" dirty="0"/>
              <a:t>Regression result - Drought</a:t>
            </a:r>
            <a:endParaRPr lang="zh-CN" altLang="en-US" sz="2800" b="1" dirty="0"/>
          </a:p>
        </p:txBody>
      </p:sp>
      <p:sp>
        <p:nvSpPr>
          <p:cNvPr id="6" name="文本框 5">
            <a:extLst>
              <a:ext uri="{FF2B5EF4-FFF2-40B4-BE49-F238E27FC236}">
                <a16:creationId xmlns:a16="http://schemas.microsoft.com/office/drawing/2014/main" id="{65D0721B-E3D9-474E-FB1E-B86E169A62C8}"/>
              </a:ext>
            </a:extLst>
          </p:cNvPr>
          <p:cNvSpPr txBox="1"/>
          <p:nvPr/>
        </p:nvSpPr>
        <p:spPr>
          <a:xfrm>
            <a:off x="387936" y="1136551"/>
            <a:ext cx="5948732" cy="5293757"/>
          </a:xfrm>
          <a:prstGeom prst="rect">
            <a:avLst/>
          </a:prstGeom>
          <a:noFill/>
        </p:spPr>
        <p:txBody>
          <a:bodyPr wrap="square">
            <a:spAutoFit/>
          </a:bodyPr>
          <a:lstStyle/>
          <a:p>
            <a:r>
              <a:rPr lang="en-GB" altLang="zh-CN" sz="2000" b="1" dirty="0"/>
              <a:t>Evaluation Framework</a:t>
            </a:r>
          </a:p>
          <a:p>
            <a:pPr marL="285750" indent="-285750">
              <a:buFont typeface="Arial" panose="020B0604020202020204" pitchFamily="34" charset="0"/>
              <a:buChar char="•"/>
            </a:pPr>
            <a:r>
              <a:rPr lang="en-GB" altLang="zh-CN" b="1" dirty="0"/>
              <a:t>Regression metrics</a:t>
            </a:r>
            <a:r>
              <a:rPr lang="en-GB" altLang="zh-CN" dirty="0"/>
              <a:t>: MSE, RMSE, MAE, MAPE, R²</a:t>
            </a:r>
          </a:p>
          <a:p>
            <a:pPr marL="285750" indent="-285750">
              <a:buFont typeface="Arial" panose="020B0604020202020204" pitchFamily="34" charset="0"/>
              <a:buChar char="•"/>
            </a:pPr>
            <a:r>
              <a:rPr lang="en-GB" altLang="zh-CN" b="1" dirty="0"/>
              <a:t>Classification metrics</a:t>
            </a:r>
            <a:r>
              <a:rPr lang="en-GB" altLang="zh-CN" dirty="0"/>
              <a:t>: Accuracy, F1-score, precision, recall</a:t>
            </a:r>
          </a:p>
          <a:p>
            <a:pPr marL="285750" indent="-285750">
              <a:buFont typeface="Arial" panose="020B0604020202020204" pitchFamily="34" charset="0"/>
              <a:buChar char="•"/>
            </a:pPr>
            <a:r>
              <a:rPr lang="en-GB" altLang="zh-CN" b="1" dirty="0"/>
              <a:t>Comparison</a:t>
            </a:r>
            <a:r>
              <a:rPr lang="en-GB" altLang="zh-CN" dirty="0"/>
              <a:t>: Hybrid models vs baseline LSTM</a:t>
            </a:r>
          </a:p>
          <a:p>
            <a:endParaRPr lang="en-GB" altLang="zh-CN" sz="2000" dirty="0"/>
          </a:p>
          <a:p>
            <a:r>
              <a:rPr lang="en-GB" altLang="zh-CN" sz="2000" b="1" dirty="0"/>
              <a:t>Overall Findings</a:t>
            </a:r>
          </a:p>
          <a:p>
            <a:pPr marL="285750" indent="-285750">
              <a:buFont typeface="Arial" panose="020B0604020202020204" pitchFamily="34" charset="0"/>
              <a:buChar char="•"/>
            </a:pPr>
            <a:r>
              <a:rPr lang="en-GB" altLang="zh-CN" sz="1600" b="1" dirty="0"/>
              <a:t>CEEMDAN-based models</a:t>
            </a:r>
            <a:r>
              <a:rPr lang="en-GB" altLang="zh-CN" sz="1600" dirty="0"/>
              <a:t> generally outperform standalone LSTM</a:t>
            </a:r>
          </a:p>
          <a:p>
            <a:pPr marL="285750" indent="-285750">
              <a:buFont typeface="Arial" panose="020B0604020202020204" pitchFamily="34" charset="0"/>
              <a:buChar char="•"/>
            </a:pPr>
            <a:r>
              <a:rPr lang="en-GB" altLang="zh-CN" sz="1600" b="1" dirty="0"/>
              <a:t>Strong performance</a:t>
            </a:r>
            <a:r>
              <a:rPr lang="en-GB" altLang="zh-CN" sz="1600" dirty="0"/>
              <a:t> in China, India, Indonesia, Philippines, Thailand, Vietnam</a:t>
            </a:r>
          </a:p>
          <a:p>
            <a:pPr marL="285750" indent="-285750">
              <a:buFont typeface="Arial" panose="020B0604020202020204" pitchFamily="34" charset="0"/>
              <a:buChar char="•"/>
            </a:pPr>
            <a:r>
              <a:rPr lang="en-GB" altLang="zh-CN" sz="1600" b="1" dirty="0"/>
              <a:t>Regional variations</a:t>
            </a:r>
            <a:r>
              <a:rPr lang="en-GB" altLang="zh-CN" sz="1600" dirty="0"/>
              <a:t> due to data correlation differences</a:t>
            </a:r>
          </a:p>
          <a:p>
            <a:endParaRPr lang="en-GB" altLang="zh-CN" sz="2000" dirty="0"/>
          </a:p>
          <a:p>
            <a:endParaRPr lang="en-GB" altLang="zh-CN" sz="2000" dirty="0"/>
          </a:p>
          <a:p>
            <a:r>
              <a:rPr lang="en-GB" altLang="zh-CN" sz="2000" b="1" dirty="0"/>
              <a:t>China Drought Prediction Results (MAPE)</a:t>
            </a:r>
          </a:p>
          <a:p>
            <a:endParaRPr lang="en-GB" altLang="zh-CN" sz="2000" b="1" dirty="0"/>
          </a:p>
          <a:p>
            <a:pPr marL="285750" indent="-285750">
              <a:buFont typeface="Arial" panose="020B0604020202020204" pitchFamily="34" charset="0"/>
              <a:buChar char="•"/>
            </a:pPr>
            <a:r>
              <a:rPr lang="en-GB" altLang="zh-CN" sz="1600" b="1" dirty="0"/>
              <a:t>CEEMDAN-LSTM</a:t>
            </a:r>
            <a:r>
              <a:rPr lang="en-GB" altLang="zh-CN" sz="1600" dirty="0"/>
              <a:t>: 7.20% (Figure 5.3) – </a:t>
            </a:r>
            <a:r>
              <a:rPr lang="en-GB" altLang="zh-CN" sz="1600" b="1" dirty="0"/>
              <a:t>Best</a:t>
            </a:r>
          </a:p>
          <a:p>
            <a:pPr marL="285750" indent="-285750">
              <a:buFont typeface="Arial" panose="020B0604020202020204" pitchFamily="34" charset="0"/>
              <a:buChar char="•"/>
            </a:pPr>
            <a:endParaRPr lang="en-GB" altLang="zh-CN" sz="1600" dirty="0"/>
          </a:p>
          <a:p>
            <a:pPr marL="285750" indent="-285750">
              <a:buFont typeface="Arial" panose="020B0604020202020204" pitchFamily="34" charset="0"/>
              <a:buChar char="•"/>
            </a:pPr>
            <a:r>
              <a:rPr lang="en-GB" altLang="zh-CN" sz="1600" b="1" dirty="0"/>
              <a:t>CEEMDAN-CNN-LSTM</a:t>
            </a:r>
            <a:r>
              <a:rPr lang="en-GB" altLang="zh-CN" sz="1600" dirty="0"/>
              <a:t>: 7.47% (Figure 5.2)</a:t>
            </a:r>
          </a:p>
          <a:p>
            <a:pPr marL="285750" indent="-285750">
              <a:buFont typeface="Arial" panose="020B0604020202020204" pitchFamily="34" charset="0"/>
              <a:buChar char="•"/>
            </a:pPr>
            <a:endParaRPr lang="en-GB" altLang="zh-CN" sz="1600" dirty="0"/>
          </a:p>
          <a:p>
            <a:pPr marL="285750" indent="-285750">
              <a:buFont typeface="Arial" panose="020B0604020202020204" pitchFamily="34" charset="0"/>
              <a:buChar char="•"/>
            </a:pPr>
            <a:r>
              <a:rPr lang="en-GB" altLang="zh-CN" sz="1600" b="1" dirty="0"/>
              <a:t>LSTM</a:t>
            </a:r>
            <a:r>
              <a:rPr lang="en-GB" altLang="zh-CN" sz="1600" dirty="0"/>
              <a:t>: 7.78% (Figure 5.1) - Baseline</a:t>
            </a:r>
          </a:p>
        </p:txBody>
      </p:sp>
      <p:pic>
        <p:nvPicPr>
          <p:cNvPr id="2" name="图片 1" descr="图表, 直方图&#10;&#10;AI 生成的内容可能不正确。">
            <a:extLst>
              <a:ext uri="{FF2B5EF4-FFF2-40B4-BE49-F238E27FC236}">
                <a16:creationId xmlns:a16="http://schemas.microsoft.com/office/drawing/2014/main" id="{EF8D1ECD-1872-A04D-3906-DD853426BDF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9023" y="237254"/>
            <a:ext cx="5622977" cy="2244858"/>
          </a:xfrm>
          <a:prstGeom prst="rect">
            <a:avLst/>
          </a:prstGeom>
          <a:noFill/>
          <a:ln>
            <a:noFill/>
          </a:ln>
        </p:spPr>
      </p:pic>
      <p:pic>
        <p:nvPicPr>
          <p:cNvPr id="3" name="图片 2" descr="图形用户界面, 图表&#10;&#10;AI 生成的内容可能不正确。">
            <a:extLst>
              <a:ext uri="{FF2B5EF4-FFF2-40B4-BE49-F238E27FC236}">
                <a16:creationId xmlns:a16="http://schemas.microsoft.com/office/drawing/2014/main" id="{D1DDA7FE-E489-787F-EB2E-6C49FE8AF19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69021" y="2482112"/>
            <a:ext cx="5622977" cy="2116909"/>
          </a:xfrm>
          <a:prstGeom prst="rect">
            <a:avLst/>
          </a:prstGeom>
          <a:noFill/>
          <a:ln>
            <a:noFill/>
          </a:ln>
        </p:spPr>
      </p:pic>
      <p:pic>
        <p:nvPicPr>
          <p:cNvPr id="5" name="图片 4" descr="图形用户界面, 图表&#10;&#10;AI 生成的内容可能不正确。">
            <a:extLst>
              <a:ext uri="{FF2B5EF4-FFF2-40B4-BE49-F238E27FC236}">
                <a16:creationId xmlns:a16="http://schemas.microsoft.com/office/drawing/2014/main" id="{118F3131-415C-B8BF-72C5-BFB64DAB5E1D}"/>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69023" y="4599021"/>
            <a:ext cx="5622977" cy="2104390"/>
          </a:xfrm>
          <a:prstGeom prst="rect">
            <a:avLst/>
          </a:prstGeom>
          <a:noFill/>
          <a:ln>
            <a:noFill/>
          </a:ln>
        </p:spPr>
      </p:pic>
    </p:spTree>
    <p:extLst>
      <p:ext uri="{BB962C8B-B14F-4D97-AF65-F5344CB8AC3E}">
        <p14:creationId xmlns:p14="http://schemas.microsoft.com/office/powerpoint/2010/main" val="34070271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56CD1-816D-0BBD-CFD3-C564FB9BA818}"/>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F99D3612-61C2-F1D4-FC3A-805F45E4FE8B}"/>
              </a:ext>
            </a:extLst>
          </p:cNvPr>
          <p:cNvSpPr txBox="1"/>
          <p:nvPr/>
        </p:nvSpPr>
        <p:spPr>
          <a:xfrm>
            <a:off x="498960" y="43694"/>
            <a:ext cx="9119730" cy="584775"/>
          </a:xfrm>
          <a:prstGeom prst="rect">
            <a:avLst/>
          </a:prstGeom>
          <a:noFill/>
        </p:spPr>
        <p:txBody>
          <a:bodyPr wrap="square">
            <a:spAutoFit/>
          </a:bodyPr>
          <a:lstStyle/>
          <a:p>
            <a:r>
              <a:rPr lang="en-GB" altLang="zh-CN" sz="3200" dirty="0"/>
              <a:t>Regional Performance Analysis - </a:t>
            </a:r>
            <a:r>
              <a:rPr lang="en-US" altLang="zh-CN" sz="3200" dirty="0"/>
              <a:t>Drought</a:t>
            </a:r>
            <a:endParaRPr lang="zh-CN" altLang="en-US" sz="2800" b="1" dirty="0"/>
          </a:p>
        </p:txBody>
      </p:sp>
      <p:sp>
        <p:nvSpPr>
          <p:cNvPr id="6" name="文本框 5">
            <a:extLst>
              <a:ext uri="{FF2B5EF4-FFF2-40B4-BE49-F238E27FC236}">
                <a16:creationId xmlns:a16="http://schemas.microsoft.com/office/drawing/2014/main" id="{5A5C588C-A9D2-4E58-1F7A-5E865F4814BC}"/>
              </a:ext>
            </a:extLst>
          </p:cNvPr>
          <p:cNvSpPr txBox="1"/>
          <p:nvPr/>
        </p:nvSpPr>
        <p:spPr>
          <a:xfrm>
            <a:off x="5985158" y="5936010"/>
            <a:ext cx="5268996" cy="954107"/>
          </a:xfrm>
          <a:prstGeom prst="rect">
            <a:avLst/>
          </a:prstGeom>
          <a:noFill/>
        </p:spPr>
        <p:txBody>
          <a:bodyPr wrap="square">
            <a:spAutoFit/>
          </a:bodyPr>
          <a:lstStyle/>
          <a:p>
            <a:r>
              <a:rPr lang="en-GB" altLang="zh-CN" sz="1400" b="1" dirty="0"/>
              <a:t>Poor Performance Countries</a:t>
            </a:r>
          </a:p>
          <a:p>
            <a:r>
              <a:rPr lang="en-GB" altLang="zh-CN" sz="1400" b="1" dirty="0"/>
              <a:t>Japan &amp; Malaysia</a:t>
            </a:r>
            <a:r>
              <a:rPr lang="en-GB" altLang="zh-CN" sz="1400" dirty="0"/>
              <a:t>: CEEMDAN models failed to improve</a:t>
            </a:r>
          </a:p>
          <a:p>
            <a:r>
              <a:rPr lang="en-GB" altLang="zh-CN" sz="1400" b="1" dirty="0"/>
              <a:t>Japan</a:t>
            </a:r>
            <a:r>
              <a:rPr lang="en-GB" altLang="zh-CN" sz="1400" dirty="0"/>
              <a:t>: LSTM R² -9.32% → CEEMDAN-CNN-LSTM R² -72.81%</a:t>
            </a:r>
          </a:p>
          <a:p>
            <a:r>
              <a:rPr lang="en-GB" altLang="zh-CN" sz="1400" b="1" dirty="0"/>
              <a:t>Malaysia</a:t>
            </a:r>
            <a:r>
              <a:rPr lang="en-GB" altLang="zh-CN" sz="1400" dirty="0"/>
              <a:t>: Significant R² decrease, MAPE increase</a:t>
            </a:r>
          </a:p>
        </p:txBody>
      </p:sp>
      <p:pic>
        <p:nvPicPr>
          <p:cNvPr id="3" name="图片 2">
            <a:extLst>
              <a:ext uri="{FF2B5EF4-FFF2-40B4-BE49-F238E27FC236}">
                <a16:creationId xmlns:a16="http://schemas.microsoft.com/office/drawing/2014/main" id="{906EED8A-8C31-E53D-B27E-D722E91A869E}"/>
              </a:ext>
            </a:extLst>
          </p:cNvPr>
          <p:cNvPicPr>
            <a:picLocks noChangeAspect="1"/>
          </p:cNvPicPr>
          <p:nvPr/>
        </p:nvPicPr>
        <p:blipFill>
          <a:blip r:embed="rId3"/>
          <a:stretch>
            <a:fillRect/>
          </a:stretch>
        </p:blipFill>
        <p:spPr>
          <a:xfrm>
            <a:off x="498960" y="742035"/>
            <a:ext cx="11373181" cy="4186517"/>
          </a:xfrm>
          <a:prstGeom prst="rect">
            <a:avLst/>
          </a:prstGeom>
        </p:spPr>
      </p:pic>
      <p:sp>
        <p:nvSpPr>
          <p:cNvPr id="7" name="文本框 6">
            <a:extLst>
              <a:ext uri="{FF2B5EF4-FFF2-40B4-BE49-F238E27FC236}">
                <a16:creationId xmlns:a16="http://schemas.microsoft.com/office/drawing/2014/main" id="{0430C874-C259-97FE-91EA-E7209F52C5FD}"/>
              </a:ext>
            </a:extLst>
          </p:cNvPr>
          <p:cNvSpPr txBox="1"/>
          <p:nvPr/>
        </p:nvSpPr>
        <p:spPr>
          <a:xfrm>
            <a:off x="6000338" y="4981903"/>
            <a:ext cx="5707882" cy="954107"/>
          </a:xfrm>
          <a:prstGeom prst="rect">
            <a:avLst/>
          </a:prstGeom>
          <a:noFill/>
        </p:spPr>
        <p:txBody>
          <a:bodyPr wrap="square">
            <a:spAutoFit/>
          </a:bodyPr>
          <a:lstStyle/>
          <a:p>
            <a:r>
              <a:rPr lang="en-GB" altLang="zh-CN" sz="1400" b="1" dirty="0"/>
              <a:t>Moderate Performance Countries</a:t>
            </a:r>
          </a:p>
          <a:p>
            <a:r>
              <a:rPr lang="en-GB" altLang="zh-CN" sz="1400" b="1" dirty="0"/>
              <a:t>Indonesia &amp; Philippines</a:t>
            </a:r>
            <a:r>
              <a:rPr lang="en-GB" altLang="zh-CN" sz="1400" dirty="0"/>
              <a:t>: Better than Japan/Malaysia but high MAPE</a:t>
            </a:r>
          </a:p>
          <a:p>
            <a:r>
              <a:rPr lang="en-GB" altLang="zh-CN" sz="1400" b="1" dirty="0"/>
              <a:t>Challenge</a:t>
            </a:r>
            <a:r>
              <a:rPr lang="en-GB" altLang="zh-CN" sz="1400" dirty="0"/>
              <a:t>: Tropical humid regions → high nonlinearity (MAPE ~37-44%)</a:t>
            </a:r>
          </a:p>
          <a:p>
            <a:r>
              <a:rPr lang="en-GB" altLang="zh-CN" sz="1400" b="1" dirty="0"/>
              <a:t>Improvement</a:t>
            </a:r>
            <a:r>
              <a:rPr lang="en-GB" altLang="zh-CN" sz="1400" dirty="0"/>
              <a:t>: CEEMDAN models reduce MAPE by 3-5%</a:t>
            </a:r>
          </a:p>
        </p:txBody>
      </p:sp>
      <p:sp>
        <p:nvSpPr>
          <p:cNvPr id="9" name="文本框 8">
            <a:extLst>
              <a:ext uri="{FF2B5EF4-FFF2-40B4-BE49-F238E27FC236}">
                <a16:creationId xmlns:a16="http://schemas.microsoft.com/office/drawing/2014/main" id="{E029999B-F071-4D25-D162-ADC9E4D7BB29}"/>
              </a:ext>
            </a:extLst>
          </p:cNvPr>
          <p:cNvSpPr txBox="1"/>
          <p:nvPr/>
        </p:nvSpPr>
        <p:spPr>
          <a:xfrm>
            <a:off x="498960" y="5042118"/>
            <a:ext cx="5032132" cy="1815882"/>
          </a:xfrm>
          <a:prstGeom prst="rect">
            <a:avLst/>
          </a:prstGeom>
          <a:noFill/>
        </p:spPr>
        <p:txBody>
          <a:bodyPr wrap="square">
            <a:spAutoFit/>
          </a:bodyPr>
          <a:lstStyle/>
          <a:p>
            <a:r>
              <a:rPr lang="en-GB" altLang="zh-CN" sz="1400" b="1" dirty="0"/>
              <a:t>High Performance Countries</a:t>
            </a:r>
          </a:p>
          <a:p>
            <a:r>
              <a:rPr lang="en-GB" altLang="zh-CN" sz="1400" b="1" dirty="0"/>
              <a:t>China &amp; India</a:t>
            </a:r>
            <a:r>
              <a:rPr lang="en-GB" altLang="zh-CN" sz="1400" dirty="0"/>
              <a:t>: Strong correlation → High accuracy</a:t>
            </a:r>
          </a:p>
          <a:p>
            <a:r>
              <a:rPr lang="en-GB" altLang="zh-CN" sz="1400" b="1" dirty="0"/>
              <a:t>China</a:t>
            </a:r>
            <a:r>
              <a:rPr lang="en-GB" altLang="zh-CN" sz="1400" dirty="0"/>
              <a:t>: CEEMDAN-LSTM MAPE 7.20% vs LSTM 7.78%</a:t>
            </a:r>
          </a:p>
          <a:p>
            <a:r>
              <a:rPr lang="en-GB" altLang="zh-CN" sz="1400" b="1" dirty="0"/>
              <a:t>India</a:t>
            </a:r>
            <a:r>
              <a:rPr lang="en-GB" altLang="zh-CN" sz="1400" dirty="0"/>
              <a:t>: CEEMDAN-LSTM MAPE 18.43% vs LSTM 18.94%</a:t>
            </a:r>
          </a:p>
          <a:p>
            <a:endParaRPr lang="en-GB" altLang="zh-CN" sz="1400" dirty="0"/>
          </a:p>
          <a:p>
            <a:r>
              <a:rPr lang="en-GB" altLang="zh-CN" sz="1400" b="1" dirty="0"/>
              <a:t>Thailand &amp; Vietnam</a:t>
            </a:r>
            <a:r>
              <a:rPr lang="en-GB" altLang="zh-CN" sz="1400" dirty="0"/>
              <a:t>: Satisfactory results</a:t>
            </a:r>
          </a:p>
          <a:p>
            <a:r>
              <a:rPr lang="en-GB" altLang="zh-CN" sz="1400" b="1" dirty="0"/>
              <a:t>Thailand</a:t>
            </a:r>
            <a:r>
              <a:rPr lang="en-GB" altLang="zh-CN" sz="1400" dirty="0"/>
              <a:t>: CEEMDAN-CNN-LSTM R² 84.26% (+3% vs LSTM)</a:t>
            </a:r>
          </a:p>
          <a:p>
            <a:r>
              <a:rPr lang="en-GB" altLang="zh-CN" sz="1400" b="1" dirty="0"/>
              <a:t>Vietnam</a:t>
            </a:r>
            <a:r>
              <a:rPr lang="en-GB" altLang="zh-CN" sz="1400" dirty="0"/>
              <a:t>: CEEMDAN-CNN-LSTM MAPE 25.12% vs LSTM 26.14%</a:t>
            </a:r>
          </a:p>
        </p:txBody>
      </p:sp>
    </p:spTree>
    <p:extLst>
      <p:ext uri="{BB962C8B-B14F-4D97-AF65-F5344CB8AC3E}">
        <p14:creationId xmlns:p14="http://schemas.microsoft.com/office/powerpoint/2010/main" val="40392645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A95F6-6EF2-C3DD-CF98-B34C5911E426}"/>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9C3225FD-59D4-EDDC-544D-B69C6BCB8856}"/>
              </a:ext>
            </a:extLst>
          </p:cNvPr>
          <p:cNvSpPr txBox="1"/>
          <p:nvPr/>
        </p:nvSpPr>
        <p:spPr>
          <a:xfrm>
            <a:off x="498960" y="316523"/>
            <a:ext cx="9119730" cy="584775"/>
          </a:xfrm>
          <a:prstGeom prst="rect">
            <a:avLst/>
          </a:prstGeom>
          <a:noFill/>
        </p:spPr>
        <p:txBody>
          <a:bodyPr wrap="square">
            <a:spAutoFit/>
          </a:bodyPr>
          <a:lstStyle/>
          <a:p>
            <a:r>
              <a:rPr lang="en-US" altLang="zh-CN" sz="3200" dirty="0"/>
              <a:t>Classification result - Drought</a:t>
            </a:r>
            <a:endParaRPr lang="zh-CN" altLang="en-US" sz="2800" b="1" dirty="0"/>
          </a:p>
        </p:txBody>
      </p:sp>
      <p:sp>
        <p:nvSpPr>
          <p:cNvPr id="6" name="文本框 5">
            <a:extLst>
              <a:ext uri="{FF2B5EF4-FFF2-40B4-BE49-F238E27FC236}">
                <a16:creationId xmlns:a16="http://schemas.microsoft.com/office/drawing/2014/main" id="{7D56C701-41BC-5C7F-291D-7E3CD2090726}"/>
              </a:ext>
            </a:extLst>
          </p:cNvPr>
          <p:cNvSpPr txBox="1"/>
          <p:nvPr/>
        </p:nvSpPr>
        <p:spPr>
          <a:xfrm>
            <a:off x="498960" y="1310342"/>
            <a:ext cx="5948732" cy="3477875"/>
          </a:xfrm>
          <a:prstGeom prst="rect">
            <a:avLst/>
          </a:prstGeom>
          <a:noFill/>
        </p:spPr>
        <p:txBody>
          <a:bodyPr wrap="square">
            <a:spAutoFit/>
          </a:bodyPr>
          <a:lstStyle/>
          <a:p>
            <a:r>
              <a:rPr lang="en-GB" altLang="zh-CN" sz="2000" b="1" dirty="0"/>
              <a:t>Overall Classification Accuracy</a:t>
            </a:r>
          </a:p>
          <a:p>
            <a:r>
              <a:rPr lang="en-GB" altLang="zh-CN" sz="2000" b="1" dirty="0"/>
              <a:t>CEEMDAN-CNN-LSTM</a:t>
            </a:r>
            <a:r>
              <a:rPr lang="en-GB" altLang="zh-CN" sz="2000" dirty="0"/>
              <a:t>: 90.15% (Figure 5.5) - </a:t>
            </a:r>
            <a:r>
              <a:rPr lang="en-GB" altLang="zh-CN" sz="2000" b="1" dirty="0"/>
              <a:t>Best</a:t>
            </a:r>
            <a:endParaRPr lang="en-GB" altLang="zh-CN" sz="2000" dirty="0"/>
          </a:p>
          <a:p>
            <a:r>
              <a:rPr lang="en-GB" altLang="zh-CN" sz="2000" b="1" dirty="0"/>
              <a:t>CEEMDAN-LSTM</a:t>
            </a:r>
            <a:r>
              <a:rPr lang="en-GB" altLang="zh-CN" sz="2000" dirty="0"/>
              <a:t>: 89.39% (Figure 5.6)</a:t>
            </a:r>
          </a:p>
          <a:p>
            <a:r>
              <a:rPr lang="en-GB" altLang="zh-CN" sz="2000" b="1" dirty="0"/>
              <a:t>LSTM</a:t>
            </a:r>
            <a:r>
              <a:rPr lang="en-GB" altLang="zh-CN" sz="2000" dirty="0"/>
              <a:t>: 88.72% (Figure 5.7) – Baseline</a:t>
            </a:r>
          </a:p>
          <a:p>
            <a:endParaRPr lang="en-GB" altLang="zh-CN" sz="2000" dirty="0"/>
          </a:p>
          <a:p>
            <a:endParaRPr lang="en-GB" altLang="zh-CN" sz="2000" dirty="0"/>
          </a:p>
          <a:p>
            <a:r>
              <a:rPr lang="en-GB" altLang="zh-CN" sz="2000" b="1" dirty="0"/>
              <a:t>Macro-Averaged Metrics</a:t>
            </a:r>
          </a:p>
          <a:p>
            <a:r>
              <a:rPr lang="en-GB" altLang="zh-CN" sz="2000" b="1" dirty="0"/>
              <a:t>CEEMDAN-CNN-LSTM</a:t>
            </a:r>
            <a:r>
              <a:rPr lang="en-GB" altLang="zh-CN" sz="2000" dirty="0"/>
              <a:t>: F1 score = 0.8935</a:t>
            </a:r>
          </a:p>
          <a:p>
            <a:endParaRPr lang="en-GB" altLang="zh-CN" sz="2000" dirty="0"/>
          </a:p>
          <a:p>
            <a:r>
              <a:rPr lang="en-GB" altLang="zh-CN" sz="2000" b="1" dirty="0"/>
              <a:t>Superior performance</a:t>
            </a:r>
            <a:r>
              <a:rPr lang="en-GB" altLang="zh-CN" sz="2000" dirty="0"/>
              <a:t> across all evaluation metrics</a:t>
            </a:r>
          </a:p>
          <a:p>
            <a:r>
              <a:rPr lang="en-GB" altLang="zh-CN" sz="2000" b="1" dirty="0"/>
              <a:t>Enhanced stability</a:t>
            </a:r>
            <a:r>
              <a:rPr lang="en-GB" altLang="zh-CN" sz="2000" dirty="0"/>
              <a:t> in multi-class classification</a:t>
            </a:r>
          </a:p>
        </p:txBody>
      </p:sp>
      <p:pic>
        <p:nvPicPr>
          <p:cNvPr id="7" name="图片 6" descr="文本&#10;&#10;AI 生成的内容可能不正确。">
            <a:extLst>
              <a:ext uri="{FF2B5EF4-FFF2-40B4-BE49-F238E27FC236}">
                <a16:creationId xmlns:a16="http://schemas.microsoft.com/office/drawing/2014/main" id="{A9D6CCB6-C14E-972A-4F6A-B39C88C28FF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98676" y="56115"/>
            <a:ext cx="5119689" cy="3025215"/>
          </a:xfrm>
          <a:prstGeom prst="rect">
            <a:avLst/>
          </a:prstGeom>
          <a:noFill/>
          <a:ln>
            <a:noFill/>
          </a:ln>
        </p:spPr>
      </p:pic>
      <p:sp>
        <p:nvSpPr>
          <p:cNvPr id="9" name="文本框 8">
            <a:extLst>
              <a:ext uri="{FF2B5EF4-FFF2-40B4-BE49-F238E27FC236}">
                <a16:creationId xmlns:a16="http://schemas.microsoft.com/office/drawing/2014/main" id="{59A9DA84-301E-53D6-70BE-CF12EA86C0E4}"/>
              </a:ext>
            </a:extLst>
          </p:cNvPr>
          <p:cNvSpPr txBox="1"/>
          <p:nvPr/>
        </p:nvSpPr>
        <p:spPr>
          <a:xfrm>
            <a:off x="6570690" y="3049280"/>
            <a:ext cx="6096000" cy="333489"/>
          </a:xfrm>
          <a:prstGeom prst="rect">
            <a:avLst/>
          </a:prstGeom>
          <a:noFill/>
        </p:spPr>
        <p:txBody>
          <a:bodyPr wrap="square">
            <a:spAutoFit/>
          </a:bodyPr>
          <a:lstStyle/>
          <a:p>
            <a:pPr algn="ctr">
              <a:lnSpc>
                <a:spcPct val="150000"/>
              </a:lnSpc>
              <a:buNone/>
            </a:pPr>
            <a:r>
              <a:rPr lang="en-US" altLang="zh-CN" sz="1200" i="1" dirty="0">
                <a:effectLst/>
                <a:latin typeface="Arial" panose="020B0604020202020204" pitchFamily="34" charset="0"/>
                <a:ea typeface="等线" panose="02010600030101010101" pitchFamily="2" charset="-122"/>
                <a:cs typeface="宋体" panose="02010600030101010101" pitchFamily="2" charset="-122"/>
              </a:rPr>
              <a:t>Figure 5.5 CEEMDAN-CNN-LSTM Classification Results (China Drought)</a:t>
            </a:r>
            <a:endParaRPr lang="zh-CN" altLang="zh-CN" sz="1200" dirty="0">
              <a:effectLst/>
              <a:latin typeface="宋体" panose="02010600030101010101" pitchFamily="2" charset="-122"/>
              <a:ea typeface="宋体" panose="02010600030101010101" pitchFamily="2" charset="-122"/>
              <a:cs typeface="宋体" panose="02010600030101010101" pitchFamily="2" charset="-122"/>
            </a:endParaRPr>
          </a:p>
        </p:txBody>
      </p:sp>
      <p:pic>
        <p:nvPicPr>
          <p:cNvPr id="10" name="图片 9" descr="文本&#10;&#10;AI 生成的内容可能不正确。">
            <a:extLst>
              <a:ext uri="{FF2B5EF4-FFF2-40B4-BE49-F238E27FC236}">
                <a16:creationId xmlns:a16="http://schemas.microsoft.com/office/drawing/2014/main" id="{ACE394DC-E64B-DBD8-19A6-4EF64CDBBD5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998675" y="3429000"/>
            <a:ext cx="5119689" cy="3115414"/>
          </a:xfrm>
          <a:prstGeom prst="rect">
            <a:avLst/>
          </a:prstGeom>
          <a:noFill/>
          <a:ln>
            <a:noFill/>
          </a:ln>
        </p:spPr>
      </p:pic>
      <p:sp>
        <p:nvSpPr>
          <p:cNvPr id="12" name="文本框 11">
            <a:extLst>
              <a:ext uri="{FF2B5EF4-FFF2-40B4-BE49-F238E27FC236}">
                <a16:creationId xmlns:a16="http://schemas.microsoft.com/office/drawing/2014/main" id="{0843E056-1ADF-F223-2E17-88F99A21C9BA}"/>
              </a:ext>
            </a:extLst>
          </p:cNvPr>
          <p:cNvSpPr txBox="1"/>
          <p:nvPr/>
        </p:nvSpPr>
        <p:spPr>
          <a:xfrm>
            <a:off x="6881446" y="6468396"/>
            <a:ext cx="4372707" cy="333489"/>
          </a:xfrm>
          <a:prstGeom prst="rect">
            <a:avLst/>
          </a:prstGeom>
          <a:noFill/>
        </p:spPr>
        <p:txBody>
          <a:bodyPr wrap="square">
            <a:spAutoFit/>
          </a:bodyPr>
          <a:lstStyle/>
          <a:p>
            <a:pPr algn="ctr">
              <a:lnSpc>
                <a:spcPct val="150000"/>
              </a:lnSpc>
              <a:buNone/>
            </a:pPr>
            <a:r>
              <a:rPr lang="en-US" altLang="zh-CN" sz="1200" i="1" dirty="0">
                <a:effectLst/>
                <a:latin typeface="Arial" panose="020B0604020202020204" pitchFamily="34" charset="0"/>
                <a:ea typeface="等线" panose="02010600030101010101" pitchFamily="2" charset="-122"/>
                <a:cs typeface="宋体" panose="02010600030101010101" pitchFamily="2" charset="-122"/>
              </a:rPr>
              <a:t>Figure 5.7 LSTM Classification Results (China Drought)</a:t>
            </a:r>
            <a:endParaRPr lang="zh-CN" altLang="zh-CN" sz="1200" dirty="0">
              <a:effectLst/>
              <a:latin typeface="宋体" panose="02010600030101010101" pitchFamily="2" charset="-122"/>
              <a:ea typeface="宋体" panose="02010600030101010101" pitchFamily="2" charset="-122"/>
              <a:cs typeface="宋体" panose="02010600030101010101" pitchFamily="2" charset="-122"/>
            </a:endParaRPr>
          </a:p>
        </p:txBody>
      </p:sp>
    </p:spTree>
    <p:extLst>
      <p:ext uri="{BB962C8B-B14F-4D97-AF65-F5344CB8AC3E}">
        <p14:creationId xmlns:p14="http://schemas.microsoft.com/office/powerpoint/2010/main" val="9230814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7C89A-8B5B-7F8F-B8FF-CFFDF5624864}"/>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B4CA0B14-0D2C-60C7-980B-06D245F296C4}"/>
              </a:ext>
            </a:extLst>
          </p:cNvPr>
          <p:cNvSpPr txBox="1"/>
          <p:nvPr/>
        </p:nvSpPr>
        <p:spPr>
          <a:xfrm>
            <a:off x="498960" y="43694"/>
            <a:ext cx="9119730" cy="584775"/>
          </a:xfrm>
          <a:prstGeom prst="rect">
            <a:avLst/>
          </a:prstGeom>
          <a:noFill/>
        </p:spPr>
        <p:txBody>
          <a:bodyPr wrap="square">
            <a:spAutoFit/>
          </a:bodyPr>
          <a:lstStyle/>
          <a:p>
            <a:r>
              <a:rPr lang="en-GB" altLang="zh-CN" sz="3200" dirty="0"/>
              <a:t>Regional Performance Analysis - </a:t>
            </a:r>
            <a:r>
              <a:rPr lang="en-US" altLang="zh-CN" sz="3200" dirty="0"/>
              <a:t>Flood</a:t>
            </a:r>
            <a:endParaRPr lang="zh-CN" altLang="en-US" sz="2800" b="1" dirty="0"/>
          </a:p>
        </p:txBody>
      </p:sp>
      <p:pic>
        <p:nvPicPr>
          <p:cNvPr id="3" name="图片 2">
            <a:extLst>
              <a:ext uri="{FF2B5EF4-FFF2-40B4-BE49-F238E27FC236}">
                <a16:creationId xmlns:a16="http://schemas.microsoft.com/office/drawing/2014/main" id="{5D8E0566-84E2-A669-7BAA-A8DCDD9A1A0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98960" y="742313"/>
            <a:ext cx="11373181" cy="3822751"/>
          </a:xfrm>
          <a:prstGeom prst="rect">
            <a:avLst/>
          </a:prstGeom>
        </p:spPr>
      </p:pic>
      <p:sp>
        <p:nvSpPr>
          <p:cNvPr id="7" name="文本框 6">
            <a:extLst>
              <a:ext uri="{FF2B5EF4-FFF2-40B4-BE49-F238E27FC236}">
                <a16:creationId xmlns:a16="http://schemas.microsoft.com/office/drawing/2014/main" id="{1CE0C64B-3C82-19B1-AA34-47C21C8552D0}"/>
              </a:ext>
            </a:extLst>
          </p:cNvPr>
          <p:cNvSpPr txBox="1"/>
          <p:nvPr/>
        </p:nvSpPr>
        <p:spPr>
          <a:xfrm>
            <a:off x="6096000" y="4752203"/>
            <a:ext cx="5707882" cy="2062103"/>
          </a:xfrm>
          <a:prstGeom prst="rect">
            <a:avLst/>
          </a:prstGeom>
          <a:noFill/>
        </p:spPr>
        <p:txBody>
          <a:bodyPr wrap="square">
            <a:spAutoFit/>
          </a:bodyPr>
          <a:lstStyle/>
          <a:p>
            <a:r>
              <a:rPr lang="en-GB" altLang="zh-CN" sz="1600" b="1" dirty="0"/>
              <a:t>LSTM Outperforms CEEMDAN Models</a:t>
            </a:r>
          </a:p>
          <a:p>
            <a:endParaRPr lang="en-GB" altLang="zh-CN" sz="1600" b="1" dirty="0"/>
          </a:p>
          <a:p>
            <a:r>
              <a:rPr lang="en-GB" altLang="zh-CN" sz="1600" b="1" dirty="0"/>
              <a:t>Malaysia</a:t>
            </a:r>
            <a:r>
              <a:rPr lang="en-GB" altLang="zh-CN" sz="1600" dirty="0"/>
              <a:t>: Significant decline</a:t>
            </a:r>
          </a:p>
          <a:p>
            <a:r>
              <a:rPr lang="en-GB" altLang="zh-CN" sz="1600" dirty="0"/>
              <a:t>LSTM performs better, CEEMDAN models: MAPE 20.24%, R² 16.21%</a:t>
            </a:r>
          </a:p>
          <a:p>
            <a:endParaRPr lang="en-GB" altLang="zh-CN" sz="1600" dirty="0"/>
          </a:p>
          <a:p>
            <a:r>
              <a:rPr lang="en-GB" altLang="zh-CN" sz="1600" b="1" dirty="0"/>
              <a:t>Philippines &amp; Thailand</a:t>
            </a:r>
            <a:r>
              <a:rPr lang="en-GB" altLang="zh-CN" sz="1600" dirty="0"/>
              <a:t>: Standard LSTM superior</a:t>
            </a:r>
          </a:p>
          <a:p>
            <a:r>
              <a:rPr lang="en-GB" altLang="zh-CN" sz="1600" dirty="0"/>
              <a:t>Convective systems and typhoons → high unpredictability</a:t>
            </a:r>
          </a:p>
        </p:txBody>
      </p:sp>
      <p:sp>
        <p:nvSpPr>
          <p:cNvPr id="9" name="文本框 8">
            <a:extLst>
              <a:ext uri="{FF2B5EF4-FFF2-40B4-BE49-F238E27FC236}">
                <a16:creationId xmlns:a16="http://schemas.microsoft.com/office/drawing/2014/main" id="{6E01815A-2A0A-BE72-E33E-613E48990FCA}"/>
              </a:ext>
            </a:extLst>
          </p:cNvPr>
          <p:cNvSpPr txBox="1"/>
          <p:nvPr/>
        </p:nvSpPr>
        <p:spPr>
          <a:xfrm>
            <a:off x="498960" y="4819380"/>
            <a:ext cx="5597040" cy="2062103"/>
          </a:xfrm>
          <a:prstGeom prst="rect">
            <a:avLst/>
          </a:prstGeom>
          <a:noFill/>
        </p:spPr>
        <p:txBody>
          <a:bodyPr wrap="square">
            <a:spAutoFit/>
          </a:bodyPr>
          <a:lstStyle/>
          <a:p>
            <a:r>
              <a:rPr lang="en-GB" altLang="zh-CN" sz="1600" b="1" dirty="0"/>
              <a:t>CEEMDAN Models Outperform LSTM</a:t>
            </a:r>
          </a:p>
          <a:p>
            <a:r>
              <a:rPr lang="en-GB" altLang="zh-CN" sz="1600" b="1" dirty="0"/>
              <a:t>China</a:t>
            </a:r>
            <a:r>
              <a:rPr lang="en-GB" altLang="zh-CN" sz="1600" dirty="0"/>
              <a:t>: Marginal improvement</a:t>
            </a:r>
          </a:p>
          <a:p>
            <a:r>
              <a:rPr lang="en-GB" altLang="zh-CN" sz="1600" dirty="0"/>
              <a:t>LSTM: 14.04% MAPE, CEEMDAN-LSTM: 13.98% MAPE, R² ~94%</a:t>
            </a:r>
          </a:p>
          <a:p>
            <a:endParaRPr lang="en-GB" altLang="zh-CN" sz="1600" dirty="0"/>
          </a:p>
          <a:p>
            <a:r>
              <a:rPr lang="en-GB" altLang="zh-CN" sz="1600" b="1" dirty="0"/>
              <a:t>Indonesia</a:t>
            </a:r>
            <a:r>
              <a:rPr lang="en-GB" altLang="zh-CN" sz="1600" dirty="0"/>
              <a:t>: Best hybrid performance</a:t>
            </a:r>
          </a:p>
          <a:p>
            <a:r>
              <a:rPr lang="en-GB" altLang="zh-CN" sz="1600" dirty="0"/>
              <a:t>CEEMDAN-CNN-LSTM: 10.82% MAPE vs LSTM: 11.75% MAPE</a:t>
            </a:r>
          </a:p>
          <a:p>
            <a:endParaRPr lang="en-GB" altLang="zh-CN" sz="1600" dirty="0"/>
          </a:p>
          <a:p>
            <a:r>
              <a:rPr lang="en-GB" altLang="zh-CN" sz="1600" b="1" dirty="0"/>
              <a:t>India, Japan, Vietnam</a:t>
            </a:r>
            <a:r>
              <a:rPr lang="en-GB" altLang="zh-CN" sz="1600" dirty="0"/>
              <a:t>: CEEMDAN-LSTM shows improvements</a:t>
            </a:r>
          </a:p>
        </p:txBody>
      </p:sp>
    </p:spTree>
    <p:extLst>
      <p:ext uri="{BB962C8B-B14F-4D97-AF65-F5344CB8AC3E}">
        <p14:creationId xmlns:p14="http://schemas.microsoft.com/office/powerpoint/2010/main" val="19791554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7AA78-9682-ED7B-349A-58DBDDFADA4A}"/>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853E628E-E96E-9263-A646-467ADD833235}"/>
              </a:ext>
            </a:extLst>
          </p:cNvPr>
          <p:cNvSpPr txBox="1"/>
          <p:nvPr/>
        </p:nvSpPr>
        <p:spPr>
          <a:xfrm>
            <a:off x="498960" y="316523"/>
            <a:ext cx="9119730" cy="584775"/>
          </a:xfrm>
          <a:prstGeom prst="rect">
            <a:avLst/>
          </a:prstGeom>
          <a:noFill/>
        </p:spPr>
        <p:txBody>
          <a:bodyPr wrap="square">
            <a:spAutoFit/>
          </a:bodyPr>
          <a:lstStyle/>
          <a:p>
            <a:r>
              <a:rPr lang="en-US" altLang="zh-CN" sz="3200" dirty="0"/>
              <a:t>Classification result - Flood</a:t>
            </a:r>
            <a:endParaRPr lang="zh-CN" altLang="en-US" sz="2800" b="1" dirty="0"/>
          </a:p>
        </p:txBody>
      </p:sp>
      <p:sp>
        <p:nvSpPr>
          <p:cNvPr id="6" name="文本框 5">
            <a:extLst>
              <a:ext uri="{FF2B5EF4-FFF2-40B4-BE49-F238E27FC236}">
                <a16:creationId xmlns:a16="http://schemas.microsoft.com/office/drawing/2014/main" id="{CB6CF360-D05E-EF34-8A2D-7C42C91BA6B9}"/>
              </a:ext>
            </a:extLst>
          </p:cNvPr>
          <p:cNvSpPr txBox="1"/>
          <p:nvPr/>
        </p:nvSpPr>
        <p:spPr>
          <a:xfrm>
            <a:off x="498960" y="1107043"/>
            <a:ext cx="6023757" cy="5509200"/>
          </a:xfrm>
          <a:prstGeom prst="rect">
            <a:avLst/>
          </a:prstGeom>
          <a:noFill/>
        </p:spPr>
        <p:txBody>
          <a:bodyPr wrap="square">
            <a:spAutoFit/>
          </a:bodyPr>
          <a:lstStyle/>
          <a:p>
            <a:r>
              <a:rPr lang="en-GB" altLang="zh-CN" sz="1600" b="1" dirty="0"/>
              <a:t>China Performance Ranking - CEEMDAN-LSTM </a:t>
            </a:r>
            <a:r>
              <a:rPr lang="en-US" altLang="zh-CN" sz="1600" b="1" dirty="0"/>
              <a:t>Best</a:t>
            </a:r>
            <a:endParaRPr lang="en-GB" altLang="zh-CN" sz="1600" b="1" dirty="0"/>
          </a:p>
          <a:p>
            <a:endParaRPr lang="en-GB" altLang="zh-CN" sz="1600" b="1" dirty="0"/>
          </a:p>
          <a:p>
            <a:r>
              <a:rPr lang="en-GB" altLang="zh-CN" sz="1600" b="1" dirty="0"/>
              <a:t>1. CEEMDAN-LSTM (Best Performance)</a:t>
            </a:r>
          </a:p>
          <a:p>
            <a:r>
              <a:rPr lang="en-GB" altLang="zh-CN" sz="1600" b="1" dirty="0"/>
              <a:t>Accuracy</a:t>
            </a:r>
            <a:r>
              <a:rPr lang="en-GB" altLang="zh-CN" sz="1600" dirty="0"/>
              <a:t>: 0.9621, </a:t>
            </a:r>
            <a:r>
              <a:rPr lang="en-GB" altLang="zh-CN" sz="1600" b="1" dirty="0"/>
              <a:t>Macro-F1</a:t>
            </a:r>
            <a:r>
              <a:rPr lang="en-GB" altLang="zh-CN" sz="1600" dirty="0"/>
              <a:t>: 0.9441</a:t>
            </a:r>
          </a:p>
          <a:p>
            <a:r>
              <a:rPr lang="en-GB" altLang="zh-CN" sz="1600" b="1" dirty="0"/>
              <a:t>Slight flood recall</a:t>
            </a:r>
            <a:r>
              <a:rPr lang="en-GB" altLang="zh-CN" sz="1600" dirty="0"/>
              <a:t>: 0.8966 (+6.9% vs LSTM)</a:t>
            </a:r>
          </a:p>
          <a:p>
            <a:r>
              <a:rPr lang="en-GB" altLang="zh-CN" sz="1600" b="1" dirty="0"/>
              <a:t>Precision</a:t>
            </a:r>
            <a:r>
              <a:rPr lang="en-GB" altLang="zh-CN" sz="1600" dirty="0"/>
              <a:t>: 0.9286</a:t>
            </a:r>
          </a:p>
          <a:p>
            <a:endParaRPr lang="en-GB" altLang="zh-CN" sz="1600" dirty="0"/>
          </a:p>
          <a:p>
            <a:r>
              <a:rPr lang="en-GB" altLang="zh-CN" sz="1600" b="1" dirty="0"/>
              <a:t>2. CEEMDAN-CNN-LSTM</a:t>
            </a:r>
          </a:p>
          <a:p>
            <a:r>
              <a:rPr lang="en-GB" altLang="zh-CN" sz="1600" b="1" dirty="0"/>
              <a:t>Accuracy</a:t>
            </a:r>
            <a:r>
              <a:rPr lang="en-GB" altLang="zh-CN" sz="1600" dirty="0"/>
              <a:t>: 0.9549, </a:t>
            </a:r>
            <a:r>
              <a:rPr lang="en-GB" altLang="zh-CN" sz="1600" b="1" dirty="0"/>
              <a:t>Macro-F1</a:t>
            </a:r>
            <a:r>
              <a:rPr lang="en-GB" altLang="zh-CN" sz="1600" dirty="0"/>
              <a:t>: 0.9321</a:t>
            </a:r>
          </a:p>
          <a:p>
            <a:r>
              <a:rPr lang="en-GB" altLang="zh-CN" sz="1600" b="1" dirty="0"/>
              <a:t>Slight flood recall</a:t>
            </a:r>
            <a:r>
              <a:rPr lang="en-GB" altLang="zh-CN" sz="1600" dirty="0"/>
              <a:t>: 0.8621</a:t>
            </a:r>
          </a:p>
          <a:p>
            <a:r>
              <a:rPr lang="en-GB" altLang="zh-CN" sz="1600" dirty="0"/>
              <a:t>Outperforms LSTM but below CEEMDAN-LSTM</a:t>
            </a:r>
          </a:p>
          <a:p>
            <a:endParaRPr lang="en-GB" altLang="zh-CN" sz="1600" dirty="0"/>
          </a:p>
          <a:p>
            <a:r>
              <a:rPr lang="en-GB" altLang="zh-CN" sz="1600" b="1" dirty="0"/>
              <a:t>3. LSTM (Baseline)</a:t>
            </a:r>
          </a:p>
          <a:p>
            <a:r>
              <a:rPr lang="en-GB" altLang="zh-CN" sz="1600" b="1" dirty="0"/>
              <a:t>Accuracy</a:t>
            </a:r>
            <a:r>
              <a:rPr lang="en-GB" altLang="zh-CN" sz="1600" dirty="0"/>
              <a:t>: 0.9470, </a:t>
            </a:r>
            <a:r>
              <a:rPr lang="en-GB" altLang="zh-CN" sz="1600" b="1" dirty="0"/>
              <a:t>Macro-F1</a:t>
            </a:r>
            <a:r>
              <a:rPr lang="en-GB" altLang="zh-CN" sz="1600" dirty="0"/>
              <a:t>: 0.9196</a:t>
            </a:r>
          </a:p>
          <a:p>
            <a:r>
              <a:rPr lang="en-GB" altLang="zh-CN" sz="1600" b="1" dirty="0"/>
              <a:t>Slight flood recall</a:t>
            </a:r>
            <a:r>
              <a:rPr lang="en-GB" altLang="zh-CN" sz="1600" dirty="0"/>
              <a:t>: 0.8276</a:t>
            </a:r>
          </a:p>
          <a:p>
            <a:r>
              <a:rPr lang="en-GB" altLang="zh-CN" sz="1600" b="1" dirty="0"/>
              <a:t>Main issue</a:t>
            </a:r>
            <a:r>
              <a:rPr lang="en-GB" altLang="zh-CN" sz="1600" dirty="0"/>
              <a:t>: Misclassifies slight flood → non-flood</a:t>
            </a:r>
          </a:p>
          <a:p>
            <a:endParaRPr lang="en-GB" altLang="zh-CN" sz="1600" dirty="0"/>
          </a:p>
          <a:p>
            <a:r>
              <a:rPr lang="en-GB" altLang="zh-CN" sz="1600" b="1" dirty="0"/>
              <a:t>Indonesia Results - CEEMDAN Models Outperform LSTM</a:t>
            </a:r>
          </a:p>
          <a:p>
            <a:endParaRPr lang="en-GB" altLang="zh-CN" sz="1600" b="1" dirty="0"/>
          </a:p>
          <a:p>
            <a:r>
              <a:rPr lang="en-GB" altLang="zh-CN" sz="1600" b="1" dirty="0"/>
              <a:t>CEEMDAN-LSTM</a:t>
            </a:r>
            <a:r>
              <a:rPr lang="en-GB" altLang="zh-CN" sz="1600" dirty="0"/>
              <a:t>: Accuracy 0.7348, Weighted-F1 0.7274 (Best overall)</a:t>
            </a:r>
          </a:p>
          <a:p>
            <a:r>
              <a:rPr lang="en-GB" altLang="zh-CN" sz="1600" b="1" dirty="0"/>
              <a:t>CEEMDAN-CNN-LSTM</a:t>
            </a:r>
            <a:r>
              <a:rPr lang="en-GB" altLang="zh-CN" sz="1600" dirty="0"/>
              <a:t>: Accuracy 0.7218, Strong extreme flood recall</a:t>
            </a:r>
          </a:p>
          <a:p>
            <a:r>
              <a:rPr lang="en-GB" altLang="zh-CN" sz="1600" b="1" dirty="0"/>
              <a:t>LSTM</a:t>
            </a:r>
            <a:r>
              <a:rPr lang="en-GB" altLang="zh-CN" sz="1600" dirty="0"/>
              <a:t>: Lower performance across metrics</a:t>
            </a:r>
          </a:p>
        </p:txBody>
      </p:sp>
      <p:sp>
        <p:nvSpPr>
          <p:cNvPr id="9" name="文本框 8">
            <a:extLst>
              <a:ext uri="{FF2B5EF4-FFF2-40B4-BE49-F238E27FC236}">
                <a16:creationId xmlns:a16="http://schemas.microsoft.com/office/drawing/2014/main" id="{01067372-F2CF-E41D-3D65-6960B045285E}"/>
              </a:ext>
            </a:extLst>
          </p:cNvPr>
          <p:cNvSpPr txBox="1"/>
          <p:nvPr/>
        </p:nvSpPr>
        <p:spPr>
          <a:xfrm>
            <a:off x="6372666" y="3174211"/>
            <a:ext cx="6096000" cy="333489"/>
          </a:xfrm>
          <a:prstGeom prst="rect">
            <a:avLst/>
          </a:prstGeom>
          <a:noFill/>
        </p:spPr>
        <p:txBody>
          <a:bodyPr wrap="square">
            <a:spAutoFit/>
          </a:bodyPr>
          <a:lstStyle/>
          <a:p>
            <a:pPr algn="ctr">
              <a:lnSpc>
                <a:spcPct val="150000"/>
              </a:lnSpc>
              <a:buNone/>
            </a:pPr>
            <a:r>
              <a:rPr lang="en-US" altLang="zh-CN" sz="1200" i="1" dirty="0">
                <a:effectLst/>
                <a:latin typeface="Arial" panose="020B0604020202020204" pitchFamily="34" charset="0"/>
                <a:ea typeface="等线" panose="02010600030101010101" pitchFamily="2" charset="-122"/>
                <a:cs typeface="宋体" panose="02010600030101010101" pitchFamily="2" charset="-122"/>
              </a:rPr>
              <a:t>Figure 5.10 CEEMDAN-LSTM Classification Results (China Flood)</a:t>
            </a:r>
            <a:endParaRPr lang="zh-CN" altLang="zh-CN" sz="12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12" name="文本框 11">
            <a:extLst>
              <a:ext uri="{FF2B5EF4-FFF2-40B4-BE49-F238E27FC236}">
                <a16:creationId xmlns:a16="http://schemas.microsoft.com/office/drawing/2014/main" id="{8CD34732-EAE1-1625-A33E-DEAA63079F48}"/>
              </a:ext>
            </a:extLst>
          </p:cNvPr>
          <p:cNvSpPr txBox="1"/>
          <p:nvPr/>
        </p:nvSpPr>
        <p:spPr>
          <a:xfrm>
            <a:off x="6963508" y="6508266"/>
            <a:ext cx="4372707" cy="333489"/>
          </a:xfrm>
          <a:prstGeom prst="rect">
            <a:avLst/>
          </a:prstGeom>
          <a:noFill/>
        </p:spPr>
        <p:txBody>
          <a:bodyPr wrap="square">
            <a:spAutoFit/>
          </a:bodyPr>
          <a:lstStyle/>
          <a:p>
            <a:pPr algn="ctr">
              <a:lnSpc>
                <a:spcPct val="150000"/>
              </a:lnSpc>
              <a:buNone/>
            </a:pPr>
            <a:r>
              <a:rPr lang="en-US" altLang="zh-CN" sz="1200" i="1" dirty="0">
                <a:effectLst/>
                <a:latin typeface="Arial" panose="020B0604020202020204" pitchFamily="34" charset="0"/>
                <a:ea typeface="等线" panose="02010600030101010101" pitchFamily="2" charset="-122"/>
                <a:cs typeface="宋体" panose="02010600030101010101" pitchFamily="2" charset="-122"/>
              </a:rPr>
              <a:t>Figure 5.11 LSTM Classification Results (China Flood)</a:t>
            </a:r>
            <a:endParaRPr lang="zh-CN" altLang="zh-CN" sz="1200" dirty="0">
              <a:effectLst/>
              <a:latin typeface="宋体" panose="02010600030101010101" pitchFamily="2" charset="-122"/>
              <a:ea typeface="宋体" panose="02010600030101010101" pitchFamily="2" charset="-122"/>
              <a:cs typeface="宋体" panose="02010600030101010101" pitchFamily="2" charset="-122"/>
            </a:endParaRPr>
          </a:p>
        </p:txBody>
      </p:sp>
      <p:pic>
        <p:nvPicPr>
          <p:cNvPr id="2" name="图片 1">
            <a:extLst>
              <a:ext uri="{FF2B5EF4-FFF2-40B4-BE49-F238E27FC236}">
                <a16:creationId xmlns:a16="http://schemas.microsoft.com/office/drawing/2014/main" id="{2267E35D-E029-3BC9-C4A4-969A4D7C075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auto">
          <a:xfrm>
            <a:off x="6646985" y="56114"/>
            <a:ext cx="5462952" cy="3191177"/>
          </a:xfrm>
          <a:prstGeom prst="rect">
            <a:avLst/>
          </a:prstGeom>
          <a:noFill/>
          <a:ln>
            <a:noFill/>
          </a:ln>
        </p:spPr>
      </p:pic>
      <p:pic>
        <p:nvPicPr>
          <p:cNvPr id="3" name="图片 2" descr="文本&#10;&#10;AI 生成的内容可能不正确。">
            <a:extLst>
              <a:ext uri="{FF2B5EF4-FFF2-40B4-BE49-F238E27FC236}">
                <a16:creationId xmlns:a16="http://schemas.microsoft.com/office/drawing/2014/main" id="{6D4126A1-EF6C-6DF0-F678-0053EAE5988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646985" y="3507700"/>
            <a:ext cx="5462952" cy="3073646"/>
          </a:xfrm>
          <a:prstGeom prst="rect">
            <a:avLst/>
          </a:prstGeom>
          <a:noFill/>
          <a:ln>
            <a:noFill/>
          </a:ln>
        </p:spPr>
      </p:pic>
    </p:spTree>
    <p:extLst>
      <p:ext uri="{BB962C8B-B14F-4D97-AF65-F5344CB8AC3E}">
        <p14:creationId xmlns:p14="http://schemas.microsoft.com/office/powerpoint/2010/main" val="16047753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A206D-90F0-54F8-FF82-6135E00FAB2B}"/>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3CAC6A56-9360-E7C5-59D9-87F2CDF924B9}"/>
              </a:ext>
            </a:extLst>
          </p:cNvPr>
          <p:cNvSpPr txBox="1"/>
          <p:nvPr/>
        </p:nvSpPr>
        <p:spPr>
          <a:xfrm>
            <a:off x="387935" y="245241"/>
            <a:ext cx="9119730" cy="584775"/>
          </a:xfrm>
          <a:prstGeom prst="rect">
            <a:avLst/>
          </a:prstGeom>
          <a:noFill/>
        </p:spPr>
        <p:txBody>
          <a:bodyPr wrap="square">
            <a:spAutoFit/>
          </a:bodyPr>
          <a:lstStyle/>
          <a:p>
            <a:r>
              <a:rPr lang="en-US" altLang="zh-CN" sz="3200" dirty="0"/>
              <a:t>Model Architecture Adaptability (Insight 1)</a:t>
            </a:r>
          </a:p>
        </p:txBody>
      </p:sp>
      <p:sp>
        <p:nvSpPr>
          <p:cNvPr id="6" name="文本框 5">
            <a:extLst>
              <a:ext uri="{FF2B5EF4-FFF2-40B4-BE49-F238E27FC236}">
                <a16:creationId xmlns:a16="http://schemas.microsoft.com/office/drawing/2014/main" id="{9B072B3F-004A-DE71-7B19-D41792E0580D}"/>
              </a:ext>
            </a:extLst>
          </p:cNvPr>
          <p:cNvSpPr txBox="1"/>
          <p:nvPr/>
        </p:nvSpPr>
        <p:spPr>
          <a:xfrm>
            <a:off x="334644" y="1769709"/>
            <a:ext cx="11522711" cy="4801314"/>
          </a:xfrm>
          <a:prstGeom prst="rect">
            <a:avLst/>
          </a:prstGeom>
          <a:noFill/>
        </p:spPr>
        <p:txBody>
          <a:bodyPr wrap="square">
            <a:spAutoFit/>
          </a:bodyPr>
          <a:lstStyle/>
          <a:p>
            <a:endParaRPr lang="en-GB" altLang="zh-CN" dirty="0"/>
          </a:p>
          <a:p>
            <a:pPr marL="285750" indent="-285750">
              <a:buFont typeface="Arial" panose="020B0604020202020204" pitchFamily="34" charset="0"/>
              <a:buChar char="•"/>
            </a:pPr>
            <a:r>
              <a:rPr lang="en-GB" altLang="zh-CN" b="1" dirty="0"/>
              <a:t>Geographic Patterns</a:t>
            </a:r>
          </a:p>
          <a:p>
            <a:pPr lvl="1"/>
            <a:r>
              <a:rPr lang="en-GB" altLang="zh-CN" dirty="0"/>
              <a:t>CEEMDAN-based models perform better in monsoon climates (China, India) than tropical rainforest regions due to stronger periodic components in monsoon systems.</a:t>
            </a:r>
          </a:p>
          <a:p>
            <a:endParaRPr lang="en-GB" altLang="zh-CN" dirty="0"/>
          </a:p>
          <a:p>
            <a:pPr marL="285750" indent="-285750">
              <a:buFont typeface="Arial" panose="020B0604020202020204" pitchFamily="34" charset="0"/>
              <a:buChar char="•"/>
            </a:pPr>
            <a:r>
              <a:rPr lang="en-GB" altLang="zh-CN" b="1" dirty="0"/>
              <a:t>Event Type Performance</a:t>
            </a:r>
          </a:p>
          <a:p>
            <a:pPr lvl="1"/>
            <a:r>
              <a:rPr lang="en-GB" altLang="zh-CN" dirty="0"/>
              <a:t>Cumulative events like drought show stronger improvements with CEEMDAN models. Extreme precipitation events show mixed results: CEEMDAN-LSTM improved in 5/8 countries while CEEMDAN-CNN-LSTM improved in only 2/8 countries.</a:t>
            </a:r>
          </a:p>
          <a:p>
            <a:endParaRPr lang="en-GB" altLang="zh-CN" dirty="0"/>
          </a:p>
          <a:p>
            <a:pPr marL="285750" indent="-285750">
              <a:buFont typeface="Arial" panose="020B0604020202020204" pitchFamily="34" charset="0"/>
              <a:buChar char="•"/>
            </a:pPr>
            <a:r>
              <a:rPr lang="en-GB" altLang="zh-CN" b="1" dirty="0"/>
              <a:t>Physical Mechanism</a:t>
            </a:r>
          </a:p>
          <a:p>
            <a:pPr lvl="1"/>
            <a:r>
              <a:rPr lang="en-GB" altLang="zh-CN" dirty="0"/>
              <a:t>Drought's slowly developing cumulative nature with trend and periodic characteristics enables effective multi-scale feature extraction. Extreme precipitation's randomness and suddenness from convective systems and typhoons limit signal decomposition advantages.</a:t>
            </a:r>
          </a:p>
          <a:p>
            <a:endParaRPr lang="en-GB" altLang="zh-CN" dirty="0"/>
          </a:p>
          <a:p>
            <a:pPr marL="285750" indent="-285750">
              <a:buFont typeface="Arial" panose="020B0604020202020204" pitchFamily="34" charset="0"/>
              <a:buChar char="•"/>
            </a:pPr>
            <a:r>
              <a:rPr lang="en-GB" altLang="zh-CN" b="1" dirty="0"/>
              <a:t>Implication</a:t>
            </a:r>
          </a:p>
          <a:p>
            <a:pPr lvl="1"/>
            <a:r>
              <a:rPr lang="en-GB" altLang="zh-CN" dirty="0"/>
              <a:t>Model selection should consider regional climate characteristics and target event types.</a:t>
            </a:r>
          </a:p>
        </p:txBody>
      </p:sp>
      <p:pic>
        <p:nvPicPr>
          <p:cNvPr id="25602" name="Picture 2" descr="已生成图片">
            <a:extLst>
              <a:ext uri="{FF2B5EF4-FFF2-40B4-BE49-F238E27FC236}">
                <a16:creationId xmlns:a16="http://schemas.microsoft.com/office/drawing/2014/main" id="{0028DD4D-E700-34B6-5E2A-A0BF2CEFE24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64250" y="0"/>
            <a:ext cx="2427750" cy="2192215"/>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BB0C3074-8F57-BFE0-DDE1-635542585D3F}"/>
              </a:ext>
            </a:extLst>
          </p:cNvPr>
          <p:cNvSpPr txBox="1"/>
          <p:nvPr/>
        </p:nvSpPr>
        <p:spPr>
          <a:xfrm>
            <a:off x="387934" y="1091000"/>
            <a:ext cx="7384465"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altLang="zh-CN"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Core Finding</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GB" altLang="zh-CN"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CEEMDAN decomposition improves LSTM performance, but effectiveness varies by geography and event type.</a:t>
            </a:r>
          </a:p>
        </p:txBody>
      </p:sp>
    </p:spTree>
    <p:extLst>
      <p:ext uri="{BB962C8B-B14F-4D97-AF65-F5344CB8AC3E}">
        <p14:creationId xmlns:p14="http://schemas.microsoft.com/office/powerpoint/2010/main" val="11609171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FB4A6-E03C-8896-2379-F4BCB94532AE}"/>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1E1B8013-1C8A-170A-1E12-2C20A9E91EE7}"/>
              </a:ext>
            </a:extLst>
          </p:cNvPr>
          <p:cNvSpPr txBox="1"/>
          <p:nvPr/>
        </p:nvSpPr>
        <p:spPr>
          <a:xfrm>
            <a:off x="387935" y="198348"/>
            <a:ext cx="9119730" cy="584775"/>
          </a:xfrm>
          <a:prstGeom prst="rect">
            <a:avLst/>
          </a:prstGeom>
          <a:noFill/>
        </p:spPr>
        <p:txBody>
          <a:bodyPr wrap="square">
            <a:spAutoFit/>
          </a:bodyPr>
          <a:lstStyle/>
          <a:p>
            <a:r>
              <a:rPr lang="en-US" altLang="zh-CN" sz="3200" dirty="0"/>
              <a:t>Data Correlation and Model Performance (Insight 2)</a:t>
            </a:r>
          </a:p>
        </p:txBody>
      </p:sp>
      <p:sp>
        <p:nvSpPr>
          <p:cNvPr id="6" name="文本框 5">
            <a:extLst>
              <a:ext uri="{FF2B5EF4-FFF2-40B4-BE49-F238E27FC236}">
                <a16:creationId xmlns:a16="http://schemas.microsoft.com/office/drawing/2014/main" id="{72ECD5F4-91B7-44D0-EC0E-81E9E6C92427}"/>
              </a:ext>
            </a:extLst>
          </p:cNvPr>
          <p:cNvSpPr txBox="1"/>
          <p:nvPr/>
        </p:nvSpPr>
        <p:spPr>
          <a:xfrm>
            <a:off x="387935" y="1512408"/>
            <a:ext cx="11522711" cy="5355312"/>
          </a:xfrm>
          <a:prstGeom prst="rect">
            <a:avLst/>
          </a:prstGeom>
          <a:noFill/>
        </p:spPr>
        <p:txBody>
          <a:bodyPr wrap="square">
            <a:spAutoFit/>
          </a:bodyPr>
          <a:lstStyle/>
          <a:p>
            <a:endParaRPr lang="en-GB" altLang="zh-CN" dirty="0"/>
          </a:p>
          <a:p>
            <a:pPr marL="285750" indent="-285750">
              <a:buFont typeface="Arial" panose="020B0604020202020204" pitchFamily="34" charset="0"/>
              <a:buChar char="•"/>
            </a:pPr>
            <a:r>
              <a:rPr lang="en-GB" altLang="zh-CN" b="1" dirty="0"/>
              <a:t>High Correlation Regions (&gt;0.75)</a:t>
            </a:r>
          </a:p>
          <a:p>
            <a:pPr lvl="1"/>
            <a:r>
              <a:rPr lang="en-GB" altLang="zh-CN" dirty="0"/>
              <a:t>China and India demonstrate strong correlations, enabling CEEMDAN to effectively extract meaningful IMFs and enhance prediction accuracy through successful multi-scale feature decomposition.</a:t>
            </a:r>
          </a:p>
          <a:p>
            <a:endParaRPr lang="en-GB" altLang="zh-CN" dirty="0"/>
          </a:p>
          <a:p>
            <a:pPr marL="285750" indent="-285750">
              <a:buFont typeface="Arial" panose="020B0604020202020204" pitchFamily="34" charset="0"/>
              <a:buChar char="•"/>
            </a:pPr>
            <a:r>
              <a:rPr lang="en-GB" altLang="zh-CN" b="1" dirty="0"/>
              <a:t>Weak Correlation Regions (0.44-0.75)</a:t>
            </a:r>
          </a:p>
          <a:p>
            <a:pPr lvl="1"/>
            <a:r>
              <a:rPr lang="en-GB" altLang="zh-CN" dirty="0"/>
              <a:t>Japan and Malaysia show weaker correlations, where decomposed IMFs introduce additional noise and degrade model performance. CEEMDAN processes signals with "white noise"-like characteristics, generating spurious modal components.</a:t>
            </a:r>
          </a:p>
          <a:p>
            <a:endParaRPr lang="en-GB" altLang="zh-CN" dirty="0"/>
          </a:p>
          <a:p>
            <a:pPr marL="285750" indent="-285750">
              <a:buFont typeface="Arial" panose="020B0604020202020204" pitchFamily="34" charset="0"/>
              <a:buChar char="•"/>
            </a:pPr>
            <a:r>
              <a:rPr lang="en-GB" altLang="zh-CN" b="1" dirty="0"/>
              <a:t>Error Amplification Effect</a:t>
            </a:r>
          </a:p>
          <a:p>
            <a:pPr lvl="1"/>
            <a:r>
              <a:rPr lang="en-GB" altLang="zh-CN" dirty="0"/>
              <a:t>Japan's drought prediction illustrates cumulative error problems: R² declined from -9.32% (LSTM) to -72.81% (CEEMDAN-CNN-LSTM). Independent IMF </a:t>
            </a:r>
            <a:r>
              <a:rPr lang="en-GB" altLang="zh-CN" dirty="0" err="1"/>
              <a:t>modeling</a:t>
            </a:r>
            <a:r>
              <a:rPr lang="en-GB" altLang="zh-CN" dirty="0"/>
              <a:t> in LSTM stages allows individual prediction errors to accumulate during final summation, causing significant error amplification.</a:t>
            </a:r>
          </a:p>
          <a:p>
            <a:endParaRPr lang="en-GB" altLang="zh-CN" dirty="0"/>
          </a:p>
          <a:p>
            <a:pPr marL="285750" indent="-285750">
              <a:buFont typeface="Arial" panose="020B0604020202020204" pitchFamily="34" charset="0"/>
              <a:buChar char="•"/>
            </a:pPr>
            <a:r>
              <a:rPr lang="en-GB" altLang="zh-CN" b="1" dirty="0"/>
              <a:t>Practical Recommendations</a:t>
            </a:r>
          </a:p>
          <a:p>
            <a:pPr lvl="1"/>
            <a:r>
              <a:rPr lang="en-GB" altLang="zh-CN" dirty="0"/>
              <a:t>Compute correlation coefficient matrix before applying CEEMDAN. Use decomposition techniques only when maximum correlation coefficient exceeds 0.70. For moderate correlation cases, consider using only dominant IMF components rather than all decomposed components to minimize noise introduction and improve model robustness.</a:t>
            </a:r>
          </a:p>
        </p:txBody>
      </p:sp>
      <p:pic>
        <p:nvPicPr>
          <p:cNvPr id="24578" name="Picture 2">
            <a:extLst>
              <a:ext uri="{FF2B5EF4-FFF2-40B4-BE49-F238E27FC236}">
                <a16:creationId xmlns:a16="http://schemas.microsoft.com/office/drawing/2014/main" id="{54842974-CA90-D96A-7A73-4EB89A4A978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10292862" y="1"/>
            <a:ext cx="1899138" cy="1899138"/>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FCD5BE5E-13D6-A390-28F0-33D57CCEA751}"/>
              </a:ext>
            </a:extLst>
          </p:cNvPr>
          <p:cNvSpPr txBox="1"/>
          <p:nvPr/>
        </p:nvSpPr>
        <p:spPr>
          <a:xfrm>
            <a:off x="387935" y="844852"/>
            <a:ext cx="8779511"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altLang="zh-CN" sz="1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Core Finding</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GB"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Correlation strength between meteorological variables and target variables critically determines model performance.</a:t>
            </a:r>
          </a:p>
        </p:txBody>
      </p:sp>
    </p:spTree>
    <p:extLst>
      <p:ext uri="{BB962C8B-B14F-4D97-AF65-F5344CB8AC3E}">
        <p14:creationId xmlns:p14="http://schemas.microsoft.com/office/powerpoint/2010/main" val="10248066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F6A05-AE40-6CE5-6FFB-544C744C484F}"/>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529CD03D-244F-675B-F6AB-AF31C3D19156}"/>
              </a:ext>
            </a:extLst>
          </p:cNvPr>
          <p:cNvSpPr txBox="1"/>
          <p:nvPr/>
        </p:nvSpPr>
        <p:spPr>
          <a:xfrm>
            <a:off x="387935" y="198348"/>
            <a:ext cx="9119730" cy="584775"/>
          </a:xfrm>
          <a:prstGeom prst="rect">
            <a:avLst/>
          </a:prstGeom>
          <a:noFill/>
        </p:spPr>
        <p:txBody>
          <a:bodyPr wrap="square">
            <a:spAutoFit/>
          </a:bodyPr>
          <a:lstStyle/>
          <a:p>
            <a:r>
              <a:rPr lang="en-US" altLang="zh-CN" sz="3200" dirty="0"/>
              <a:t>Regional Variability Analysis (Insight 3)</a:t>
            </a:r>
          </a:p>
        </p:txBody>
      </p:sp>
      <p:sp>
        <p:nvSpPr>
          <p:cNvPr id="6" name="文本框 5">
            <a:extLst>
              <a:ext uri="{FF2B5EF4-FFF2-40B4-BE49-F238E27FC236}">
                <a16:creationId xmlns:a16="http://schemas.microsoft.com/office/drawing/2014/main" id="{61B6B56A-C87B-5958-B142-B9010D03AB19}"/>
              </a:ext>
            </a:extLst>
          </p:cNvPr>
          <p:cNvSpPr txBox="1"/>
          <p:nvPr/>
        </p:nvSpPr>
        <p:spPr>
          <a:xfrm>
            <a:off x="387935" y="948690"/>
            <a:ext cx="11616495" cy="5909310"/>
          </a:xfrm>
          <a:prstGeom prst="rect">
            <a:avLst/>
          </a:prstGeom>
          <a:noFill/>
        </p:spPr>
        <p:txBody>
          <a:bodyPr wrap="square">
            <a:spAutoFit/>
          </a:bodyPr>
          <a:lstStyle/>
          <a:p>
            <a:pPr marL="285750" indent="-285750">
              <a:buFont typeface="Arial" panose="020B0604020202020204" pitchFamily="34" charset="0"/>
              <a:buChar char="•"/>
            </a:pPr>
            <a:r>
              <a:rPr lang="en-US" altLang="zh-CN" b="1" dirty="0"/>
              <a:t>Core Finding</a:t>
            </a:r>
          </a:p>
          <a:p>
            <a:pPr lvl="1"/>
            <a:r>
              <a:rPr lang="en-US" altLang="zh-CN" dirty="0"/>
              <a:t>Notable regional differences in predictive performance reveal systematic patterns across different climate zones.</a:t>
            </a:r>
          </a:p>
          <a:p>
            <a:pPr lvl="1"/>
            <a:endParaRPr lang="en-US" altLang="zh-CN" dirty="0"/>
          </a:p>
          <a:p>
            <a:pPr marL="285750" indent="-285750">
              <a:buFont typeface="Arial" panose="020B0604020202020204" pitchFamily="34" charset="0"/>
              <a:buChar char="•"/>
            </a:pPr>
            <a:r>
              <a:rPr lang="en-US" altLang="zh-CN" b="1" dirty="0"/>
              <a:t>High Performance Regions</a:t>
            </a:r>
          </a:p>
          <a:p>
            <a:pPr lvl="1"/>
            <a:r>
              <a:rPr lang="en-US" altLang="zh-CN" dirty="0"/>
              <a:t>East Asian monsoon region (China) and South Asian monsoon region (India) exhibit higher prediction accuracy compared to maritime climate regions in Southeast Asia (Malaysia, Philippines).</a:t>
            </a:r>
          </a:p>
          <a:p>
            <a:pPr lvl="1"/>
            <a:endParaRPr lang="en-US" altLang="zh-CN" dirty="0"/>
          </a:p>
          <a:p>
            <a:pPr marL="285750" indent="-285750">
              <a:buFont typeface="Arial" panose="020B0604020202020204" pitchFamily="34" charset="0"/>
              <a:buChar char="•"/>
            </a:pPr>
            <a:r>
              <a:rPr lang="en-US" altLang="zh-CN" b="1" dirty="0"/>
              <a:t>Performance Difference Factors</a:t>
            </a:r>
          </a:p>
          <a:p>
            <a:pPr marL="800100" lvl="1" indent="-342900">
              <a:buFont typeface="Wingdings" panose="05000000000000000000" pitchFamily="2" charset="2"/>
              <a:buChar char="Ø"/>
            </a:pPr>
            <a:r>
              <a:rPr lang="en-US" altLang="zh-CN" b="1" dirty="0"/>
              <a:t>Climate System Complexity</a:t>
            </a:r>
          </a:p>
          <a:p>
            <a:pPr lvl="2"/>
            <a:r>
              <a:rPr lang="en-US" altLang="zh-CN" dirty="0"/>
              <a:t>Monsoon-dominated regions feature relatively stable and predictable seasonal climate cycles. Maritime climate regions face multiple interacting climatic factors including ENSO (El Niño–Southern Oscillation), IOD (Indian Ocean Dipole), and tropical cyclones, which collectively increase climate prediction complexity and uncertainty.</a:t>
            </a:r>
          </a:p>
          <a:p>
            <a:pPr marL="800100" lvl="1" indent="-342900">
              <a:buFont typeface="Wingdings" panose="05000000000000000000" pitchFamily="2" charset="2"/>
              <a:buChar char="Ø"/>
            </a:pPr>
            <a:r>
              <a:rPr lang="en-US" altLang="zh-CN" b="1" dirty="0"/>
              <a:t>Topographic Effects</a:t>
            </a:r>
          </a:p>
          <a:p>
            <a:pPr lvl="2"/>
            <a:r>
              <a:rPr lang="en-US" altLang="zh-CN" dirty="0"/>
              <a:t>Island nations such as Indonesia and the Philippines feature complex topography with mountainous terrain and fragmented landforms. These geographical features amplify local climate variability and atmospheric instability, reducing the effectiveness of regional-scale climate prediction models.</a:t>
            </a:r>
          </a:p>
          <a:p>
            <a:pPr lvl="2"/>
            <a:endParaRPr lang="en-US" altLang="zh-CN" dirty="0"/>
          </a:p>
          <a:p>
            <a:pPr marL="285750" indent="-285750">
              <a:buFont typeface="Arial" panose="020B0604020202020204" pitchFamily="34" charset="0"/>
              <a:buChar char="•"/>
            </a:pPr>
            <a:r>
              <a:rPr lang="en-US" altLang="zh-CN" b="1" dirty="0"/>
              <a:t>Implications</a:t>
            </a:r>
          </a:p>
          <a:p>
            <a:pPr lvl="1"/>
            <a:r>
              <a:rPr lang="en-US" altLang="zh-CN" dirty="0"/>
              <a:t>Regional climate characteristics and topographic complexity should be considered when selecting prediction models. Monsoon-dominated continental regions provide more favorable conditions for decomposition-based prediction approaches than complex maritime environments.</a:t>
            </a:r>
          </a:p>
        </p:txBody>
      </p:sp>
      <p:pic>
        <p:nvPicPr>
          <p:cNvPr id="23554" name="Picture 2" descr="已生成图片">
            <a:extLst>
              <a:ext uri="{FF2B5EF4-FFF2-40B4-BE49-F238E27FC236}">
                <a16:creationId xmlns:a16="http://schemas.microsoft.com/office/drawing/2014/main" id="{D85FBDC7-4E23-E24C-FEA7-DCDEBE2A916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22523" y="-879"/>
            <a:ext cx="1969477" cy="1312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35453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FEE9F-595E-2B11-E30A-5E0B5146D1B3}"/>
            </a:ext>
          </a:extLst>
        </p:cNvPr>
        <p:cNvGrpSpPr/>
        <p:nvPr/>
      </p:nvGrpSpPr>
      <p:grpSpPr>
        <a:xfrm>
          <a:off x="0" y="0"/>
          <a:ext cx="0" cy="0"/>
          <a:chOff x="0" y="0"/>
          <a:chExt cx="0" cy="0"/>
        </a:xfrm>
      </p:grpSpPr>
      <p:sp>
        <p:nvSpPr>
          <p:cNvPr id="5" name="半闭框 4">
            <a:extLst>
              <a:ext uri="{FF2B5EF4-FFF2-40B4-BE49-F238E27FC236}">
                <a16:creationId xmlns:a16="http://schemas.microsoft.com/office/drawing/2014/main" id="{8B3CA62A-4EA9-F006-0783-81276142858E}"/>
              </a:ext>
            </a:extLst>
          </p:cNvPr>
          <p:cNvSpPr/>
          <p:nvPr/>
        </p:nvSpPr>
        <p:spPr>
          <a:xfrm>
            <a:off x="0" y="285115"/>
            <a:ext cx="914400" cy="914400"/>
          </a:xfrm>
          <a:prstGeom prst="halfFrame">
            <a:avLst/>
          </a:prstGeom>
          <a:solidFill>
            <a:srgbClr val="1F2E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汉仪宋韵朗黑W" panose="00020600040101010101" charset="-122"/>
              <a:ea typeface="汉仪宋韵朗黑W" panose="00020600040101010101" charset="-122"/>
              <a:cs typeface="汉仪宋韵朗黑W" panose="00020600040101010101" charset="-122"/>
            </a:endParaRPr>
          </a:p>
        </p:txBody>
      </p:sp>
      <p:sp>
        <p:nvSpPr>
          <p:cNvPr id="7" name="矩形 6">
            <a:extLst>
              <a:ext uri="{FF2B5EF4-FFF2-40B4-BE49-F238E27FC236}">
                <a16:creationId xmlns:a16="http://schemas.microsoft.com/office/drawing/2014/main" id="{812F0609-11A6-75A0-7ECB-A14F8D31C1F6}"/>
              </a:ext>
            </a:extLst>
          </p:cNvPr>
          <p:cNvSpPr/>
          <p:nvPr/>
        </p:nvSpPr>
        <p:spPr>
          <a:xfrm flipH="1">
            <a:off x="3944620" y="285115"/>
            <a:ext cx="7998460" cy="231140"/>
          </a:xfrm>
          <a:prstGeom prst="rect">
            <a:avLst/>
          </a:prstGeom>
          <a:solidFill>
            <a:srgbClr val="1F2E3F"/>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宋韵朗黑W" panose="00020600040101010101" charset="-122"/>
              <a:ea typeface="汉仪宋韵朗黑W" panose="00020600040101010101" charset="-122"/>
              <a:cs typeface="汉仪宋韵朗黑W" panose="00020600040101010101" charset="-122"/>
            </a:endParaRPr>
          </a:p>
        </p:txBody>
      </p:sp>
      <p:sp>
        <p:nvSpPr>
          <p:cNvPr id="8" name="矩形 7">
            <a:extLst>
              <a:ext uri="{FF2B5EF4-FFF2-40B4-BE49-F238E27FC236}">
                <a16:creationId xmlns:a16="http://schemas.microsoft.com/office/drawing/2014/main" id="{80B13B1D-8D37-3678-CECA-89C2B2FCD0AC}"/>
              </a:ext>
            </a:extLst>
          </p:cNvPr>
          <p:cNvSpPr/>
          <p:nvPr/>
        </p:nvSpPr>
        <p:spPr>
          <a:xfrm flipH="1">
            <a:off x="0" y="6337300"/>
            <a:ext cx="7998460" cy="231140"/>
          </a:xfrm>
          <a:prstGeom prst="rect">
            <a:avLst/>
          </a:prstGeom>
          <a:solidFill>
            <a:srgbClr val="1F2E3F"/>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宋韵朗黑W" panose="00020600040101010101" charset="-122"/>
              <a:ea typeface="汉仪宋韵朗黑W" panose="00020600040101010101" charset="-122"/>
              <a:cs typeface="汉仪宋韵朗黑W" panose="00020600040101010101" charset="-122"/>
            </a:endParaRPr>
          </a:p>
        </p:txBody>
      </p:sp>
      <p:sp>
        <p:nvSpPr>
          <p:cNvPr id="9" name="半闭框 8">
            <a:extLst>
              <a:ext uri="{FF2B5EF4-FFF2-40B4-BE49-F238E27FC236}">
                <a16:creationId xmlns:a16="http://schemas.microsoft.com/office/drawing/2014/main" id="{26391AD5-BF41-8B2E-D31D-36F00153EE22}"/>
              </a:ext>
            </a:extLst>
          </p:cNvPr>
          <p:cNvSpPr/>
          <p:nvPr/>
        </p:nvSpPr>
        <p:spPr>
          <a:xfrm rot="5400000" flipH="1">
            <a:off x="11028680" y="5738495"/>
            <a:ext cx="914400" cy="914400"/>
          </a:xfrm>
          <a:prstGeom prst="halfFrame">
            <a:avLst/>
          </a:prstGeom>
          <a:solidFill>
            <a:srgbClr val="1F2E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汉仪宋韵朗黑W" panose="00020600040101010101" charset="-122"/>
              <a:ea typeface="汉仪宋韵朗黑W" panose="00020600040101010101" charset="-122"/>
              <a:cs typeface="汉仪宋韵朗黑W" panose="00020600040101010101" charset="-122"/>
            </a:endParaRPr>
          </a:p>
        </p:txBody>
      </p:sp>
      <p:sp>
        <p:nvSpPr>
          <p:cNvPr id="2" name="文本框 1">
            <a:extLst>
              <a:ext uri="{FF2B5EF4-FFF2-40B4-BE49-F238E27FC236}">
                <a16:creationId xmlns:a16="http://schemas.microsoft.com/office/drawing/2014/main" id="{C7DAB48E-61E9-0F98-19E5-6838C6D7A4A9}"/>
              </a:ext>
            </a:extLst>
          </p:cNvPr>
          <p:cNvSpPr txBox="1"/>
          <p:nvPr/>
        </p:nvSpPr>
        <p:spPr>
          <a:xfrm>
            <a:off x="1419972" y="2557827"/>
            <a:ext cx="4171935" cy="1569660"/>
          </a:xfrm>
          <a:prstGeom prst="rect">
            <a:avLst/>
          </a:prstGeom>
          <a:noFill/>
        </p:spPr>
        <p:txBody>
          <a:bodyPr wrap="square" rtlCol="0">
            <a:spAutoFit/>
          </a:bodyPr>
          <a:lstStyle/>
          <a:p>
            <a:r>
              <a:rPr lang="en-US" altLang="zh-CN" sz="4800" b="1" dirty="0"/>
              <a:t>PRACTICAL VALVE</a:t>
            </a:r>
            <a:endParaRPr lang="zh-CN" altLang="en-US" sz="3600" b="1" dirty="0"/>
          </a:p>
        </p:txBody>
      </p:sp>
      <p:pic>
        <p:nvPicPr>
          <p:cNvPr id="18436" name="Picture 4">
            <a:extLst>
              <a:ext uri="{FF2B5EF4-FFF2-40B4-BE49-F238E27FC236}">
                <a16:creationId xmlns:a16="http://schemas.microsoft.com/office/drawing/2014/main" id="{81017593-B558-AFEE-2211-B25E79D64E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5999338" y="2070827"/>
            <a:ext cx="5029342" cy="2711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39089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8DC74-C08A-506A-D8C0-48A650C58885}"/>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E5271430-41CB-6715-25CD-D9A04FFA5862}"/>
              </a:ext>
            </a:extLst>
          </p:cNvPr>
          <p:cNvSpPr txBox="1"/>
          <p:nvPr/>
        </p:nvSpPr>
        <p:spPr>
          <a:xfrm>
            <a:off x="387935" y="245241"/>
            <a:ext cx="9119730" cy="584775"/>
          </a:xfrm>
          <a:prstGeom prst="rect">
            <a:avLst/>
          </a:prstGeom>
          <a:noFill/>
        </p:spPr>
        <p:txBody>
          <a:bodyPr wrap="square">
            <a:spAutoFit/>
          </a:bodyPr>
          <a:lstStyle/>
          <a:p>
            <a:r>
              <a:rPr lang="en-US" altLang="zh-CN" sz="3200" dirty="0"/>
              <a:t>Practical Valve</a:t>
            </a:r>
            <a:endParaRPr lang="zh-CN" altLang="en-US" sz="2000" dirty="0"/>
          </a:p>
        </p:txBody>
      </p:sp>
      <p:sp>
        <p:nvSpPr>
          <p:cNvPr id="6" name="文本框 5">
            <a:extLst>
              <a:ext uri="{FF2B5EF4-FFF2-40B4-BE49-F238E27FC236}">
                <a16:creationId xmlns:a16="http://schemas.microsoft.com/office/drawing/2014/main" id="{5068328E-C4C9-F039-214F-50B8409BB781}"/>
              </a:ext>
            </a:extLst>
          </p:cNvPr>
          <p:cNvSpPr txBox="1"/>
          <p:nvPr/>
        </p:nvSpPr>
        <p:spPr>
          <a:xfrm>
            <a:off x="387935" y="1136551"/>
            <a:ext cx="11522711" cy="5632311"/>
          </a:xfrm>
          <a:prstGeom prst="rect">
            <a:avLst/>
          </a:prstGeom>
          <a:noFill/>
        </p:spPr>
        <p:txBody>
          <a:bodyPr wrap="square">
            <a:spAutoFit/>
          </a:bodyPr>
          <a:lstStyle/>
          <a:p>
            <a:pPr marL="285750" indent="-285750">
              <a:buFont typeface="Arial" panose="020B0604020202020204" pitchFamily="34" charset="0"/>
              <a:buChar char="•"/>
            </a:pPr>
            <a:r>
              <a:rPr lang="en-US" altLang="zh-CN" b="1" dirty="0"/>
              <a:t>Climate Risk Management Applications</a:t>
            </a:r>
          </a:p>
          <a:p>
            <a:pPr lvl="1"/>
            <a:r>
              <a:rPr lang="en-US" altLang="zh-CN" dirty="0"/>
              <a:t>Study findings provide valuable guidance for climate risk management practices. Prediction strategies should be tailored to regional climate characteristics and event types rather than adopting one-size-fits-all modeling approaches.</a:t>
            </a:r>
          </a:p>
          <a:p>
            <a:pPr marL="285750" indent="-285750">
              <a:buFont typeface="Arial" panose="020B0604020202020204" pitchFamily="34" charset="0"/>
              <a:buChar char="•"/>
            </a:pPr>
            <a:r>
              <a:rPr lang="en-US" altLang="zh-CN" b="1" dirty="0"/>
              <a:t>Early Warning System Design</a:t>
            </a:r>
          </a:p>
          <a:p>
            <a:pPr lvl="1"/>
            <a:r>
              <a:rPr lang="en-US" altLang="zh-CN" dirty="0"/>
              <a:t>Cumulative climate events such as droughts are particularly well-suited for CEEMDAN-LSTM models due to strong periodicity and trend characteristics, enabling effective multi-scale information extraction.</a:t>
            </a:r>
          </a:p>
          <a:p>
            <a:pPr marL="285750" indent="-285750">
              <a:buFont typeface="Arial" panose="020B0604020202020204" pitchFamily="34" charset="0"/>
              <a:buChar char="•"/>
            </a:pPr>
            <a:r>
              <a:rPr lang="en-US" altLang="zh-CN" b="1" dirty="0"/>
              <a:t>Model Application Cautions</a:t>
            </a:r>
          </a:p>
          <a:p>
            <a:pPr lvl="1"/>
            <a:r>
              <a:rPr lang="en-US" altLang="zh-CN" dirty="0"/>
              <a:t>For sudden precipitation events in tropical maritime climate regions, complex hybrid models should be applied with caution. Multiple stochastic factors may cause forced decomposition to introduce noise and degrade model performance.</a:t>
            </a:r>
          </a:p>
          <a:p>
            <a:pPr marL="285750" indent="-285750">
              <a:buFont typeface="Arial" panose="020B0604020202020204" pitchFamily="34" charset="0"/>
              <a:buChar char="•"/>
            </a:pPr>
            <a:r>
              <a:rPr lang="en-US" altLang="zh-CN" b="1" dirty="0"/>
              <a:t>Computational Resource Optimization</a:t>
            </a:r>
          </a:p>
          <a:p>
            <a:pPr lvl="1"/>
            <a:r>
              <a:rPr lang="en-US" altLang="zh-CN" dirty="0"/>
              <a:t>In regions with weak data correlation, simpler LSTM models may offer better cost-benefit trade-offs. This finding is particularly relevant for meteorological agencies with limited resources, demonstrating that computationally intensive models are not always necessary.</a:t>
            </a:r>
          </a:p>
          <a:p>
            <a:pPr marL="285750" indent="-285750">
              <a:buFont typeface="Arial" panose="020B0604020202020204" pitchFamily="34" charset="0"/>
              <a:buChar char="•"/>
            </a:pPr>
            <a:r>
              <a:rPr lang="en-US" altLang="zh-CN" b="1" dirty="0"/>
              <a:t>Decision-Making Framework</a:t>
            </a:r>
          </a:p>
          <a:p>
            <a:pPr lvl="1"/>
            <a:r>
              <a:rPr lang="en-US" altLang="zh-CN" dirty="0"/>
              <a:t>Evaluate local meteorological data quality and correlation structure before selecting model complexity. This approach ensures prediction accuracy while avoiding unnecessary computational overhead.</a:t>
            </a:r>
          </a:p>
          <a:p>
            <a:br>
              <a:rPr lang="en-US" altLang="zh-CN" dirty="0"/>
            </a:br>
            <a:endParaRPr lang="en-US" altLang="zh-CN" dirty="0"/>
          </a:p>
        </p:txBody>
      </p:sp>
    </p:spTree>
    <p:extLst>
      <p:ext uri="{BB962C8B-B14F-4D97-AF65-F5344CB8AC3E}">
        <p14:creationId xmlns:p14="http://schemas.microsoft.com/office/powerpoint/2010/main" val="26090626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2D914-B3E1-3553-875E-C490305C9E0E}"/>
            </a:ext>
          </a:extLst>
        </p:cNvPr>
        <p:cNvGrpSpPr/>
        <p:nvPr/>
      </p:nvGrpSpPr>
      <p:grpSpPr>
        <a:xfrm>
          <a:off x="0" y="0"/>
          <a:ext cx="0" cy="0"/>
          <a:chOff x="0" y="0"/>
          <a:chExt cx="0" cy="0"/>
        </a:xfrm>
      </p:grpSpPr>
      <p:sp>
        <p:nvSpPr>
          <p:cNvPr id="5" name="半闭框 4">
            <a:extLst>
              <a:ext uri="{FF2B5EF4-FFF2-40B4-BE49-F238E27FC236}">
                <a16:creationId xmlns:a16="http://schemas.microsoft.com/office/drawing/2014/main" id="{3AB76B63-D6BA-2BC7-2958-10162263B35A}"/>
              </a:ext>
            </a:extLst>
          </p:cNvPr>
          <p:cNvSpPr/>
          <p:nvPr/>
        </p:nvSpPr>
        <p:spPr>
          <a:xfrm>
            <a:off x="0" y="285115"/>
            <a:ext cx="914400" cy="914400"/>
          </a:xfrm>
          <a:prstGeom prst="halfFrame">
            <a:avLst/>
          </a:prstGeom>
          <a:solidFill>
            <a:srgbClr val="1F2E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汉仪宋韵朗黑W" panose="00020600040101010101" charset="-122"/>
              <a:ea typeface="汉仪宋韵朗黑W" panose="00020600040101010101" charset="-122"/>
              <a:cs typeface="汉仪宋韵朗黑W" panose="00020600040101010101" charset="-122"/>
            </a:endParaRPr>
          </a:p>
        </p:txBody>
      </p:sp>
      <p:sp>
        <p:nvSpPr>
          <p:cNvPr id="7" name="矩形 6">
            <a:extLst>
              <a:ext uri="{FF2B5EF4-FFF2-40B4-BE49-F238E27FC236}">
                <a16:creationId xmlns:a16="http://schemas.microsoft.com/office/drawing/2014/main" id="{F5DEED12-6453-E0D6-E099-E6DF03205B6A}"/>
              </a:ext>
            </a:extLst>
          </p:cNvPr>
          <p:cNvSpPr/>
          <p:nvPr/>
        </p:nvSpPr>
        <p:spPr>
          <a:xfrm flipH="1">
            <a:off x="3944620" y="285115"/>
            <a:ext cx="7998460" cy="231140"/>
          </a:xfrm>
          <a:prstGeom prst="rect">
            <a:avLst/>
          </a:prstGeom>
          <a:solidFill>
            <a:srgbClr val="1F2E3F"/>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宋韵朗黑W" panose="00020600040101010101" charset="-122"/>
              <a:ea typeface="汉仪宋韵朗黑W" panose="00020600040101010101" charset="-122"/>
              <a:cs typeface="汉仪宋韵朗黑W" panose="00020600040101010101" charset="-122"/>
            </a:endParaRPr>
          </a:p>
        </p:txBody>
      </p:sp>
      <p:sp>
        <p:nvSpPr>
          <p:cNvPr id="8" name="矩形 7">
            <a:extLst>
              <a:ext uri="{FF2B5EF4-FFF2-40B4-BE49-F238E27FC236}">
                <a16:creationId xmlns:a16="http://schemas.microsoft.com/office/drawing/2014/main" id="{5C3C6171-7D67-8C48-D7B0-B1655F161E5B}"/>
              </a:ext>
            </a:extLst>
          </p:cNvPr>
          <p:cNvSpPr/>
          <p:nvPr/>
        </p:nvSpPr>
        <p:spPr>
          <a:xfrm flipH="1">
            <a:off x="0" y="6337300"/>
            <a:ext cx="7998460" cy="231140"/>
          </a:xfrm>
          <a:prstGeom prst="rect">
            <a:avLst/>
          </a:prstGeom>
          <a:solidFill>
            <a:srgbClr val="1F2E3F"/>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宋韵朗黑W" panose="00020600040101010101" charset="-122"/>
              <a:ea typeface="汉仪宋韵朗黑W" panose="00020600040101010101" charset="-122"/>
              <a:cs typeface="汉仪宋韵朗黑W" panose="00020600040101010101" charset="-122"/>
            </a:endParaRPr>
          </a:p>
        </p:txBody>
      </p:sp>
      <p:sp>
        <p:nvSpPr>
          <p:cNvPr id="9" name="半闭框 8">
            <a:extLst>
              <a:ext uri="{FF2B5EF4-FFF2-40B4-BE49-F238E27FC236}">
                <a16:creationId xmlns:a16="http://schemas.microsoft.com/office/drawing/2014/main" id="{A658936F-6734-D1C4-5446-D5387DA5EFDB}"/>
              </a:ext>
            </a:extLst>
          </p:cNvPr>
          <p:cNvSpPr/>
          <p:nvPr/>
        </p:nvSpPr>
        <p:spPr>
          <a:xfrm rot="5400000" flipH="1">
            <a:off x="11028680" y="5738495"/>
            <a:ext cx="914400" cy="914400"/>
          </a:xfrm>
          <a:prstGeom prst="halfFrame">
            <a:avLst/>
          </a:prstGeom>
          <a:solidFill>
            <a:srgbClr val="1F2E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汉仪宋韵朗黑W" panose="00020600040101010101" charset="-122"/>
              <a:ea typeface="汉仪宋韵朗黑W" panose="00020600040101010101" charset="-122"/>
              <a:cs typeface="汉仪宋韵朗黑W" panose="00020600040101010101" charset="-122"/>
            </a:endParaRPr>
          </a:p>
        </p:txBody>
      </p:sp>
      <p:sp>
        <p:nvSpPr>
          <p:cNvPr id="2" name="文本框 1">
            <a:extLst>
              <a:ext uri="{FF2B5EF4-FFF2-40B4-BE49-F238E27FC236}">
                <a16:creationId xmlns:a16="http://schemas.microsoft.com/office/drawing/2014/main" id="{C1F09EFB-B293-32F5-6F9F-637AB1E01673}"/>
              </a:ext>
            </a:extLst>
          </p:cNvPr>
          <p:cNvSpPr txBox="1"/>
          <p:nvPr/>
        </p:nvSpPr>
        <p:spPr>
          <a:xfrm>
            <a:off x="1291018" y="1903283"/>
            <a:ext cx="4171935" cy="3046988"/>
          </a:xfrm>
          <a:prstGeom prst="rect">
            <a:avLst/>
          </a:prstGeom>
          <a:noFill/>
        </p:spPr>
        <p:txBody>
          <a:bodyPr wrap="square" rtlCol="0">
            <a:spAutoFit/>
          </a:bodyPr>
          <a:lstStyle/>
          <a:p>
            <a:r>
              <a:rPr lang="en-US" altLang="zh-CN" sz="4800" b="1" dirty="0"/>
              <a:t>LIMITATIONS AND FUTURE RESEARCH DIRECTIONS</a:t>
            </a:r>
            <a:endParaRPr lang="zh-CN" altLang="en-US" sz="3600" b="1" dirty="0"/>
          </a:p>
        </p:txBody>
      </p:sp>
      <p:pic>
        <p:nvPicPr>
          <p:cNvPr id="18436" name="Picture 4">
            <a:extLst>
              <a:ext uri="{FF2B5EF4-FFF2-40B4-BE49-F238E27FC236}">
                <a16:creationId xmlns:a16="http://schemas.microsoft.com/office/drawing/2014/main" id="{220A2CCE-9482-0E08-3305-FD164B5AC8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6459416" y="1903283"/>
            <a:ext cx="3841628" cy="30763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84094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8D845-99F8-20F7-1228-4188FB624000}"/>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CA005D9A-8AB4-4C07-E47C-D55622234339}"/>
              </a:ext>
            </a:extLst>
          </p:cNvPr>
          <p:cNvSpPr txBox="1"/>
          <p:nvPr/>
        </p:nvSpPr>
        <p:spPr>
          <a:xfrm>
            <a:off x="387935" y="245241"/>
            <a:ext cx="9119730" cy="584775"/>
          </a:xfrm>
          <a:prstGeom prst="rect">
            <a:avLst/>
          </a:prstGeom>
          <a:noFill/>
        </p:spPr>
        <p:txBody>
          <a:bodyPr wrap="square">
            <a:spAutoFit/>
          </a:bodyPr>
          <a:lstStyle/>
          <a:p>
            <a:r>
              <a:rPr lang="en-GB" altLang="zh-CN" sz="3200" b="1" dirty="0"/>
              <a:t>Research Limitations</a:t>
            </a:r>
          </a:p>
        </p:txBody>
      </p:sp>
      <p:sp>
        <p:nvSpPr>
          <p:cNvPr id="6" name="文本框 5">
            <a:extLst>
              <a:ext uri="{FF2B5EF4-FFF2-40B4-BE49-F238E27FC236}">
                <a16:creationId xmlns:a16="http://schemas.microsoft.com/office/drawing/2014/main" id="{564BF9CC-A147-709F-E786-43E3C9BA1AD2}"/>
              </a:ext>
            </a:extLst>
          </p:cNvPr>
          <p:cNvSpPr txBox="1"/>
          <p:nvPr/>
        </p:nvSpPr>
        <p:spPr>
          <a:xfrm>
            <a:off x="862184" y="1443841"/>
            <a:ext cx="11522711" cy="4401205"/>
          </a:xfrm>
          <a:prstGeom prst="rect">
            <a:avLst/>
          </a:prstGeom>
          <a:noFill/>
        </p:spPr>
        <p:txBody>
          <a:bodyPr wrap="square">
            <a:spAutoFit/>
          </a:bodyPr>
          <a:lstStyle/>
          <a:p>
            <a:pPr marL="285750" indent="-285750">
              <a:buFont typeface="Arial" panose="020B0604020202020204" pitchFamily="34" charset="0"/>
              <a:buChar char="•"/>
            </a:pPr>
            <a:r>
              <a:rPr lang="en-GB" altLang="zh-CN" sz="2000" b="1" dirty="0"/>
              <a:t>Data Constraints</a:t>
            </a:r>
          </a:p>
          <a:p>
            <a:pPr lvl="1"/>
            <a:r>
              <a:rPr lang="en-GB" altLang="zh-CN" sz="2000" b="1" dirty="0"/>
              <a:t>Missing climate oscillations</a:t>
            </a:r>
            <a:r>
              <a:rPr lang="en-GB" altLang="zh-CN" sz="2000" dirty="0"/>
              <a:t>: No ENSO, IOD integration</a:t>
            </a:r>
          </a:p>
          <a:p>
            <a:pPr lvl="1"/>
            <a:r>
              <a:rPr lang="en-GB" altLang="zh-CN" sz="2000" b="1" dirty="0"/>
              <a:t>Historical focus</a:t>
            </a:r>
            <a:r>
              <a:rPr lang="en-GB" altLang="zh-CN" sz="2000" dirty="0"/>
              <a:t>: Limited to meteorological observations</a:t>
            </a:r>
          </a:p>
          <a:p>
            <a:endParaRPr lang="en-GB" altLang="zh-CN" sz="2000" dirty="0"/>
          </a:p>
          <a:p>
            <a:pPr marL="285750" indent="-285750">
              <a:buFont typeface="Arial" panose="020B0604020202020204" pitchFamily="34" charset="0"/>
              <a:buChar char="•"/>
            </a:pPr>
            <a:r>
              <a:rPr lang="en-GB" altLang="zh-CN" sz="2000" b="1" dirty="0"/>
              <a:t>Model Architecture Issues</a:t>
            </a:r>
          </a:p>
          <a:p>
            <a:pPr lvl="1"/>
            <a:r>
              <a:rPr lang="en-GB" altLang="zh-CN" sz="2000" b="1" dirty="0"/>
              <a:t>Spatial neglect</a:t>
            </a:r>
            <a:r>
              <a:rPr lang="en-GB" altLang="zh-CN" sz="2000" dirty="0"/>
              <a:t>: Temporal </a:t>
            </a:r>
            <a:r>
              <a:rPr lang="en-GB" altLang="zh-CN" sz="2000" dirty="0" err="1"/>
              <a:t>modeling</a:t>
            </a:r>
            <a:r>
              <a:rPr lang="en-GB" altLang="zh-CN" sz="2000" dirty="0"/>
              <a:t> only, missing spatial correlations</a:t>
            </a:r>
          </a:p>
          <a:p>
            <a:pPr lvl="1"/>
            <a:r>
              <a:rPr lang="en-GB" altLang="zh-CN" sz="2000" b="1" dirty="0"/>
              <a:t>Computational burden</a:t>
            </a:r>
            <a:r>
              <a:rPr lang="en-GB" altLang="zh-CN" sz="2000" dirty="0"/>
              <a:t>: CEEMDAN overhead affects real-time applications</a:t>
            </a:r>
          </a:p>
          <a:p>
            <a:endParaRPr lang="en-GB" altLang="zh-CN" sz="2000" dirty="0"/>
          </a:p>
          <a:p>
            <a:pPr marL="285750" indent="-285750">
              <a:buFont typeface="Arial" panose="020B0604020202020204" pitchFamily="34" charset="0"/>
              <a:buChar char="•"/>
            </a:pPr>
            <a:r>
              <a:rPr lang="en-GB" altLang="zh-CN" sz="2000" b="1" dirty="0"/>
              <a:t>Prediction Scope</a:t>
            </a:r>
          </a:p>
          <a:p>
            <a:pPr lvl="1"/>
            <a:r>
              <a:rPr lang="en-GB" altLang="zh-CN" sz="2000" b="1" dirty="0"/>
              <a:t>Deterministic output</a:t>
            </a:r>
            <a:r>
              <a:rPr lang="en-GB" altLang="zh-CN" sz="2000" dirty="0"/>
              <a:t>: No uncertainty quantification</a:t>
            </a:r>
          </a:p>
          <a:p>
            <a:pPr lvl="1"/>
            <a:r>
              <a:rPr lang="en-GB" altLang="zh-CN" sz="2000" b="1" dirty="0"/>
              <a:t>Short-term focus</a:t>
            </a:r>
            <a:r>
              <a:rPr lang="en-GB" altLang="zh-CN" sz="2000" dirty="0"/>
              <a:t>: Limited long-term forecasting validation</a:t>
            </a:r>
          </a:p>
          <a:p>
            <a:endParaRPr lang="en-GB" altLang="zh-CN" sz="2000" dirty="0"/>
          </a:p>
          <a:p>
            <a:pPr marL="285750" indent="-285750">
              <a:buFont typeface="Arial" panose="020B0604020202020204" pitchFamily="34" charset="0"/>
              <a:buChar char="•"/>
            </a:pPr>
            <a:r>
              <a:rPr lang="en-GB" altLang="zh-CN" sz="2000" b="1" dirty="0"/>
              <a:t>Practical Deployment</a:t>
            </a:r>
          </a:p>
          <a:p>
            <a:pPr lvl="1"/>
            <a:r>
              <a:rPr lang="en-GB" altLang="zh-CN" sz="2000" b="1" dirty="0"/>
              <a:t>Complex maintenance</a:t>
            </a:r>
            <a:r>
              <a:rPr lang="en-GB" altLang="zh-CN" sz="2000" dirty="0"/>
              <a:t>: Multiple IMF models increase operational complexity</a:t>
            </a:r>
          </a:p>
        </p:txBody>
      </p:sp>
      <p:pic>
        <p:nvPicPr>
          <p:cNvPr id="32770" name="Picture 2" descr="Limitation Vector Art, Icons, and ...">
            <a:extLst>
              <a:ext uri="{FF2B5EF4-FFF2-40B4-BE49-F238E27FC236}">
                <a16:creationId xmlns:a16="http://schemas.microsoft.com/office/drawing/2014/main" id="{8D151064-1C19-BB26-0365-53408EFA37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1824" y="255259"/>
            <a:ext cx="3572241" cy="2377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11805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C0EFB-8233-67B4-25E1-EAA46ABC16BC}"/>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9B4436D8-0C61-C174-BBA8-4A44A88A9E17}"/>
              </a:ext>
            </a:extLst>
          </p:cNvPr>
          <p:cNvSpPr txBox="1"/>
          <p:nvPr/>
        </p:nvSpPr>
        <p:spPr>
          <a:xfrm>
            <a:off x="387935" y="245241"/>
            <a:ext cx="9119730" cy="584775"/>
          </a:xfrm>
          <a:prstGeom prst="rect">
            <a:avLst/>
          </a:prstGeom>
          <a:noFill/>
        </p:spPr>
        <p:txBody>
          <a:bodyPr wrap="square">
            <a:spAutoFit/>
          </a:bodyPr>
          <a:lstStyle/>
          <a:p>
            <a:r>
              <a:rPr lang="en-GB" altLang="zh-CN" sz="3200" b="1"/>
              <a:t>Future Research Directions</a:t>
            </a:r>
            <a:endParaRPr lang="zh-CN" altLang="en-US" sz="2000" b="1" dirty="0"/>
          </a:p>
        </p:txBody>
      </p:sp>
      <p:sp>
        <p:nvSpPr>
          <p:cNvPr id="6" name="文本框 5">
            <a:extLst>
              <a:ext uri="{FF2B5EF4-FFF2-40B4-BE49-F238E27FC236}">
                <a16:creationId xmlns:a16="http://schemas.microsoft.com/office/drawing/2014/main" id="{EA85B71D-8B61-99F8-81D9-7C06C66561CF}"/>
              </a:ext>
            </a:extLst>
          </p:cNvPr>
          <p:cNvSpPr txBox="1"/>
          <p:nvPr/>
        </p:nvSpPr>
        <p:spPr>
          <a:xfrm>
            <a:off x="669289" y="1015987"/>
            <a:ext cx="11522711" cy="512294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GB" altLang="zh-CN" sz="2000" b="1" dirty="0"/>
              <a:t>Data Enhancement</a:t>
            </a:r>
          </a:p>
          <a:p>
            <a:pPr lvl="1">
              <a:lnSpc>
                <a:spcPct val="150000"/>
              </a:lnSpc>
            </a:pPr>
            <a:r>
              <a:rPr lang="en-GB" altLang="zh-CN" sz="2000" b="1" dirty="0"/>
              <a:t>Climate oscillations</a:t>
            </a:r>
            <a:r>
              <a:rPr lang="en-GB" altLang="zh-CN" sz="2000" dirty="0"/>
              <a:t>: Integrate ENSO, IOD systems</a:t>
            </a:r>
          </a:p>
          <a:p>
            <a:pPr lvl="1">
              <a:lnSpc>
                <a:spcPct val="150000"/>
              </a:lnSpc>
            </a:pPr>
            <a:r>
              <a:rPr lang="en-GB" altLang="zh-CN" sz="2000" b="1" dirty="0"/>
              <a:t>Multi-source fusion</a:t>
            </a:r>
            <a:r>
              <a:rPr lang="en-GB" altLang="zh-CN" sz="2000" dirty="0"/>
              <a:t>: External signal incorporation</a:t>
            </a:r>
          </a:p>
          <a:p>
            <a:pPr>
              <a:lnSpc>
                <a:spcPct val="150000"/>
              </a:lnSpc>
            </a:pPr>
            <a:endParaRPr lang="en-GB" altLang="zh-CN" sz="2000" dirty="0"/>
          </a:p>
          <a:p>
            <a:pPr marL="285750" indent="-285750">
              <a:lnSpc>
                <a:spcPct val="150000"/>
              </a:lnSpc>
              <a:buFont typeface="Arial" panose="020B0604020202020204" pitchFamily="34" charset="0"/>
              <a:buChar char="•"/>
            </a:pPr>
            <a:r>
              <a:rPr lang="en-GB" altLang="zh-CN" sz="2000" b="1" dirty="0"/>
              <a:t>Model Architecture</a:t>
            </a:r>
          </a:p>
          <a:p>
            <a:pPr lvl="1">
              <a:lnSpc>
                <a:spcPct val="150000"/>
              </a:lnSpc>
            </a:pPr>
            <a:r>
              <a:rPr lang="en-GB" altLang="zh-CN" sz="2000" b="1" dirty="0"/>
              <a:t>Spatial </a:t>
            </a:r>
            <a:r>
              <a:rPr lang="en-GB" altLang="zh-CN" sz="2000" b="1" dirty="0" err="1"/>
              <a:t>modeling</a:t>
            </a:r>
            <a:r>
              <a:rPr lang="en-GB" altLang="zh-CN" sz="2000" dirty="0"/>
              <a:t>: Graph neural networks, spatial attention</a:t>
            </a:r>
          </a:p>
          <a:p>
            <a:pPr lvl="1">
              <a:lnSpc>
                <a:spcPct val="150000"/>
              </a:lnSpc>
            </a:pPr>
            <a:r>
              <a:rPr lang="en-GB" altLang="zh-CN" sz="2000" b="1" dirty="0"/>
              <a:t>Efficiency optimization</a:t>
            </a:r>
            <a:r>
              <a:rPr lang="en-GB" altLang="zh-CN" sz="2000" dirty="0"/>
              <a:t>: Parallel computing, faster algorithms</a:t>
            </a:r>
          </a:p>
          <a:p>
            <a:pPr>
              <a:lnSpc>
                <a:spcPct val="150000"/>
              </a:lnSpc>
            </a:pPr>
            <a:endParaRPr lang="en-GB" altLang="zh-CN" sz="2000" dirty="0"/>
          </a:p>
          <a:p>
            <a:pPr marL="285750" indent="-285750">
              <a:lnSpc>
                <a:spcPct val="150000"/>
              </a:lnSpc>
              <a:buFont typeface="Arial" panose="020B0604020202020204" pitchFamily="34" charset="0"/>
              <a:buChar char="•"/>
            </a:pPr>
            <a:r>
              <a:rPr lang="en-GB" altLang="zh-CN" sz="2000" b="1" dirty="0"/>
              <a:t>System Intelligence</a:t>
            </a:r>
          </a:p>
          <a:p>
            <a:pPr lvl="1">
              <a:lnSpc>
                <a:spcPct val="150000"/>
              </a:lnSpc>
            </a:pPr>
            <a:r>
              <a:rPr lang="en-GB" altLang="zh-CN" sz="2000" b="1" dirty="0"/>
              <a:t>Adaptive selection</a:t>
            </a:r>
            <a:r>
              <a:rPr lang="en-GB" altLang="zh-CN" sz="2000" dirty="0"/>
              <a:t>: Automated architecture optimization</a:t>
            </a:r>
          </a:p>
          <a:p>
            <a:pPr lvl="1">
              <a:lnSpc>
                <a:spcPct val="150000"/>
              </a:lnSpc>
            </a:pPr>
            <a:r>
              <a:rPr lang="en-GB" altLang="zh-CN" sz="2000" b="1" dirty="0"/>
              <a:t>Intelligent frameworks</a:t>
            </a:r>
            <a:r>
              <a:rPr lang="en-GB" altLang="zh-CN" sz="2000" dirty="0"/>
              <a:t>: Data-driven model configuration</a:t>
            </a:r>
          </a:p>
        </p:txBody>
      </p:sp>
      <p:pic>
        <p:nvPicPr>
          <p:cNvPr id="2" name="图片 1">
            <a:extLst>
              <a:ext uri="{FF2B5EF4-FFF2-40B4-BE49-F238E27FC236}">
                <a16:creationId xmlns:a16="http://schemas.microsoft.com/office/drawing/2014/main" id="{886EA7E3-FF9E-DA13-2AB9-9FEE393E5B8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8595945" y="2033954"/>
            <a:ext cx="2790092" cy="2790092"/>
          </a:xfrm>
          <a:prstGeom prst="rect">
            <a:avLst/>
          </a:prstGeom>
        </p:spPr>
      </p:pic>
    </p:spTree>
    <p:extLst>
      <p:ext uri="{BB962C8B-B14F-4D97-AF65-F5344CB8AC3E}">
        <p14:creationId xmlns:p14="http://schemas.microsoft.com/office/powerpoint/2010/main" val="17731269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602C3-F928-FA81-26BA-7A9A900DB4A4}"/>
            </a:ext>
          </a:extLst>
        </p:cNvPr>
        <p:cNvGrpSpPr/>
        <p:nvPr/>
      </p:nvGrpSpPr>
      <p:grpSpPr>
        <a:xfrm>
          <a:off x="0" y="0"/>
          <a:ext cx="0" cy="0"/>
          <a:chOff x="0" y="0"/>
          <a:chExt cx="0" cy="0"/>
        </a:xfrm>
      </p:grpSpPr>
      <p:sp>
        <p:nvSpPr>
          <p:cNvPr id="5" name="半闭框 4">
            <a:extLst>
              <a:ext uri="{FF2B5EF4-FFF2-40B4-BE49-F238E27FC236}">
                <a16:creationId xmlns:a16="http://schemas.microsoft.com/office/drawing/2014/main" id="{02BEB820-76B3-BB57-EDFD-797D874B427A}"/>
              </a:ext>
            </a:extLst>
          </p:cNvPr>
          <p:cNvSpPr/>
          <p:nvPr/>
        </p:nvSpPr>
        <p:spPr>
          <a:xfrm>
            <a:off x="0" y="285115"/>
            <a:ext cx="914400" cy="914400"/>
          </a:xfrm>
          <a:prstGeom prst="halfFrame">
            <a:avLst/>
          </a:prstGeom>
          <a:solidFill>
            <a:srgbClr val="1F2E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汉仪宋韵朗黑W" panose="00020600040101010101" charset="-122"/>
              <a:ea typeface="汉仪宋韵朗黑W" panose="00020600040101010101" charset="-122"/>
              <a:cs typeface="汉仪宋韵朗黑W" panose="00020600040101010101" charset="-122"/>
            </a:endParaRPr>
          </a:p>
        </p:txBody>
      </p:sp>
      <p:sp>
        <p:nvSpPr>
          <p:cNvPr id="7" name="矩形 6">
            <a:extLst>
              <a:ext uri="{FF2B5EF4-FFF2-40B4-BE49-F238E27FC236}">
                <a16:creationId xmlns:a16="http://schemas.microsoft.com/office/drawing/2014/main" id="{EA268105-F411-7437-18BD-AA8059A2D846}"/>
              </a:ext>
            </a:extLst>
          </p:cNvPr>
          <p:cNvSpPr/>
          <p:nvPr/>
        </p:nvSpPr>
        <p:spPr>
          <a:xfrm flipH="1">
            <a:off x="3944620" y="285115"/>
            <a:ext cx="7998460" cy="231140"/>
          </a:xfrm>
          <a:prstGeom prst="rect">
            <a:avLst/>
          </a:prstGeom>
          <a:solidFill>
            <a:srgbClr val="1F2E3F"/>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宋韵朗黑W" panose="00020600040101010101" charset="-122"/>
              <a:ea typeface="汉仪宋韵朗黑W" panose="00020600040101010101" charset="-122"/>
              <a:cs typeface="汉仪宋韵朗黑W" panose="00020600040101010101" charset="-122"/>
            </a:endParaRPr>
          </a:p>
        </p:txBody>
      </p:sp>
      <p:sp>
        <p:nvSpPr>
          <p:cNvPr id="8" name="矩形 7">
            <a:extLst>
              <a:ext uri="{FF2B5EF4-FFF2-40B4-BE49-F238E27FC236}">
                <a16:creationId xmlns:a16="http://schemas.microsoft.com/office/drawing/2014/main" id="{09C97DBA-E5DF-9D18-9211-375CC22E554D}"/>
              </a:ext>
            </a:extLst>
          </p:cNvPr>
          <p:cNvSpPr/>
          <p:nvPr/>
        </p:nvSpPr>
        <p:spPr>
          <a:xfrm flipH="1">
            <a:off x="0" y="6337300"/>
            <a:ext cx="7998460" cy="231140"/>
          </a:xfrm>
          <a:prstGeom prst="rect">
            <a:avLst/>
          </a:prstGeom>
          <a:solidFill>
            <a:srgbClr val="1F2E3F"/>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宋韵朗黑W" panose="00020600040101010101" charset="-122"/>
              <a:ea typeface="汉仪宋韵朗黑W" panose="00020600040101010101" charset="-122"/>
              <a:cs typeface="汉仪宋韵朗黑W" panose="00020600040101010101" charset="-122"/>
            </a:endParaRPr>
          </a:p>
        </p:txBody>
      </p:sp>
      <p:sp>
        <p:nvSpPr>
          <p:cNvPr id="9" name="半闭框 8">
            <a:extLst>
              <a:ext uri="{FF2B5EF4-FFF2-40B4-BE49-F238E27FC236}">
                <a16:creationId xmlns:a16="http://schemas.microsoft.com/office/drawing/2014/main" id="{E5F9731A-F223-4F39-DEC9-E57854261C6D}"/>
              </a:ext>
            </a:extLst>
          </p:cNvPr>
          <p:cNvSpPr/>
          <p:nvPr/>
        </p:nvSpPr>
        <p:spPr>
          <a:xfrm rot="5400000" flipH="1">
            <a:off x="11028680" y="5738495"/>
            <a:ext cx="914400" cy="914400"/>
          </a:xfrm>
          <a:prstGeom prst="halfFrame">
            <a:avLst/>
          </a:prstGeom>
          <a:solidFill>
            <a:srgbClr val="1F2E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汉仪宋韵朗黑W" panose="00020600040101010101" charset="-122"/>
              <a:ea typeface="汉仪宋韵朗黑W" panose="00020600040101010101" charset="-122"/>
              <a:cs typeface="汉仪宋韵朗黑W" panose="00020600040101010101" charset="-122"/>
            </a:endParaRPr>
          </a:p>
        </p:txBody>
      </p:sp>
      <p:sp>
        <p:nvSpPr>
          <p:cNvPr id="2" name="文本框 1">
            <a:extLst>
              <a:ext uri="{FF2B5EF4-FFF2-40B4-BE49-F238E27FC236}">
                <a16:creationId xmlns:a16="http://schemas.microsoft.com/office/drawing/2014/main" id="{FB051029-A418-AE05-42BE-BF855AD39347}"/>
              </a:ext>
            </a:extLst>
          </p:cNvPr>
          <p:cNvSpPr txBox="1"/>
          <p:nvPr/>
        </p:nvSpPr>
        <p:spPr>
          <a:xfrm>
            <a:off x="2022079" y="2641947"/>
            <a:ext cx="3327874" cy="1569660"/>
          </a:xfrm>
          <a:prstGeom prst="rect">
            <a:avLst/>
          </a:prstGeom>
          <a:noFill/>
        </p:spPr>
        <p:txBody>
          <a:bodyPr wrap="square" rtlCol="0">
            <a:spAutoFit/>
          </a:bodyPr>
          <a:lstStyle/>
          <a:p>
            <a:r>
              <a:rPr lang="en-US" altLang="zh-CN" sz="4800" b="1" dirty="0"/>
              <a:t>REFERENCE LIST</a:t>
            </a:r>
          </a:p>
        </p:txBody>
      </p:sp>
      <p:pic>
        <p:nvPicPr>
          <p:cNvPr id="18436" name="Picture 4">
            <a:extLst>
              <a:ext uri="{FF2B5EF4-FFF2-40B4-BE49-F238E27FC236}">
                <a16:creationId xmlns:a16="http://schemas.microsoft.com/office/drawing/2014/main" id="{92190572-CD6C-5D5E-02EC-4A004501EE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6842048" y="1903283"/>
            <a:ext cx="3076364" cy="30763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5804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76370-C154-C680-7537-42F3DAEBDC36}"/>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4A31D288-F2CD-7058-402A-ABBC3C40734C}"/>
              </a:ext>
            </a:extLst>
          </p:cNvPr>
          <p:cNvSpPr txBox="1"/>
          <p:nvPr/>
        </p:nvSpPr>
        <p:spPr>
          <a:xfrm>
            <a:off x="832513" y="1499262"/>
            <a:ext cx="10631606" cy="4878259"/>
          </a:xfrm>
          <a:prstGeom prst="rect">
            <a:avLst/>
          </a:prstGeom>
          <a:noFill/>
        </p:spPr>
        <p:txBody>
          <a:bodyPr wrap="square">
            <a:spAutoFit/>
          </a:bodyPr>
          <a:lstStyle/>
          <a:p>
            <a:pPr>
              <a:spcBef>
                <a:spcPts val="600"/>
              </a:spcBef>
              <a:buNone/>
            </a:pPr>
            <a:r>
              <a:rPr lang="en-US" altLang="zh-CN" sz="1400" dirty="0">
                <a:effectLst/>
                <a:latin typeface="Times New Roman" panose="02020603050405020304" pitchFamily="18" charset="0"/>
                <a:ea typeface="宋体" panose="02010600030101010101" pitchFamily="2" charset="-122"/>
                <a:cs typeface="宋体" panose="02010600030101010101" pitchFamily="2" charset="-122"/>
              </a:rPr>
              <a:t>[1] Intergovernmental Panel on Climate Change (IPCC). (2023). </a:t>
            </a:r>
            <a:r>
              <a:rPr lang="en-US" altLang="zh-CN" sz="1400" i="1" dirty="0">
                <a:effectLst/>
                <a:latin typeface="Times New Roman" panose="02020603050405020304" pitchFamily="18" charset="0"/>
                <a:ea typeface="宋体" panose="02010600030101010101" pitchFamily="2" charset="-122"/>
                <a:cs typeface="宋体" panose="02010600030101010101" pitchFamily="2" charset="-122"/>
              </a:rPr>
              <a:t>Climate change 2023: Synthesis report – Summary for policymakers</a:t>
            </a:r>
            <a:r>
              <a:rPr lang="en-US" altLang="zh-CN" sz="1400" dirty="0">
                <a:effectLst/>
                <a:latin typeface="Times New Roman" panose="02020603050405020304" pitchFamily="18" charset="0"/>
                <a:ea typeface="宋体" panose="02010600030101010101" pitchFamily="2" charset="-122"/>
                <a:cs typeface="宋体" panose="02010600030101010101" pitchFamily="2" charset="-122"/>
              </a:rPr>
              <a:t>. https://www.ipcc.ch/report/sixth-assessment-report-synthesis-report/</a:t>
            </a:r>
            <a:endParaRPr lang="zh-CN" altLang="zh-CN" sz="1400" dirty="0">
              <a:effectLst/>
              <a:latin typeface="宋体" panose="02010600030101010101" pitchFamily="2" charset="-122"/>
              <a:ea typeface="宋体" panose="02010600030101010101" pitchFamily="2" charset="-122"/>
              <a:cs typeface="宋体" panose="02010600030101010101" pitchFamily="2" charset="-122"/>
            </a:endParaRPr>
          </a:p>
          <a:p>
            <a:pPr>
              <a:spcBef>
                <a:spcPts val="600"/>
              </a:spcBef>
              <a:buNone/>
            </a:pPr>
            <a:r>
              <a:rPr lang="en-US" altLang="zh-CN" sz="1400" dirty="0">
                <a:effectLst/>
                <a:latin typeface="Times New Roman" panose="02020603050405020304" pitchFamily="18" charset="0"/>
                <a:ea typeface="宋体" panose="02010600030101010101" pitchFamily="2" charset="-122"/>
                <a:cs typeface="宋体" panose="02010600030101010101" pitchFamily="2" charset="-122"/>
              </a:rPr>
              <a:t>[2] Muhammad, M. K. I., Hamed, M. M., Harun, S., &amp; Mohd, N. (2024). Heatwaves in Peninsular Malaysia: A spatiotemporal analysis. </a:t>
            </a:r>
            <a:r>
              <a:rPr lang="en-US" altLang="zh-CN" sz="1400" i="1" dirty="0">
                <a:effectLst/>
                <a:latin typeface="Times New Roman" panose="02020603050405020304" pitchFamily="18" charset="0"/>
                <a:ea typeface="宋体" panose="02010600030101010101" pitchFamily="2" charset="-122"/>
                <a:cs typeface="宋体" panose="02010600030101010101" pitchFamily="2" charset="-122"/>
              </a:rPr>
              <a:t>Scientific Reports, 14</a:t>
            </a:r>
            <a:r>
              <a:rPr lang="en-US" altLang="zh-CN" sz="1400" dirty="0">
                <a:effectLst/>
                <a:latin typeface="Times New Roman" panose="02020603050405020304" pitchFamily="18" charset="0"/>
                <a:ea typeface="宋体" panose="02010600030101010101" pitchFamily="2" charset="-122"/>
                <a:cs typeface="宋体" panose="02010600030101010101" pitchFamily="2" charset="-122"/>
              </a:rPr>
              <a:t>, 4255. https://doi.org/10.1038/s41598-024-42911-1</a:t>
            </a:r>
            <a:endParaRPr lang="zh-CN" altLang="zh-CN" sz="1400" dirty="0">
              <a:effectLst/>
              <a:latin typeface="宋体" panose="02010600030101010101" pitchFamily="2" charset="-122"/>
              <a:ea typeface="宋体" panose="02010600030101010101" pitchFamily="2" charset="-122"/>
              <a:cs typeface="宋体" panose="02010600030101010101" pitchFamily="2" charset="-122"/>
            </a:endParaRPr>
          </a:p>
          <a:p>
            <a:pPr>
              <a:spcBef>
                <a:spcPts val="600"/>
              </a:spcBef>
              <a:buNone/>
            </a:pPr>
            <a:r>
              <a:rPr lang="en-US" altLang="zh-CN" sz="1400" dirty="0">
                <a:effectLst/>
                <a:latin typeface="Times New Roman" panose="02020603050405020304" pitchFamily="18" charset="0"/>
                <a:ea typeface="宋体" panose="02010600030101010101" pitchFamily="2" charset="-122"/>
                <a:cs typeface="宋体" panose="02010600030101010101" pitchFamily="2" charset="-122"/>
              </a:rPr>
              <a:t>[3] World Meteorological Organization (WMO). (2022, November 11). </a:t>
            </a:r>
            <a:r>
              <a:rPr lang="en-US" altLang="zh-CN" sz="1400" i="1" dirty="0">
                <a:effectLst/>
                <a:latin typeface="Times New Roman" panose="02020603050405020304" pitchFamily="18" charset="0"/>
                <a:ea typeface="宋体" panose="02010600030101010101" pitchFamily="2" charset="-122"/>
                <a:cs typeface="宋体" panose="02010600030101010101" pitchFamily="2" charset="-122"/>
              </a:rPr>
              <a:t>Economic losses from extreme weather rocket in Asia</a:t>
            </a:r>
            <a:r>
              <a:rPr lang="en-US" altLang="zh-CN" sz="1400" dirty="0">
                <a:effectLst/>
                <a:latin typeface="Times New Roman" panose="02020603050405020304" pitchFamily="18" charset="0"/>
                <a:ea typeface="宋体" panose="02010600030101010101" pitchFamily="2" charset="-122"/>
                <a:cs typeface="宋体" panose="02010600030101010101" pitchFamily="2" charset="-122"/>
              </a:rPr>
              <a:t>. https://public.wmo.int/en/media/press-release/economic-losses-extreme-weather-rocket-asia-wmo</a:t>
            </a:r>
            <a:endParaRPr lang="zh-CN" altLang="zh-CN" sz="1400" dirty="0">
              <a:effectLst/>
              <a:latin typeface="宋体" panose="02010600030101010101" pitchFamily="2" charset="-122"/>
              <a:ea typeface="宋体" panose="02010600030101010101" pitchFamily="2" charset="-122"/>
              <a:cs typeface="宋体" panose="02010600030101010101" pitchFamily="2" charset="-122"/>
            </a:endParaRPr>
          </a:p>
          <a:p>
            <a:pPr>
              <a:spcBef>
                <a:spcPts val="600"/>
              </a:spcBef>
              <a:buNone/>
            </a:pPr>
            <a:r>
              <a:rPr lang="en-US" altLang="zh-CN" sz="1400" dirty="0">
                <a:effectLst/>
                <a:latin typeface="Times New Roman" panose="02020603050405020304" pitchFamily="18" charset="0"/>
                <a:ea typeface="宋体" panose="02010600030101010101" pitchFamily="2" charset="-122"/>
                <a:cs typeface="宋体" panose="02010600030101010101" pitchFamily="2" charset="-122"/>
              </a:rPr>
              <a:t>[4] World Bank. (2021). </a:t>
            </a:r>
            <a:r>
              <a:rPr lang="en-US" altLang="zh-CN" sz="1400" i="1" dirty="0">
                <a:effectLst/>
                <a:latin typeface="Times New Roman" panose="02020603050405020304" pitchFamily="18" charset="0"/>
                <a:ea typeface="宋体" panose="02010600030101010101" pitchFamily="2" charset="-122"/>
                <a:cs typeface="宋体" panose="02010600030101010101" pitchFamily="2" charset="-122"/>
              </a:rPr>
              <a:t>Climate risk country profile: Malaysia</a:t>
            </a:r>
            <a:r>
              <a:rPr lang="en-US" altLang="zh-CN" sz="1400" dirty="0">
                <a:effectLst/>
                <a:latin typeface="Times New Roman" panose="02020603050405020304" pitchFamily="18" charset="0"/>
                <a:ea typeface="宋体" panose="02010600030101010101" pitchFamily="2" charset="-122"/>
                <a:cs typeface="宋体" panose="02010600030101010101" pitchFamily="2" charset="-122"/>
              </a:rPr>
              <a:t>. https://climateknowledgeportal.worldbank.org/country/malaysia/climate-data-projections</a:t>
            </a:r>
            <a:endParaRPr lang="zh-CN" altLang="zh-CN" sz="1400" dirty="0">
              <a:effectLst/>
              <a:latin typeface="宋体" panose="02010600030101010101" pitchFamily="2" charset="-122"/>
              <a:ea typeface="宋体" panose="02010600030101010101" pitchFamily="2" charset="-122"/>
              <a:cs typeface="宋体" panose="02010600030101010101" pitchFamily="2" charset="-122"/>
            </a:endParaRPr>
          </a:p>
          <a:p>
            <a:pPr>
              <a:spcBef>
                <a:spcPts val="600"/>
              </a:spcBef>
              <a:buNone/>
            </a:pPr>
            <a:r>
              <a:rPr lang="en-US" altLang="zh-CN" sz="1400" dirty="0">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[6] Camps-Valls, G., Fernández-Torres, M. Á., Cohrs, K. H., </a:t>
            </a:r>
            <a:r>
              <a:rPr lang="en-US" altLang="zh-CN" sz="1400" dirty="0" err="1">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Höhl</a:t>
            </a:r>
            <a:r>
              <a:rPr lang="en-US" altLang="zh-CN" sz="1400" dirty="0">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 A., Castelletti, A., Pacal, A., … Williams, T. (2025). Artificial intelligence for modeling and understanding extreme weather and climate events. </a:t>
            </a:r>
            <a:r>
              <a:rPr lang="en-US" altLang="zh-CN" sz="1400" i="1" dirty="0">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Nature Communications, 16</a:t>
            </a:r>
            <a:r>
              <a:rPr lang="en-US" altLang="zh-CN" sz="1400" dirty="0">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 1919. https://doi.org/10.1038/s41467-025-56573-8</a:t>
            </a:r>
            <a:endParaRPr lang="zh-CN" altLang="zh-CN" sz="1400" dirty="0">
              <a:effectLst/>
              <a:latin typeface="Times New Roman" panose="02020603050405020304" pitchFamily="18" charset="0"/>
              <a:ea typeface="等线" panose="02010600030101010101" pitchFamily="2" charset="-122"/>
              <a:cs typeface="宋体" panose="02010600030101010101" pitchFamily="2" charset="-122"/>
            </a:endParaRPr>
          </a:p>
          <a:p>
            <a:pPr>
              <a:spcBef>
                <a:spcPts val="600"/>
              </a:spcBef>
              <a:buNone/>
            </a:pPr>
            <a:r>
              <a:rPr lang="en-US" altLang="zh-CN" sz="1400" dirty="0">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[7] World Meteorological Organization (WMO). (2024, April 23). </a:t>
            </a:r>
            <a:r>
              <a:rPr lang="en-US" altLang="zh-CN" sz="1400" i="1" dirty="0">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Climate change and extreme weather impacts hit Asia hard</a:t>
            </a:r>
            <a:r>
              <a:rPr lang="en-US" altLang="zh-CN" sz="1400" dirty="0">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 [Press release]. https://public.wmo.int/en/media-centre/press-release/climate-change-and-extreme-weather-impacts-hit-asia-hard</a:t>
            </a:r>
            <a:endParaRPr lang="zh-CN" altLang="zh-CN" sz="1400" dirty="0">
              <a:effectLst/>
              <a:latin typeface="Times New Roman" panose="02020603050405020304" pitchFamily="18" charset="0"/>
              <a:ea typeface="等线" panose="02010600030101010101" pitchFamily="2" charset="-122"/>
              <a:cs typeface="宋体" panose="02010600030101010101" pitchFamily="2" charset="-122"/>
            </a:endParaRPr>
          </a:p>
          <a:p>
            <a:pPr>
              <a:spcBef>
                <a:spcPts val="600"/>
              </a:spcBef>
              <a:buNone/>
            </a:pPr>
            <a:r>
              <a:rPr lang="en-US" altLang="zh-CN" sz="1400" dirty="0">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[8] Verma, S., Srivastava, K., Tiwari, A., &amp; Verma, S. (2023). Deep learning techniques in extreme weather events: A review. </a:t>
            </a:r>
            <a:r>
              <a:rPr lang="en-US" altLang="zh-CN" sz="1400" i="1" dirty="0" err="1">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arXiv</a:t>
            </a:r>
            <a:r>
              <a:rPr lang="en-US" altLang="zh-CN" sz="1400" i="1" dirty="0">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 preprint arXiv:2308.10995</a:t>
            </a:r>
            <a:r>
              <a:rPr lang="en-US" altLang="zh-CN" sz="1400" dirty="0">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 https://arxiv.org/abs/2308.10995</a:t>
            </a:r>
          </a:p>
          <a:p>
            <a:pPr>
              <a:spcBef>
                <a:spcPts val="600"/>
              </a:spcBef>
              <a:buNone/>
            </a:pPr>
            <a:r>
              <a:rPr lang="en-US" altLang="zh-CN" sz="1400" dirty="0">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[9] Islam, T., Mazumder, T., Roni, M. N. S., &amp; Nur, M. S. (2024). A comparative study of machine learning models for predicting Aman rice yields in Bangladesh. </a:t>
            </a:r>
            <a:r>
              <a:rPr lang="en-US" altLang="zh-CN" sz="1400" i="1" dirty="0" err="1">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Heliyon</a:t>
            </a:r>
            <a:r>
              <a:rPr lang="en-US" altLang="zh-CN" sz="1400" i="1" dirty="0">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 10</a:t>
            </a:r>
            <a:r>
              <a:rPr lang="en-US" altLang="zh-CN" sz="1400" dirty="0">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(23), e40764. https://doi.org/10.1016/j.heliyon.2024.e40764</a:t>
            </a:r>
            <a:endParaRPr lang="zh-CN" altLang="zh-CN" sz="1400" dirty="0">
              <a:effectLst/>
              <a:latin typeface="Times New Roman" panose="02020603050405020304" pitchFamily="18" charset="0"/>
              <a:ea typeface="等线" panose="02010600030101010101" pitchFamily="2" charset="-122"/>
              <a:cs typeface="宋体" panose="02010600030101010101" pitchFamily="2" charset="-122"/>
            </a:endParaRPr>
          </a:p>
          <a:p>
            <a:pPr>
              <a:spcBef>
                <a:spcPts val="600"/>
              </a:spcBef>
              <a:buNone/>
            </a:pPr>
            <a:r>
              <a:rPr lang="en-US" altLang="zh-CN" sz="1400" dirty="0">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[10] Kumar, V., Kedam, N., Sharma, K. V., </a:t>
            </a:r>
            <a:r>
              <a:rPr lang="en-US" altLang="zh-CN" sz="1400" dirty="0" err="1">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Khedher</a:t>
            </a:r>
            <a:r>
              <a:rPr lang="en-US" altLang="zh-CN" sz="1400" dirty="0">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 K. M., &amp; </a:t>
            </a:r>
            <a:r>
              <a:rPr lang="en-US" altLang="zh-CN" sz="1400" dirty="0" err="1">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Alluqmani</a:t>
            </a:r>
            <a:r>
              <a:rPr lang="en-US" altLang="zh-CN" sz="1400" dirty="0">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 A. E. (2023). A comparison of machine learning models for predicting rainfall in urban metropolitan cities. </a:t>
            </a:r>
            <a:r>
              <a:rPr lang="en-US" altLang="zh-CN" sz="1400" i="1" dirty="0">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Sustainability, 15</a:t>
            </a:r>
            <a:r>
              <a:rPr lang="en-US" altLang="zh-CN" sz="1400" dirty="0">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(18), 13724. https://doi.org/10.3390/su151813724</a:t>
            </a:r>
            <a:endParaRPr lang="zh-CN" altLang="zh-CN" sz="1400" dirty="0">
              <a:effectLst/>
              <a:latin typeface="Times New Roman" panose="02020603050405020304" pitchFamily="18" charset="0"/>
              <a:ea typeface="等线" panose="02010600030101010101" pitchFamily="2" charset="-122"/>
              <a:cs typeface="宋体" panose="02010600030101010101" pitchFamily="2" charset="-122"/>
            </a:endParaRPr>
          </a:p>
          <a:p>
            <a:pPr>
              <a:spcBef>
                <a:spcPts val="600"/>
              </a:spcBef>
              <a:spcAft>
                <a:spcPts val="600"/>
              </a:spcAft>
              <a:buNone/>
            </a:pPr>
            <a:endParaRPr lang="zh-CN" altLang="zh-CN" sz="1400" dirty="0">
              <a:effectLst/>
              <a:latin typeface="Times New Roman" panose="02020603050405020304" pitchFamily="18" charset="0"/>
              <a:ea typeface="等线" panose="02010600030101010101" pitchFamily="2" charset="-122"/>
              <a:cs typeface="宋体" panose="02010600030101010101" pitchFamily="2" charset="-122"/>
            </a:endParaRPr>
          </a:p>
        </p:txBody>
      </p:sp>
      <p:sp>
        <p:nvSpPr>
          <p:cNvPr id="14" name="文本框 13">
            <a:extLst>
              <a:ext uri="{FF2B5EF4-FFF2-40B4-BE49-F238E27FC236}">
                <a16:creationId xmlns:a16="http://schemas.microsoft.com/office/drawing/2014/main" id="{6A043998-D422-F464-7273-83E9D69DA25B}"/>
              </a:ext>
            </a:extLst>
          </p:cNvPr>
          <p:cNvSpPr txBox="1"/>
          <p:nvPr/>
        </p:nvSpPr>
        <p:spPr>
          <a:xfrm>
            <a:off x="832513" y="738019"/>
            <a:ext cx="6100548"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altLang="zh-CN" sz="3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Reference list</a:t>
            </a:r>
            <a:endParaRPr kumimoji="0" lang="zh-CN" altLang="en-US" sz="2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7089977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A5DAB-9E08-85E1-D31C-16AC5806ECB2}"/>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282943EA-DB42-03D8-232D-2A4A37E74CA1}"/>
              </a:ext>
            </a:extLst>
          </p:cNvPr>
          <p:cNvSpPr txBox="1"/>
          <p:nvPr/>
        </p:nvSpPr>
        <p:spPr>
          <a:xfrm>
            <a:off x="777921" y="394692"/>
            <a:ext cx="10590663" cy="6463308"/>
          </a:xfrm>
          <a:prstGeom prst="rect">
            <a:avLst/>
          </a:prstGeom>
          <a:noFill/>
        </p:spPr>
        <p:txBody>
          <a:bodyPr wrap="square">
            <a:spAutoFit/>
          </a:bodyPr>
          <a:lstStyle/>
          <a:p>
            <a:pPr>
              <a:spcBef>
                <a:spcPts val="600"/>
              </a:spcBef>
              <a:buNone/>
            </a:pPr>
            <a:r>
              <a:rPr lang="en-US" altLang="zh-CN" sz="1400" dirty="0">
                <a:solidFill>
                  <a:srgbClr val="000000"/>
                </a:solidFill>
                <a:effectLst/>
                <a:latin typeface="Times New Roman" panose="02020603050405020304" pitchFamily="18" charset="0"/>
                <a:ea typeface="等线" panose="02010600030101010101" pitchFamily="2" charset="-122"/>
              </a:rPr>
              <a:t>[11] Wang, T., Tu, X., Singh, V. P., Chen, X., Lin, K., &amp; Zhou, Z. (2023). Drought prediction: Insights from the fusion of LSTM and multi-source factors. </a:t>
            </a:r>
            <a:r>
              <a:rPr lang="en-US" altLang="zh-CN" sz="1400" i="1" dirty="0">
                <a:solidFill>
                  <a:srgbClr val="000000"/>
                </a:solidFill>
                <a:effectLst/>
                <a:latin typeface="Times New Roman" panose="02020603050405020304" pitchFamily="18" charset="0"/>
                <a:ea typeface="等线" panose="02010600030101010101" pitchFamily="2" charset="-122"/>
              </a:rPr>
              <a:t>Science of The Total Environment, 902</a:t>
            </a:r>
            <a:r>
              <a:rPr lang="en-US" altLang="zh-CN" sz="1400" dirty="0">
                <a:solidFill>
                  <a:srgbClr val="000000"/>
                </a:solidFill>
                <a:effectLst/>
                <a:latin typeface="Times New Roman" panose="02020603050405020304" pitchFamily="18" charset="0"/>
                <a:ea typeface="等线" panose="02010600030101010101" pitchFamily="2" charset="-122"/>
              </a:rPr>
              <a:t>, 166361. https://doi.org/10.1016/j.scitotenv.2023.166361</a:t>
            </a:r>
            <a:endParaRPr lang="zh-CN" altLang="zh-CN" sz="1400" dirty="0">
              <a:effectLst/>
              <a:latin typeface="Times New Roman" panose="02020603050405020304" pitchFamily="18" charset="0"/>
              <a:ea typeface="等线" panose="02010600030101010101" pitchFamily="2" charset="-122"/>
            </a:endParaRPr>
          </a:p>
          <a:p>
            <a:pPr>
              <a:spcBef>
                <a:spcPts val="600"/>
              </a:spcBef>
              <a:buNone/>
            </a:pPr>
            <a:r>
              <a:rPr lang="en-US" altLang="zh-CN" sz="1400" dirty="0">
                <a:solidFill>
                  <a:srgbClr val="000000"/>
                </a:solidFill>
                <a:effectLst/>
                <a:latin typeface="Times New Roman" panose="02020603050405020304" pitchFamily="18" charset="0"/>
                <a:ea typeface="等线" panose="02010600030101010101" pitchFamily="2" charset="-122"/>
              </a:rPr>
              <a:t>[12] Zhang, R., Chen, Z.-Y., Xu, L.-J., &amp; Ou, C.-Q. (2019). Meteorological drought forecasting based on a statistical model with machine learning techniques in Shaanxi province, China. </a:t>
            </a:r>
            <a:r>
              <a:rPr lang="en-US" altLang="zh-CN" sz="1400" i="1" dirty="0">
                <a:solidFill>
                  <a:srgbClr val="000000"/>
                </a:solidFill>
                <a:effectLst/>
                <a:latin typeface="Times New Roman" panose="02020603050405020304" pitchFamily="18" charset="0"/>
                <a:ea typeface="等线" panose="02010600030101010101" pitchFamily="2" charset="-122"/>
              </a:rPr>
              <a:t>Science of The Total Environment, 665</a:t>
            </a:r>
            <a:r>
              <a:rPr lang="en-US" altLang="zh-CN" sz="1400" dirty="0">
                <a:solidFill>
                  <a:srgbClr val="000000"/>
                </a:solidFill>
                <a:effectLst/>
                <a:latin typeface="Times New Roman" panose="02020603050405020304" pitchFamily="18" charset="0"/>
                <a:ea typeface="等线" panose="02010600030101010101" pitchFamily="2" charset="-122"/>
              </a:rPr>
              <a:t>, 338–352. https://doi.org/10.1016/j.scitotenv.2019.01.431</a:t>
            </a:r>
            <a:endParaRPr lang="zh-CN" altLang="zh-CN" sz="1400" dirty="0">
              <a:effectLst/>
              <a:latin typeface="Times New Roman" panose="02020603050405020304" pitchFamily="18" charset="0"/>
              <a:ea typeface="等线" panose="02010600030101010101" pitchFamily="2" charset="-122"/>
            </a:endParaRPr>
          </a:p>
          <a:p>
            <a:pPr>
              <a:spcBef>
                <a:spcPts val="600"/>
              </a:spcBef>
              <a:buNone/>
            </a:pPr>
            <a:r>
              <a:rPr lang="en-US" altLang="zh-CN" sz="1400" dirty="0">
                <a:solidFill>
                  <a:srgbClr val="000000"/>
                </a:solidFill>
                <a:effectLst/>
                <a:latin typeface="Times New Roman" panose="02020603050405020304" pitchFamily="18" charset="0"/>
                <a:ea typeface="等线" panose="02010600030101010101" pitchFamily="2" charset="-122"/>
              </a:rPr>
              <a:t>[13] Li, J., Wu, G., Zhang, Y., &amp; Shi, W. (2024). Optimizing flood predictions by integrating LSTM and physical-based models with mixed historical and simulated data. </a:t>
            </a:r>
            <a:r>
              <a:rPr lang="en-US" altLang="zh-CN" sz="1400" i="1" dirty="0" err="1">
                <a:solidFill>
                  <a:srgbClr val="000000"/>
                </a:solidFill>
                <a:effectLst/>
                <a:latin typeface="Times New Roman" panose="02020603050405020304" pitchFamily="18" charset="0"/>
                <a:ea typeface="等线" panose="02010600030101010101" pitchFamily="2" charset="-122"/>
              </a:rPr>
              <a:t>Heliyon</a:t>
            </a:r>
            <a:r>
              <a:rPr lang="en-US" altLang="zh-CN" sz="1400" i="1" dirty="0">
                <a:solidFill>
                  <a:srgbClr val="000000"/>
                </a:solidFill>
                <a:effectLst/>
                <a:latin typeface="Times New Roman" panose="02020603050405020304" pitchFamily="18" charset="0"/>
                <a:ea typeface="等线" panose="02010600030101010101" pitchFamily="2" charset="-122"/>
              </a:rPr>
              <a:t>, 10</a:t>
            </a:r>
            <a:r>
              <a:rPr lang="en-US" altLang="zh-CN" sz="1400" dirty="0">
                <a:solidFill>
                  <a:srgbClr val="000000"/>
                </a:solidFill>
                <a:effectLst/>
                <a:latin typeface="Times New Roman" panose="02020603050405020304" pitchFamily="18" charset="0"/>
                <a:ea typeface="等线" panose="02010600030101010101" pitchFamily="2" charset="-122"/>
              </a:rPr>
              <a:t>(13), e33669. https://doi.org/10.1016/j.heliyon.2024.e33669</a:t>
            </a:r>
            <a:endParaRPr lang="zh-CN" altLang="zh-CN" sz="1400" dirty="0">
              <a:effectLst/>
              <a:latin typeface="Times New Roman" panose="02020603050405020304" pitchFamily="18" charset="0"/>
              <a:ea typeface="等线" panose="02010600030101010101" pitchFamily="2" charset="-122"/>
            </a:endParaRPr>
          </a:p>
          <a:p>
            <a:pPr>
              <a:spcBef>
                <a:spcPts val="600"/>
              </a:spcBef>
              <a:buNone/>
            </a:pPr>
            <a:r>
              <a:rPr lang="en-US" altLang="zh-CN" sz="1400" dirty="0">
                <a:solidFill>
                  <a:srgbClr val="000000"/>
                </a:solidFill>
                <a:effectLst/>
                <a:latin typeface="Times New Roman" panose="02020603050405020304" pitchFamily="18" charset="0"/>
                <a:ea typeface="等线" panose="02010600030101010101" pitchFamily="2" charset="-122"/>
              </a:rPr>
              <a:t>[14] Shafiq, F., Zafar, A., Khan, M. U. G., Iqbal, S., </a:t>
            </a:r>
            <a:r>
              <a:rPr lang="en-US" altLang="zh-CN" sz="1400" dirty="0" err="1">
                <a:solidFill>
                  <a:srgbClr val="000000"/>
                </a:solidFill>
                <a:effectLst/>
                <a:latin typeface="Times New Roman" panose="02020603050405020304" pitchFamily="18" charset="0"/>
                <a:ea typeface="等线" panose="02010600030101010101" pitchFamily="2" charset="-122"/>
              </a:rPr>
              <a:t>Albesher</a:t>
            </a:r>
            <a:r>
              <a:rPr lang="en-US" altLang="zh-CN" sz="1400" dirty="0">
                <a:solidFill>
                  <a:srgbClr val="000000"/>
                </a:solidFill>
                <a:effectLst/>
                <a:latin typeface="Times New Roman" panose="02020603050405020304" pitchFamily="18" charset="0"/>
                <a:ea typeface="等线" panose="02010600030101010101" pitchFamily="2" charset="-122"/>
              </a:rPr>
              <a:t>, A. S., &amp; Asghar, M. N. (2025). Extreme heat prediction through deep learning and explainable AI. </a:t>
            </a:r>
            <a:r>
              <a:rPr lang="en-US" altLang="zh-CN" sz="1400" i="1" dirty="0">
                <a:solidFill>
                  <a:srgbClr val="000000"/>
                </a:solidFill>
                <a:effectLst/>
                <a:latin typeface="Times New Roman" panose="02020603050405020304" pitchFamily="18" charset="0"/>
                <a:ea typeface="等线" panose="02010600030101010101" pitchFamily="2" charset="-122"/>
              </a:rPr>
              <a:t>PLOS ONE, 20</a:t>
            </a:r>
            <a:r>
              <a:rPr lang="en-US" altLang="zh-CN" sz="1400" dirty="0">
                <a:solidFill>
                  <a:srgbClr val="000000"/>
                </a:solidFill>
                <a:effectLst/>
                <a:latin typeface="Times New Roman" panose="02020603050405020304" pitchFamily="18" charset="0"/>
                <a:ea typeface="等线" panose="02010600030101010101" pitchFamily="2" charset="-122"/>
              </a:rPr>
              <a:t>(3), e0316367. https://doi.org/10.1371/journal.pone.0316367</a:t>
            </a:r>
            <a:endParaRPr lang="zh-CN" altLang="zh-CN" sz="1400" dirty="0">
              <a:effectLst/>
              <a:latin typeface="Times New Roman" panose="02020603050405020304" pitchFamily="18" charset="0"/>
              <a:ea typeface="等线" panose="02010600030101010101" pitchFamily="2" charset="-122"/>
            </a:endParaRPr>
          </a:p>
          <a:p>
            <a:pPr>
              <a:spcBef>
                <a:spcPts val="600"/>
              </a:spcBef>
              <a:buNone/>
            </a:pPr>
            <a:r>
              <a:rPr lang="en-US" altLang="zh-CN" sz="1400" dirty="0">
                <a:solidFill>
                  <a:srgbClr val="000000"/>
                </a:solidFill>
                <a:effectLst/>
                <a:latin typeface="Times New Roman" panose="02020603050405020304" pitchFamily="18" charset="0"/>
                <a:ea typeface="等线" panose="02010600030101010101" pitchFamily="2" charset="-122"/>
              </a:rPr>
              <a:t>[15] Essa, Y., Hunt, H. G. P., </a:t>
            </a:r>
            <a:r>
              <a:rPr lang="en-US" altLang="zh-CN" sz="1400" dirty="0" err="1">
                <a:solidFill>
                  <a:srgbClr val="000000"/>
                </a:solidFill>
                <a:effectLst/>
                <a:latin typeface="Times New Roman" panose="02020603050405020304" pitchFamily="18" charset="0"/>
                <a:ea typeface="等线" panose="02010600030101010101" pitchFamily="2" charset="-122"/>
              </a:rPr>
              <a:t>Gijben</a:t>
            </a:r>
            <a:r>
              <a:rPr lang="en-US" altLang="zh-CN" sz="1400" dirty="0">
                <a:solidFill>
                  <a:srgbClr val="000000"/>
                </a:solidFill>
                <a:effectLst/>
                <a:latin typeface="Times New Roman" panose="02020603050405020304" pitchFamily="18" charset="0"/>
                <a:ea typeface="等线" panose="02010600030101010101" pitchFamily="2" charset="-122"/>
              </a:rPr>
              <a:t>, M., &amp; </a:t>
            </a:r>
            <a:r>
              <a:rPr lang="en-US" altLang="zh-CN" sz="1400" dirty="0" err="1">
                <a:solidFill>
                  <a:srgbClr val="000000"/>
                </a:solidFill>
                <a:effectLst/>
                <a:latin typeface="Times New Roman" panose="02020603050405020304" pitchFamily="18" charset="0"/>
                <a:ea typeface="等线" panose="02010600030101010101" pitchFamily="2" charset="-122"/>
              </a:rPr>
              <a:t>Ajoodha</a:t>
            </a:r>
            <a:r>
              <a:rPr lang="en-US" altLang="zh-CN" sz="1400" dirty="0">
                <a:solidFill>
                  <a:srgbClr val="000000"/>
                </a:solidFill>
                <a:effectLst/>
                <a:latin typeface="Times New Roman" panose="02020603050405020304" pitchFamily="18" charset="0"/>
                <a:ea typeface="等线" panose="02010600030101010101" pitchFamily="2" charset="-122"/>
              </a:rPr>
              <a:t>, R. (2022). Deep learning prediction of thunderstorm severity using remote sensing weather data. </a:t>
            </a:r>
            <a:r>
              <a:rPr lang="en-US" altLang="zh-CN" sz="1400" i="1" dirty="0">
                <a:solidFill>
                  <a:srgbClr val="000000"/>
                </a:solidFill>
                <a:effectLst/>
                <a:latin typeface="Times New Roman" panose="02020603050405020304" pitchFamily="18" charset="0"/>
                <a:ea typeface="等线" panose="02010600030101010101" pitchFamily="2" charset="-122"/>
              </a:rPr>
              <a:t>IEEE Journal of Selected Topics in Applied Earth Observations and Remote Sensing, 15</a:t>
            </a:r>
            <a:r>
              <a:rPr lang="en-US" altLang="zh-CN" sz="1400" dirty="0">
                <a:solidFill>
                  <a:srgbClr val="000000"/>
                </a:solidFill>
                <a:effectLst/>
                <a:latin typeface="Times New Roman" panose="02020603050405020304" pitchFamily="18" charset="0"/>
                <a:ea typeface="等线" panose="02010600030101010101" pitchFamily="2" charset="-122"/>
              </a:rPr>
              <a:t>, 4004–4013. https://doi.org/10.1109/JSTARS.2022.3172785</a:t>
            </a:r>
            <a:endParaRPr lang="zh-CN" altLang="zh-CN" sz="1400" dirty="0">
              <a:effectLst/>
              <a:latin typeface="Times New Roman" panose="02020603050405020304" pitchFamily="18" charset="0"/>
              <a:ea typeface="等线" panose="02010600030101010101" pitchFamily="2" charset="-122"/>
            </a:endParaRPr>
          </a:p>
          <a:p>
            <a:pPr>
              <a:spcBef>
                <a:spcPts val="600"/>
              </a:spcBef>
              <a:buNone/>
            </a:pPr>
            <a:r>
              <a:rPr lang="en-US" altLang="zh-CN" sz="1400" dirty="0">
                <a:solidFill>
                  <a:srgbClr val="000000"/>
                </a:solidFill>
                <a:effectLst/>
                <a:latin typeface="Times New Roman" panose="02020603050405020304" pitchFamily="18" charset="0"/>
                <a:ea typeface="等线" panose="02010600030101010101" pitchFamily="2" charset="-122"/>
              </a:rPr>
              <a:t>[16] Dikshit, A., Pradhan, B., &amp; Huete, A. (2021). An improved SPEI drought forecasting approach using the long short-term memory neural network. </a:t>
            </a:r>
            <a:r>
              <a:rPr lang="en-US" altLang="zh-CN" sz="1400" i="1" dirty="0">
                <a:solidFill>
                  <a:srgbClr val="000000"/>
                </a:solidFill>
                <a:effectLst/>
                <a:latin typeface="Times New Roman" panose="02020603050405020304" pitchFamily="18" charset="0"/>
                <a:ea typeface="等线" panose="02010600030101010101" pitchFamily="2" charset="-122"/>
              </a:rPr>
              <a:t>Journal of Environmental Management, 283</a:t>
            </a:r>
            <a:r>
              <a:rPr lang="en-US" altLang="zh-CN" sz="1400" dirty="0">
                <a:solidFill>
                  <a:srgbClr val="000000"/>
                </a:solidFill>
                <a:effectLst/>
                <a:latin typeface="Times New Roman" panose="02020603050405020304" pitchFamily="18" charset="0"/>
                <a:ea typeface="等线" panose="02010600030101010101" pitchFamily="2" charset="-122"/>
              </a:rPr>
              <a:t>, 111979. https://doi.org/10.1016/j.jenvman.2021.111979</a:t>
            </a:r>
            <a:endParaRPr lang="zh-CN" altLang="zh-CN" sz="1400" dirty="0">
              <a:effectLst/>
              <a:latin typeface="Times New Roman" panose="02020603050405020304" pitchFamily="18" charset="0"/>
              <a:ea typeface="等线" panose="02010600030101010101" pitchFamily="2" charset="-122"/>
            </a:endParaRPr>
          </a:p>
          <a:p>
            <a:pPr>
              <a:spcBef>
                <a:spcPts val="600"/>
              </a:spcBef>
              <a:buNone/>
            </a:pPr>
            <a:r>
              <a:rPr lang="en-US" altLang="zh-CN" sz="1400" dirty="0">
                <a:solidFill>
                  <a:srgbClr val="000000"/>
                </a:solidFill>
                <a:effectLst/>
                <a:latin typeface="Times New Roman" panose="02020603050405020304" pitchFamily="18" charset="0"/>
                <a:ea typeface="等线" panose="02010600030101010101" pitchFamily="2" charset="-122"/>
              </a:rPr>
              <a:t>[17] Xie, T., Liu, C., Hu, C., Li, W., &amp; Li, R. (2024). Study on long short-term memory based on vector direction of flood process for flood forecasting. </a:t>
            </a:r>
            <a:r>
              <a:rPr lang="en-US" altLang="zh-CN" sz="1400" i="1" dirty="0">
                <a:solidFill>
                  <a:srgbClr val="000000"/>
                </a:solidFill>
                <a:effectLst/>
                <a:latin typeface="Times New Roman" panose="02020603050405020304" pitchFamily="18" charset="0"/>
                <a:ea typeface="等线" panose="02010600030101010101" pitchFamily="2" charset="-122"/>
              </a:rPr>
              <a:t>Scientific Reports, 14</a:t>
            </a:r>
            <a:r>
              <a:rPr lang="en-US" altLang="zh-CN" sz="1400" dirty="0">
                <a:solidFill>
                  <a:srgbClr val="000000"/>
                </a:solidFill>
                <a:effectLst/>
                <a:latin typeface="Times New Roman" panose="02020603050405020304" pitchFamily="18" charset="0"/>
                <a:ea typeface="等线" panose="02010600030101010101" pitchFamily="2" charset="-122"/>
              </a:rPr>
              <a:t>, 21446. https://doi.org/10.1038/s41598-024-72205-5</a:t>
            </a:r>
            <a:endParaRPr lang="zh-CN" altLang="zh-CN" sz="1400" dirty="0">
              <a:effectLst/>
              <a:latin typeface="Times New Roman" panose="02020603050405020304" pitchFamily="18" charset="0"/>
              <a:ea typeface="等线" panose="02010600030101010101" pitchFamily="2" charset="-122"/>
            </a:endParaRPr>
          </a:p>
          <a:p>
            <a:pPr>
              <a:spcBef>
                <a:spcPts val="600"/>
              </a:spcBef>
              <a:buNone/>
            </a:pPr>
            <a:r>
              <a:rPr lang="en-US" altLang="zh-CN" sz="1400" dirty="0">
                <a:solidFill>
                  <a:srgbClr val="000000"/>
                </a:solidFill>
                <a:effectLst/>
                <a:latin typeface="Times New Roman" panose="02020603050405020304" pitchFamily="18" charset="0"/>
                <a:ea typeface="等线" panose="02010600030101010101" pitchFamily="2" charset="-122"/>
              </a:rPr>
              <a:t>[18] </a:t>
            </a:r>
            <a:r>
              <a:rPr lang="en-US" altLang="zh-CN" sz="1400" dirty="0" err="1">
                <a:solidFill>
                  <a:srgbClr val="000000"/>
                </a:solidFill>
                <a:effectLst/>
                <a:latin typeface="Times New Roman" panose="02020603050405020304" pitchFamily="18" charset="0"/>
                <a:ea typeface="等线" panose="02010600030101010101" pitchFamily="2" charset="-122"/>
              </a:rPr>
              <a:t>Frifra</a:t>
            </a:r>
            <a:r>
              <a:rPr lang="en-US" altLang="zh-CN" sz="1400" dirty="0">
                <a:solidFill>
                  <a:srgbClr val="000000"/>
                </a:solidFill>
                <a:effectLst/>
                <a:latin typeface="Times New Roman" panose="02020603050405020304" pitchFamily="18" charset="0"/>
                <a:ea typeface="等线" panose="02010600030101010101" pitchFamily="2" charset="-122"/>
              </a:rPr>
              <a:t>, A., Maanan, M., Maanan, M., &amp; </a:t>
            </a:r>
            <a:r>
              <a:rPr lang="en-US" altLang="zh-CN" sz="1400" dirty="0" err="1">
                <a:solidFill>
                  <a:srgbClr val="000000"/>
                </a:solidFill>
                <a:effectLst/>
                <a:latin typeface="Times New Roman" panose="02020603050405020304" pitchFamily="18" charset="0"/>
                <a:ea typeface="等线" panose="02010600030101010101" pitchFamily="2" charset="-122"/>
              </a:rPr>
              <a:t>Rhinane</a:t>
            </a:r>
            <a:r>
              <a:rPr lang="en-US" altLang="zh-CN" sz="1400" dirty="0">
                <a:solidFill>
                  <a:srgbClr val="000000"/>
                </a:solidFill>
                <a:effectLst/>
                <a:latin typeface="Times New Roman" panose="02020603050405020304" pitchFamily="18" charset="0"/>
                <a:ea typeface="等线" panose="02010600030101010101" pitchFamily="2" charset="-122"/>
              </a:rPr>
              <a:t>, H. (2024). Harnessing LSTM and </a:t>
            </a:r>
            <a:r>
              <a:rPr lang="en-US" altLang="zh-CN" sz="1400" dirty="0" err="1">
                <a:solidFill>
                  <a:srgbClr val="000000"/>
                </a:solidFill>
                <a:effectLst/>
                <a:latin typeface="Times New Roman" panose="02020603050405020304" pitchFamily="18" charset="0"/>
                <a:ea typeface="等线" panose="02010600030101010101" pitchFamily="2" charset="-122"/>
              </a:rPr>
              <a:t>XGBoost</a:t>
            </a:r>
            <a:r>
              <a:rPr lang="en-US" altLang="zh-CN" sz="1400" dirty="0">
                <a:solidFill>
                  <a:srgbClr val="000000"/>
                </a:solidFill>
                <a:effectLst/>
                <a:latin typeface="Times New Roman" panose="02020603050405020304" pitchFamily="18" charset="0"/>
                <a:ea typeface="等线" panose="02010600030101010101" pitchFamily="2" charset="-122"/>
              </a:rPr>
              <a:t> algorithms for storm prediction. </a:t>
            </a:r>
            <a:r>
              <a:rPr lang="en-US" altLang="zh-CN" sz="1400" i="1" dirty="0">
                <a:solidFill>
                  <a:srgbClr val="000000"/>
                </a:solidFill>
                <a:effectLst/>
                <a:latin typeface="Times New Roman" panose="02020603050405020304" pitchFamily="18" charset="0"/>
                <a:ea typeface="等线" panose="02010600030101010101" pitchFamily="2" charset="-122"/>
              </a:rPr>
              <a:t>Scientific Reports, 14</a:t>
            </a:r>
            <a:r>
              <a:rPr lang="en-US" altLang="zh-CN" sz="1400" dirty="0">
                <a:solidFill>
                  <a:srgbClr val="000000"/>
                </a:solidFill>
                <a:effectLst/>
                <a:latin typeface="Times New Roman" panose="02020603050405020304" pitchFamily="18" charset="0"/>
                <a:ea typeface="等线" panose="02010600030101010101" pitchFamily="2" charset="-122"/>
              </a:rPr>
              <a:t>, 11381. https://doi.org/10.1038/s41598-024-62182-0</a:t>
            </a:r>
            <a:endParaRPr lang="zh-CN" altLang="zh-CN" sz="1400" dirty="0">
              <a:effectLst/>
              <a:latin typeface="Times New Roman" panose="02020603050405020304" pitchFamily="18" charset="0"/>
              <a:ea typeface="等线" panose="02010600030101010101" pitchFamily="2" charset="-122"/>
            </a:endParaRPr>
          </a:p>
          <a:p>
            <a:pPr>
              <a:spcBef>
                <a:spcPts val="600"/>
              </a:spcBef>
              <a:buNone/>
            </a:pPr>
            <a:r>
              <a:rPr lang="en-US" altLang="zh-CN" sz="1400" dirty="0">
                <a:solidFill>
                  <a:srgbClr val="000000"/>
                </a:solidFill>
                <a:effectLst/>
                <a:latin typeface="Times New Roman" panose="02020603050405020304" pitchFamily="18" charset="0"/>
                <a:ea typeface="等线" panose="02010600030101010101" pitchFamily="2" charset="-122"/>
              </a:rPr>
              <a:t>[19] Huang, N. E., Shen, Z., Long, S. R., Wu, M. C., Shih, H. H., Zheng, Q., ... &amp; Liu, H. H. (1998). The empirical mode decomposition and the Hilbert spectrum for nonlinear and non-stationary time series analysis. </a:t>
            </a:r>
            <a:r>
              <a:rPr lang="en-US" altLang="zh-CN" sz="1400" i="1" dirty="0">
                <a:solidFill>
                  <a:srgbClr val="000000"/>
                </a:solidFill>
                <a:effectLst/>
                <a:latin typeface="Times New Roman" panose="02020603050405020304" pitchFamily="18" charset="0"/>
                <a:ea typeface="等线" panose="02010600030101010101" pitchFamily="2" charset="-122"/>
              </a:rPr>
              <a:t>Proceedings of the Royal Society of London. Series A: Mathematical, Physical and Engineering Sciences, 454</a:t>
            </a:r>
            <a:r>
              <a:rPr lang="en-US" altLang="zh-CN" sz="1400" dirty="0">
                <a:solidFill>
                  <a:srgbClr val="000000"/>
                </a:solidFill>
                <a:effectLst/>
                <a:latin typeface="Times New Roman" panose="02020603050405020304" pitchFamily="18" charset="0"/>
                <a:ea typeface="等线" panose="02010600030101010101" pitchFamily="2" charset="-122"/>
              </a:rPr>
              <a:t>(1971), 903–9095. </a:t>
            </a:r>
            <a:r>
              <a:rPr lang="en-US" altLang="zh-CN" sz="1400" dirty="0">
                <a:solidFill>
                  <a:srgbClr val="000000"/>
                </a:solidFill>
                <a:latin typeface="Times New Roman" panose="02020603050405020304" pitchFamily="18" charset="0"/>
                <a:ea typeface="等线" panose="02010600030101010101" pitchFamily="2" charset="-122"/>
                <a:hlinkClick r:id="rId3">
                  <a:extLst>
                    <a:ext uri="{A12FA001-AC4F-418D-AE19-62706E023703}">
                      <ahyp:hlinkClr xmlns:ahyp="http://schemas.microsoft.com/office/drawing/2018/hyperlinkcolor" val="tx"/>
                    </a:ext>
                  </a:extLst>
                </a:hlinkClick>
              </a:rPr>
              <a:t>https://doi.org/10.1098/rspa.1998.0193</a:t>
            </a:r>
            <a:endParaRPr lang="zh-CN" altLang="zh-CN" sz="1400" dirty="0">
              <a:solidFill>
                <a:srgbClr val="000000"/>
              </a:solidFill>
              <a:latin typeface="Times New Roman" panose="02020603050405020304" pitchFamily="18" charset="0"/>
              <a:ea typeface="等线" panose="02010600030101010101" pitchFamily="2" charset="-122"/>
            </a:endParaRPr>
          </a:p>
          <a:p>
            <a:pPr>
              <a:spcBef>
                <a:spcPts val="600"/>
              </a:spcBef>
            </a:pPr>
            <a:r>
              <a:rPr lang="en-US" altLang="zh-CN" sz="1400" dirty="0">
                <a:solidFill>
                  <a:srgbClr val="000000"/>
                </a:solidFill>
                <a:effectLst/>
                <a:latin typeface="Times New Roman" panose="02020603050405020304" pitchFamily="18" charset="0"/>
                <a:ea typeface="等线" panose="02010600030101010101" pitchFamily="2" charset="-122"/>
              </a:rPr>
              <a:t>[20] Torres, M. E., </a:t>
            </a:r>
            <a:r>
              <a:rPr lang="en-US" altLang="zh-CN" sz="1400" dirty="0" err="1">
                <a:solidFill>
                  <a:srgbClr val="000000"/>
                </a:solidFill>
                <a:effectLst/>
                <a:latin typeface="Times New Roman" panose="02020603050405020304" pitchFamily="18" charset="0"/>
                <a:ea typeface="等线" panose="02010600030101010101" pitchFamily="2" charset="-122"/>
              </a:rPr>
              <a:t>Colominas</a:t>
            </a:r>
            <a:r>
              <a:rPr lang="en-US" altLang="zh-CN" sz="1400" dirty="0">
                <a:solidFill>
                  <a:srgbClr val="000000"/>
                </a:solidFill>
                <a:effectLst/>
                <a:latin typeface="Times New Roman" panose="02020603050405020304" pitchFamily="18" charset="0"/>
                <a:ea typeface="等线" panose="02010600030101010101" pitchFamily="2" charset="-122"/>
              </a:rPr>
              <a:t>, M. A., Schlotthauer, G., &amp; </a:t>
            </a:r>
            <a:r>
              <a:rPr lang="en-US" altLang="zh-CN" sz="1400" dirty="0" err="1">
                <a:solidFill>
                  <a:srgbClr val="000000"/>
                </a:solidFill>
                <a:effectLst/>
                <a:latin typeface="Times New Roman" panose="02020603050405020304" pitchFamily="18" charset="0"/>
                <a:ea typeface="等线" panose="02010600030101010101" pitchFamily="2" charset="-122"/>
              </a:rPr>
              <a:t>Flandrin</a:t>
            </a:r>
            <a:r>
              <a:rPr lang="en-US" altLang="zh-CN" sz="1400" dirty="0">
                <a:solidFill>
                  <a:srgbClr val="000000"/>
                </a:solidFill>
                <a:effectLst/>
                <a:latin typeface="Times New Roman" panose="02020603050405020304" pitchFamily="18" charset="0"/>
                <a:ea typeface="等线" panose="02010600030101010101" pitchFamily="2" charset="-122"/>
              </a:rPr>
              <a:t>, P. (2011, May). A complete ensemble empirical mode decomposition with adaptive noise. In </a:t>
            </a:r>
            <a:r>
              <a:rPr lang="en-US" altLang="zh-CN" sz="1400" i="1" dirty="0">
                <a:solidFill>
                  <a:srgbClr val="000000"/>
                </a:solidFill>
                <a:effectLst/>
                <a:latin typeface="Times New Roman" panose="02020603050405020304" pitchFamily="18" charset="0"/>
                <a:ea typeface="等线" panose="02010600030101010101" pitchFamily="2" charset="-122"/>
              </a:rPr>
              <a:t>2011 IEEE International Conference on Acoustics, Speech and Signal Processing (ICASSP)</a:t>
            </a:r>
            <a:r>
              <a:rPr lang="en-US" altLang="zh-CN" sz="1400" dirty="0">
                <a:solidFill>
                  <a:srgbClr val="000000"/>
                </a:solidFill>
                <a:effectLst/>
                <a:latin typeface="Times New Roman" panose="02020603050405020304" pitchFamily="18" charset="0"/>
                <a:ea typeface="等线" panose="02010600030101010101" pitchFamily="2" charset="-122"/>
              </a:rPr>
              <a:t> (pp. 4144–4147). IEEE. </a:t>
            </a:r>
            <a:r>
              <a:rPr lang="en-US" altLang="zh-CN" sz="1400" dirty="0">
                <a:solidFill>
                  <a:srgbClr val="000000"/>
                </a:solidFill>
                <a:latin typeface="Times New Roman" panose="02020603050405020304" pitchFamily="18" charset="0"/>
                <a:ea typeface="等线" panose="02010600030101010101" pitchFamily="2" charset="-122"/>
                <a:hlinkClick r:id="rId4">
                  <a:extLst>
                    <a:ext uri="{A12FA001-AC4F-418D-AE19-62706E023703}">
                      <ahyp:hlinkClr xmlns:ahyp="http://schemas.microsoft.com/office/drawing/2018/hyperlinkcolor" val="tx"/>
                    </a:ext>
                  </a:extLst>
                </a:hlinkClick>
              </a:rPr>
              <a:t>https://doi.org/10.1109/ICASSP.2011.5947265</a:t>
            </a:r>
            <a:endParaRPr lang="zh-CN" altLang="zh-CN" sz="1400" dirty="0">
              <a:solidFill>
                <a:srgbClr val="000000"/>
              </a:solidFill>
              <a:latin typeface="Times New Roman" panose="02020603050405020304" pitchFamily="18" charset="0"/>
              <a:ea typeface="等线" panose="02010600030101010101" pitchFamily="2" charset="-122"/>
            </a:endParaRPr>
          </a:p>
          <a:p>
            <a:pPr>
              <a:spcBef>
                <a:spcPts val="600"/>
              </a:spcBef>
              <a:buNone/>
            </a:pPr>
            <a:r>
              <a:rPr lang="en-US" altLang="zh-CN" sz="1400" dirty="0">
                <a:solidFill>
                  <a:srgbClr val="000000"/>
                </a:solidFill>
                <a:effectLst/>
                <a:latin typeface="Times New Roman" panose="02020603050405020304" pitchFamily="18" charset="0"/>
                <a:ea typeface="等线" panose="02010600030101010101" pitchFamily="2" charset="-122"/>
              </a:rPr>
              <a:t>[21] Wu, Z., &amp; Huang, N. E. (2009). Ensemble empirical mode decomposition: A noise-assisted data analysis method. </a:t>
            </a:r>
            <a:r>
              <a:rPr lang="en-US" altLang="zh-CN" sz="1400" i="1" dirty="0">
                <a:solidFill>
                  <a:srgbClr val="000000"/>
                </a:solidFill>
                <a:effectLst/>
                <a:latin typeface="Times New Roman" panose="02020603050405020304" pitchFamily="18" charset="0"/>
                <a:ea typeface="等线" panose="02010600030101010101" pitchFamily="2" charset="-122"/>
              </a:rPr>
              <a:t>Advances in Adaptive Data Analysis, 1</a:t>
            </a:r>
            <a:r>
              <a:rPr lang="en-US" altLang="zh-CN" sz="1400" dirty="0">
                <a:solidFill>
                  <a:srgbClr val="000000"/>
                </a:solidFill>
                <a:effectLst/>
                <a:latin typeface="Times New Roman" panose="02020603050405020304" pitchFamily="18" charset="0"/>
                <a:ea typeface="等线" panose="02010600030101010101" pitchFamily="2" charset="-122"/>
              </a:rPr>
              <a:t>(01), 1–41. </a:t>
            </a:r>
            <a:r>
              <a:rPr lang="en-US" altLang="zh-CN" sz="1400" dirty="0">
                <a:solidFill>
                  <a:srgbClr val="000000"/>
                </a:solidFill>
                <a:latin typeface="Times New Roman" panose="02020603050405020304" pitchFamily="18" charset="0"/>
                <a:ea typeface="等线" panose="02010600030101010101" pitchFamily="2" charset="-122"/>
                <a:hlinkClick r:id="rId5">
                  <a:extLst>
                    <a:ext uri="{A12FA001-AC4F-418D-AE19-62706E023703}">
                      <ahyp:hlinkClr xmlns:ahyp="http://schemas.microsoft.com/office/drawing/2018/hyperlinkcolor" val="tx"/>
                    </a:ext>
                  </a:extLst>
                </a:hlinkClick>
              </a:rPr>
              <a:t>https://doi.org/10.1142/S1793536909000047</a:t>
            </a:r>
            <a:endParaRPr lang="zh-CN" altLang="zh-CN" sz="1400" dirty="0">
              <a:solidFill>
                <a:srgbClr val="000000"/>
              </a:solidFill>
              <a:latin typeface="Times New Roman" panose="02020603050405020304" pitchFamily="18" charset="0"/>
              <a:ea typeface="等线" panose="02010600030101010101" pitchFamily="2" charset="-122"/>
            </a:endParaRPr>
          </a:p>
        </p:txBody>
      </p:sp>
    </p:spTree>
    <p:extLst>
      <p:ext uri="{BB962C8B-B14F-4D97-AF65-F5344CB8AC3E}">
        <p14:creationId xmlns:p14="http://schemas.microsoft.com/office/powerpoint/2010/main" val="40303602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片包含 文本&#10;&#10;AI 生成的内容可能不正确。">
            <a:extLst>
              <a:ext uri="{FF2B5EF4-FFF2-40B4-BE49-F238E27FC236}">
                <a16:creationId xmlns:a16="http://schemas.microsoft.com/office/drawing/2014/main" id="{EDC692C4-8221-2348-0365-AA762E756E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243800" cy="6858000"/>
          </a:xfrm>
          <a:prstGeom prst="rect">
            <a:avLst/>
          </a:prstGeom>
        </p:spPr>
      </p:pic>
      <p:sp>
        <p:nvSpPr>
          <p:cNvPr id="6" name="半闭框 5">
            <a:extLst>
              <a:ext uri="{FF2B5EF4-FFF2-40B4-BE49-F238E27FC236}">
                <a16:creationId xmlns:a16="http://schemas.microsoft.com/office/drawing/2014/main" id="{C0D80429-0200-EC4C-6793-BEFE1AB55053}"/>
              </a:ext>
            </a:extLst>
          </p:cNvPr>
          <p:cNvSpPr/>
          <p:nvPr/>
        </p:nvSpPr>
        <p:spPr>
          <a:xfrm>
            <a:off x="0" y="285115"/>
            <a:ext cx="914400" cy="914400"/>
          </a:xfrm>
          <a:prstGeom prst="halfFrame">
            <a:avLst/>
          </a:prstGeom>
          <a:solidFill>
            <a:srgbClr val="1F2E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汉仪宋韵朗黑W" panose="00020600040101010101" charset="-122"/>
              <a:ea typeface="汉仪宋韵朗黑W" panose="00020600040101010101" charset="-122"/>
              <a:cs typeface="汉仪宋韵朗黑W" panose="00020600040101010101" charset="-122"/>
            </a:endParaRPr>
          </a:p>
        </p:txBody>
      </p:sp>
      <p:sp>
        <p:nvSpPr>
          <p:cNvPr id="7" name="矩形 6">
            <a:extLst>
              <a:ext uri="{FF2B5EF4-FFF2-40B4-BE49-F238E27FC236}">
                <a16:creationId xmlns:a16="http://schemas.microsoft.com/office/drawing/2014/main" id="{CD765ACD-6B0A-C4F5-DEBC-55B6E2790F98}"/>
              </a:ext>
            </a:extLst>
          </p:cNvPr>
          <p:cNvSpPr/>
          <p:nvPr/>
        </p:nvSpPr>
        <p:spPr>
          <a:xfrm flipH="1">
            <a:off x="3944620" y="285115"/>
            <a:ext cx="7998460" cy="231140"/>
          </a:xfrm>
          <a:prstGeom prst="rect">
            <a:avLst/>
          </a:prstGeom>
          <a:solidFill>
            <a:srgbClr val="1F2E3F"/>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宋韵朗黑W" panose="00020600040101010101" charset="-122"/>
              <a:ea typeface="汉仪宋韵朗黑W" panose="00020600040101010101" charset="-122"/>
              <a:cs typeface="汉仪宋韵朗黑W" panose="00020600040101010101" charset="-122"/>
            </a:endParaRPr>
          </a:p>
        </p:txBody>
      </p:sp>
      <p:sp>
        <p:nvSpPr>
          <p:cNvPr id="8" name="矩形 7">
            <a:extLst>
              <a:ext uri="{FF2B5EF4-FFF2-40B4-BE49-F238E27FC236}">
                <a16:creationId xmlns:a16="http://schemas.microsoft.com/office/drawing/2014/main" id="{280BB2E9-FF25-0CF9-2FE3-0D9474F95E07}"/>
              </a:ext>
            </a:extLst>
          </p:cNvPr>
          <p:cNvSpPr/>
          <p:nvPr/>
        </p:nvSpPr>
        <p:spPr>
          <a:xfrm flipH="1">
            <a:off x="0" y="6337300"/>
            <a:ext cx="7998460" cy="231140"/>
          </a:xfrm>
          <a:prstGeom prst="rect">
            <a:avLst/>
          </a:prstGeom>
          <a:solidFill>
            <a:srgbClr val="1F2E3F"/>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宋韵朗黑W" panose="00020600040101010101" charset="-122"/>
              <a:ea typeface="汉仪宋韵朗黑W" panose="00020600040101010101" charset="-122"/>
              <a:cs typeface="汉仪宋韵朗黑W" panose="00020600040101010101" charset="-122"/>
            </a:endParaRPr>
          </a:p>
        </p:txBody>
      </p:sp>
      <p:sp>
        <p:nvSpPr>
          <p:cNvPr id="9" name="半闭框 8">
            <a:extLst>
              <a:ext uri="{FF2B5EF4-FFF2-40B4-BE49-F238E27FC236}">
                <a16:creationId xmlns:a16="http://schemas.microsoft.com/office/drawing/2014/main" id="{F739786D-AF06-2CB9-27D2-B2FA731F73B9}"/>
              </a:ext>
            </a:extLst>
          </p:cNvPr>
          <p:cNvSpPr/>
          <p:nvPr/>
        </p:nvSpPr>
        <p:spPr>
          <a:xfrm rot="5400000" flipH="1">
            <a:off x="11028680" y="5738495"/>
            <a:ext cx="914400" cy="914400"/>
          </a:xfrm>
          <a:prstGeom prst="halfFrame">
            <a:avLst/>
          </a:prstGeom>
          <a:solidFill>
            <a:srgbClr val="1F2E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汉仪宋韵朗黑W" panose="00020600040101010101" charset="-122"/>
              <a:ea typeface="汉仪宋韵朗黑W" panose="00020600040101010101" charset="-122"/>
              <a:cs typeface="汉仪宋韵朗黑W" panose="00020600040101010101" charset="-122"/>
            </a:endParaRPr>
          </a:p>
        </p:txBody>
      </p:sp>
    </p:spTree>
    <p:extLst>
      <p:ext uri="{BB962C8B-B14F-4D97-AF65-F5344CB8AC3E}">
        <p14:creationId xmlns:p14="http://schemas.microsoft.com/office/powerpoint/2010/main" val="109903825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10&quot;:[20140418,50021710],&quot;19&quot;:[20348529,20348532,20344608],&quot;29&quot;:[50053246,50053017,50053024,50053008,50053160]}"/>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855*475"/>
  <p:tag name="TABLE_ENDDRAG_RECT" val="48*27*855*475"/>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850*475"/>
  <p:tag name="TABLE_ENDDRAG_RECT" val="46*30*850*47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6612</TotalTime>
  <Words>6310</Words>
  <Application>Microsoft Office PowerPoint</Application>
  <PresentationFormat>宽屏</PresentationFormat>
  <Paragraphs>716</Paragraphs>
  <Slides>54</Slides>
  <Notes>53</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54</vt:i4>
      </vt:variant>
    </vt:vector>
  </HeadingPairs>
  <TitlesOfParts>
    <vt:vector size="65" baseType="lpstr">
      <vt:lpstr>汉仪宋韵朗黑W</vt:lpstr>
      <vt:lpstr>Wingdings</vt:lpstr>
      <vt:lpstr>Book Antiqua</vt:lpstr>
      <vt:lpstr>Times New Roman</vt:lpstr>
      <vt:lpstr>Calibri (正文)</vt:lpstr>
      <vt:lpstr>Calibri</vt:lpstr>
      <vt:lpstr>Arial</vt:lpstr>
      <vt:lpstr>Trade Gothic Next Heavy</vt:lpstr>
      <vt:lpstr>宋体</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Shibo Wang</cp:lastModifiedBy>
  <cp:revision>76</cp:revision>
  <dcterms:created xsi:type="dcterms:W3CDTF">2022-02-28T05:30:00Z</dcterms:created>
  <dcterms:modified xsi:type="dcterms:W3CDTF">2025-09-10T07:24:31Z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RubyTemplateID">
    <vt:lpwstr>8</vt:lpwstr>
  </property>
  <property fmtid="{D5CDD505-2E9C-101B-9397-08002B2CF9AE}" pid="3" name="KSOProductBuildVer">
    <vt:lpwstr>2052-12.1.0.21915</vt:lpwstr>
  </property>
  <property fmtid="{D5CDD505-2E9C-101B-9397-08002B2CF9AE}" pid="4" name="KSOTemplateUUID">
    <vt:lpwstr>v1.0_mb_o8gniJ5m3TnVC5W/GSzbCw==</vt:lpwstr>
  </property>
  <property fmtid="{D5CDD505-2E9C-101B-9397-08002B2CF9AE}" pid="5" name="ICV">
    <vt:lpwstr>444FE2055A52469E8D150982CD5B0C37_11</vt:lpwstr>
  </property>
</Properties>
</file>